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5_6F36AF5E.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comments/modernComment_7FFFF0E7_655FD01C.xml" ContentType="application/vnd.ms-powerpoint.comments+xml"/>
  <Override PartName="/ppt/comments/modernComment_7FFFF0E8_7CB47E9A.xml" ContentType="application/vnd.ms-powerpoint.comments+xml"/>
  <Override PartName="/ppt/comments/modernComment_7FFFF0E5_59886717.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F0EA_3EF3BD67.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64" r:id="rId5"/>
    <p:sldMasterId id="2147483843" r:id="rId6"/>
  </p:sldMasterIdLst>
  <p:notesMasterIdLst>
    <p:notesMasterId r:id="rId31"/>
  </p:notesMasterIdLst>
  <p:sldIdLst>
    <p:sldId id="261" r:id="rId7"/>
    <p:sldId id="257" r:id="rId8"/>
    <p:sldId id="2147479783" r:id="rId9"/>
    <p:sldId id="2147479795" r:id="rId10"/>
    <p:sldId id="2147479784" r:id="rId11"/>
    <p:sldId id="2147479785" r:id="rId12"/>
    <p:sldId id="2147479781" r:id="rId13"/>
    <p:sldId id="2147479796" r:id="rId14"/>
    <p:sldId id="2147479797" r:id="rId15"/>
    <p:sldId id="280" r:id="rId16"/>
    <p:sldId id="277" r:id="rId17"/>
    <p:sldId id="2147479737" r:id="rId18"/>
    <p:sldId id="2147479772" r:id="rId19"/>
    <p:sldId id="2147479743" r:id="rId20"/>
    <p:sldId id="2147479798" r:id="rId21"/>
    <p:sldId id="2147479786" r:id="rId22"/>
    <p:sldId id="2147479787" r:id="rId23"/>
    <p:sldId id="2147479788" r:id="rId24"/>
    <p:sldId id="2147479789" r:id="rId25"/>
    <p:sldId id="2147479790" r:id="rId26"/>
    <p:sldId id="2147479791" r:id="rId27"/>
    <p:sldId id="2147479799" r:id="rId28"/>
    <p:sldId id="2147479793" r:id="rId29"/>
    <p:sldId id="2147479794"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10">
          <p15:clr>
            <a:srgbClr val="747775"/>
          </p15:clr>
        </p15:guide>
        <p15:guide id="2" pos="3840">
          <p15:clr>
            <a:srgbClr val="000000"/>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3" roundtripDataSignature="AMtx7mjgPnJRmDK5bawWCdNneYGBXa9dy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119250-6BC1-F6B4-D8B4-8BB242D2235A}" name="Viera Hudeckova (SK)" initials="V(" userId="S::viera.hudeckova@pwc.com::4f1b6ab2-faed-4ba0-a4f0-9aa7bc7a12cb" providerId="AD"/>
  <p188:author id="{59B5E36D-CF8B-6F43-6779-5FAFCE34A5C2}" name="Tomas Chovanec (SK)" initials="TC" userId="S::tomas.x.chovanec@pwc.com::59e143e4-836d-4a43-81cf-73fb0d49a80b" providerId="AD"/>
  <p188:author id="{23DF1198-95F7-282D-AFD7-F670DE3C5DF6}" name="Tomas Kubanyi (SK)" initials="TK" userId="S::tomas.kubanyi@pwc.com::785edbf0-048c-4918-8f17-5225f3de95e1" providerId="AD"/>
  <p188:author id="{815F19CB-0910-5954-EA57-8D8B5621FDC3}" name="Dagmar Haklova (SK)" initials="D(" userId="S::dagmar.haklova@pwc.com::ba52f4e0-694f-4d38-bfaa-7ae698753f8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5D7"/>
    <a:srgbClr val="FFAA72"/>
    <a:srgbClr val="FD51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3CC858-F63D-4AE7-B460-97DF92F430A0}" v="29" dt="2026-04-20T14:17:31.138"/>
    <p1510:client id="{7982563B-FCC6-B3E9-FFF1-717F03A33195}" v="1" dt="2026-04-20T06:58:45.558"/>
    <p1510:client id="{BFE01CAA-87AA-876D-E202-D2C7F4BA8094}" v="24" dt="2026-04-20T14:19:02.076"/>
    <p1510:client id="{EB663945-3B17-7F49-A6CD-9D64664E32E0}" v="309" dt="2026-04-20T10:36:28.103"/>
    <p1510:client id="{FDC2039C-563E-4219-9B80-F7C876EA42BA}" v="4" dt="2026-04-20T11:54:12.219"/>
  </p1510:revLst>
</p1510:revInfo>
</file>

<file path=ppt/tableStyles.xml><?xml version="1.0" encoding="utf-8"?>
<a:tblStyleLst xmlns:a="http://schemas.openxmlformats.org/drawingml/2006/main" def="{EC741567-8280-421E-8F88-9B89CA1CAF18}">
  <a:tblStyle styleId="{EC741567-8280-421E-8F88-9B89CA1CAF1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2DEB3B6-6095-4311-A362-CD1F2738E351}"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47"/>
    <p:restoredTop sz="94509"/>
  </p:normalViewPr>
  <p:slideViewPr>
    <p:cSldViewPr snapToGrid="0">
      <p:cViewPr varScale="1">
        <p:scale>
          <a:sx n="135" d="100"/>
          <a:sy n="135" d="100"/>
        </p:scale>
        <p:origin x="96" y="460"/>
      </p:cViewPr>
      <p:guideLst>
        <p:guide orient="horz" pos="51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55"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59"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57"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60"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56"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as Kubanyi (SK)" userId="785edbf0-048c-4918-8f17-5225f3de95e1" providerId="ADAL" clId="{9E1BE702-770F-4DEF-8938-201FE2EF6A52}"/>
    <pc:docChg chg="custSel modSld sldOrd">
      <pc:chgData name="Tomas Kubanyi (SK)" userId="785edbf0-048c-4918-8f17-5225f3de95e1" providerId="ADAL" clId="{9E1BE702-770F-4DEF-8938-201FE2EF6A52}" dt="2026-04-20T15:54:39.960" v="90" actId="20577"/>
      <pc:docMkLst>
        <pc:docMk/>
      </pc:docMkLst>
      <pc:sldChg chg="modSp mod">
        <pc:chgData name="Tomas Kubanyi (SK)" userId="785edbf0-048c-4918-8f17-5225f3de95e1" providerId="ADAL" clId="{9E1BE702-770F-4DEF-8938-201FE2EF6A52}" dt="2026-04-20T15:48:33.786" v="64" actId="113"/>
        <pc:sldMkLst>
          <pc:docMk/>
          <pc:sldMk cId="0" sldId="257"/>
        </pc:sldMkLst>
        <pc:spChg chg="mod">
          <ac:chgData name="Tomas Kubanyi (SK)" userId="785edbf0-048c-4918-8f17-5225f3de95e1" providerId="ADAL" clId="{9E1BE702-770F-4DEF-8938-201FE2EF6A52}" dt="2026-04-20T15:48:18.489" v="62" actId="207"/>
          <ac:spMkLst>
            <pc:docMk/>
            <pc:sldMk cId="0" sldId="257"/>
            <ac:spMk id="4" creationId="{5FF0B453-5318-7F47-1EEC-3EBD41EA6FB4}"/>
          </ac:spMkLst>
        </pc:spChg>
        <pc:spChg chg="mod">
          <ac:chgData name="Tomas Kubanyi (SK)" userId="785edbf0-048c-4918-8f17-5225f3de95e1" providerId="ADAL" clId="{9E1BE702-770F-4DEF-8938-201FE2EF6A52}" dt="2026-04-20T15:48:33.786" v="64" actId="113"/>
          <ac:spMkLst>
            <pc:docMk/>
            <pc:sldMk cId="0" sldId="257"/>
            <ac:spMk id="410" creationId="{00000000-0000-0000-0000-000000000000}"/>
          </ac:spMkLst>
        </pc:spChg>
        <pc:spChg chg="mod">
          <ac:chgData name="Tomas Kubanyi (SK)" userId="785edbf0-048c-4918-8f17-5225f3de95e1" providerId="ADAL" clId="{9E1BE702-770F-4DEF-8938-201FE2EF6A52}" dt="2026-04-20T12:06:57.882" v="22" actId="20577"/>
          <ac:spMkLst>
            <pc:docMk/>
            <pc:sldMk cId="0" sldId="257"/>
            <ac:spMk id="419" creationId="{00000000-0000-0000-0000-000000000000}"/>
          </ac:spMkLst>
        </pc:spChg>
      </pc:sldChg>
      <pc:sldChg chg="modSp mod modCm">
        <pc:chgData name="Tomas Kubanyi (SK)" userId="785edbf0-048c-4918-8f17-5225f3de95e1" providerId="ADAL" clId="{9E1BE702-770F-4DEF-8938-201FE2EF6A52}" dt="2026-04-20T12:38:01.521" v="41" actId="20577"/>
        <pc:sldMkLst>
          <pc:docMk/>
          <pc:sldMk cId="1865854814" sldId="261"/>
        </pc:sldMkLst>
        <pc:spChg chg="mod">
          <ac:chgData name="Tomas Kubanyi (SK)" userId="785edbf0-048c-4918-8f17-5225f3de95e1" providerId="ADAL" clId="{9E1BE702-770F-4DEF-8938-201FE2EF6A52}" dt="2026-04-20T12:37:51.738" v="37" actId="20577"/>
          <ac:spMkLst>
            <pc:docMk/>
            <pc:sldMk cId="1865854814" sldId="261"/>
            <ac:spMk id="2" creationId="{12DBF121-4939-9A21-A839-230CC776A674}"/>
          </ac:spMkLst>
        </pc:spChg>
        <pc:spChg chg="mod">
          <ac:chgData name="Tomas Kubanyi (SK)" userId="785edbf0-048c-4918-8f17-5225f3de95e1" providerId="ADAL" clId="{9E1BE702-770F-4DEF-8938-201FE2EF6A52}" dt="2026-04-20T12:38:01.521" v="41" actId="20577"/>
          <ac:spMkLst>
            <pc:docMk/>
            <pc:sldMk cId="1865854814" sldId="261"/>
            <ac:spMk id="9" creationId="{6D45FBCF-F654-37CF-10CA-7AB40D869512}"/>
          </ac:spMkLst>
        </pc:spChg>
        <pc:extLst>
          <p:ext xmlns:p="http://schemas.openxmlformats.org/presentationml/2006/main" uri="{D6D511B9-2390-475A-947B-AFAB55BFBCF1}">
            <pc226:cmChg xmlns:pc226="http://schemas.microsoft.com/office/powerpoint/2022/06/main/command" chg="mod">
              <pc226:chgData name="Tomas Kubanyi (SK)" userId="785edbf0-048c-4918-8f17-5225f3de95e1" providerId="ADAL" clId="{9E1BE702-770F-4DEF-8938-201FE2EF6A52}" dt="2026-04-20T12:37:51.738" v="37" actId="20577"/>
              <pc2:cmMkLst xmlns:pc2="http://schemas.microsoft.com/office/powerpoint/2019/9/main/command">
                <pc:docMk/>
                <pc:sldMk cId="1865854814" sldId="261"/>
                <pc2:cmMk id="{28DA7D53-53E2-4E6E-B806-B61E8F716FB8}"/>
              </pc2:cmMkLst>
            </pc226:cmChg>
            <pc226:cmChg xmlns:pc226="http://schemas.microsoft.com/office/powerpoint/2022/06/main/command" chg="mod">
              <pc226:chgData name="Tomas Kubanyi (SK)" userId="785edbf0-048c-4918-8f17-5225f3de95e1" providerId="ADAL" clId="{9E1BE702-770F-4DEF-8938-201FE2EF6A52}" dt="2026-04-20T12:38:01.521" v="41" actId="20577"/>
              <pc2:cmMkLst xmlns:pc2="http://schemas.microsoft.com/office/powerpoint/2019/9/main/command">
                <pc:docMk/>
                <pc:sldMk cId="1865854814" sldId="261"/>
                <pc2:cmMk id="{FB37B0A3-C019-495B-BB95-C10973163DDA}"/>
              </pc2:cmMkLst>
            </pc226:cmChg>
          </p:ext>
        </pc:extLst>
      </pc:sldChg>
      <pc:sldChg chg="modSp mod ord">
        <pc:chgData name="Tomas Kubanyi (SK)" userId="785edbf0-048c-4918-8f17-5225f3de95e1" providerId="ADAL" clId="{9E1BE702-770F-4DEF-8938-201FE2EF6A52}" dt="2026-04-20T15:54:39.960" v="90" actId="20577"/>
        <pc:sldMkLst>
          <pc:docMk/>
          <pc:sldMk cId="2656077996" sldId="2147479772"/>
        </pc:sldMkLst>
        <pc:spChg chg="mod">
          <ac:chgData name="Tomas Kubanyi (SK)" userId="785edbf0-048c-4918-8f17-5225f3de95e1" providerId="ADAL" clId="{9E1BE702-770F-4DEF-8938-201FE2EF6A52}" dt="2026-04-20T15:54:39.960" v="90" actId="20577"/>
          <ac:spMkLst>
            <pc:docMk/>
            <pc:sldMk cId="2656077996" sldId="2147479772"/>
            <ac:spMk id="4" creationId="{DE6A9813-C600-D150-B72C-DA590FB0722D}"/>
          </ac:spMkLst>
        </pc:spChg>
      </pc:sldChg>
      <pc:sldChg chg="addSp modSp mod modCm">
        <pc:chgData name="Tomas Kubanyi (SK)" userId="785edbf0-048c-4918-8f17-5225f3de95e1" providerId="ADAL" clId="{9E1BE702-770F-4DEF-8938-201FE2EF6A52}" dt="2026-04-20T15:53:00.941" v="82" actId="207"/>
        <pc:sldMkLst>
          <pc:docMk/>
          <pc:sldMk cId="1502111511" sldId="2147479781"/>
        </pc:sldMkLst>
        <pc:spChg chg="add mod">
          <ac:chgData name="Tomas Kubanyi (SK)" userId="785edbf0-048c-4918-8f17-5225f3de95e1" providerId="ADAL" clId="{9E1BE702-770F-4DEF-8938-201FE2EF6A52}" dt="2026-04-20T15:53:00.941" v="82" actId="207"/>
          <ac:spMkLst>
            <pc:docMk/>
            <pc:sldMk cId="1502111511" sldId="2147479781"/>
            <ac:spMk id="4" creationId="{BE9E7421-C4C3-E6C7-53F0-5B39C5EA8234}"/>
          </ac:spMkLst>
        </pc:spChg>
        <pc:spChg chg="mod">
          <ac:chgData name="Tomas Kubanyi (SK)" userId="785edbf0-048c-4918-8f17-5225f3de95e1" providerId="ADAL" clId="{9E1BE702-770F-4DEF-8938-201FE2EF6A52}" dt="2026-04-20T15:50:54.259" v="77" actId="20577"/>
          <ac:spMkLst>
            <pc:docMk/>
            <pc:sldMk cId="1502111511" sldId="2147479781"/>
            <ac:spMk id="7" creationId="{2DB7C430-B669-EB01-1B60-22E4B43E1B28}"/>
          </ac:spMkLst>
        </pc:spChg>
        <pc:spChg chg="mod">
          <ac:chgData name="Tomas Kubanyi (SK)" userId="785edbf0-048c-4918-8f17-5225f3de95e1" providerId="ADAL" clId="{9E1BE702-770F-4DEF-8938-201FE2EF6A52}" dt="2026-04-20T15:50:58.575" v="78" actId="20577"/>
          <ac:spMkLst>
            <pc:docMk/>
            <pc:sldMk cId="1502111511" sldId="2147479781"/>
            <ac:spMk id="8" creationId="{90E950E2-2296-77C7-C6D3-7FC22697717F}"/>
          </ac:spMkLst>
        </pc:spChg>
        <pc:spChg chg="mod">
          <ac:chgData name="Tomas Kubanyi (SK)" userId="785edbf0-048c-4918-8f17-5225f3de95e1" providerId="ADAL" clId="{9E1BE702-770F-4DEF-8938-201FE2EF6A52}" dt="2026-04-20T15:50:10.305" v="68" actId="20577"/>
          <ac:spMkLst>
            <pc:docMk/>
            <pc:sldMk cId="1502111511" sldId="2147479781"/>
            <ac:spMk id="9" creationId="{AA2C79AE-F340-5C80-1697-32E0DC88E452}"/>
          </ac:spMkLst>
        </pc:spChg>
        <pc:extLst>
          <p:ext xmlns:p="http://schemas.openxmlformats.org/presentationml/2006/main" uri="{D6D511B9-2390-475A-947B-AFAB55BFBCF1}">
            <pc226:cmChg xmlns:pc226="http://schemas.microsoft.com/office/powerpoint/2022/06/main/command" chg="mod">
              <pc226:chgData name="Tomas Kubanyi (SK)" userId="785edbf0-048c-4918-8f17-5225f3de95e1" providerId="ADAL" clId="{9E1BE702-770F-4DEF-8938-201FE2EF6A52}" dt="2026-04-20T15:50:10.305" v="68" actId="20577"/>
              <pc2:cmMkLst xmlns:pc2="http://schemas.microsoft.com/office/powerpoint/2019/9/main/command">
                <pc:docMk/>
                <pc:sldMk cId="1502111511" sldId="2147479781"/>
                <pc2:cmMk id="{B78BEBF2-0197-4D78-A8DF-B431AEB2C6FC}"/>
              </pc2:cmMkLst>
            </pc226:cmChg>
          </p:ext>
        </pc:extLst>
      </pc:sldChg>
      <pc:sldChg chg="modSp mod">
        <pc:chgData name="Tomas Kubanyi (SK)" userId="785edbf0-048c-4918-8f17-5225f3de95e1" providerId="ADAL" clId="{9E1BE702-770F-4DEF-8938-201FE2EF6A52}" dt="2026-04-20T15:49:02.373" v="66" actId="113"/>
        <pc:sldMkLst>
          <pc:docMk/>
          <pc:sldMk cId="1700778012" sldId="2147479783"/>
        </pc:sldMkLst>
        <pc:spChg chg="mod">
          <ac:chgData name="Tomas Kubanyi (SK)" userId="785edbf0-048c-4918-8f17-5225f3de95e1" providerId="ADAL" clId="{9E1BE702-770F-4DEF-8938-201FE2EF6A52}" dt="2026-04-20T12:08:11.768" v="35" actId="20577"/>
          <ac:spMkLst>
            <pc:docMk/>
            <pc:sldMk cId="1700778012" sldId="2147479783"/>
            <ac:spMk id="3" creationId="{FE22B4FD-76D5-9095-D162-023313862514}"/>
          </ac:spMkLst>
        </pc:spChg>
        <pc:graphicFrameChg chg="modGraphic">
          <ac:chgData name="Tomas Kubanyi (SK)" userId="785edbf0-048c-4918-8f17-5225f3de95e1" providerId="ADAL" clId="{9E1BE702-770F-4DEF-8938-201FE2EF6A52}" dt="2026-04-20T15:49:02.373" v="66" actId="113"/>
          <ac:graphicFrameMkLst>
            <pc:docMk/>
            <pc:sldMk cId="1700778012" sldId="2147479783"/>
            <ac:graphicFrameMk id="9" creationId="{D9F75988-67E2-03F9-4FFB-0F366D281B3A}"/>
          </ac:graphicFrameMkLst>
        </pc:graphicFrameChg>
      </pc:sldChg>
      <pc:sldChg chg="modSp mod modCm">
        <pc:chgData name="Tomas Kubanyi (SK)" userId="785edbf0-048c-4918-8f17-5225f3de95e1" providerId="ADAL" clId="{9E1BE702-770F-4DEF-8938-201FE2EF6A52}" dt="2026-04-20T12:40:32.462" v="54" actId="20577"/>
        <pc:sldMkLst>
          <pc:docMk/>
          <pc:sldMk cId="2092203674" sldId="2147479784"/>
        </pc:sldMkLst>
        <pc:spChg chg="mod">
          <ac:chgData name="Tomas Kubanyi (SK)" userId="785edbf0-048c-4918-8f17-5225f3de95e1" providerId="ADAL" clId="{9E1BE702-770F-4DEF-8938-201FE2EF6A52}" dt="2026-04-20T12:40:08.612" v="43" actId="20577"/>
          <ac:spMkLst>
            <pc:docMk/>
            <pc:sldMk cId="2092203674" sldId="2147479784"/>
            <ac:spMk id="2" creationId="{353DF2E7-6617-CF68-F71C-6E411A5F817B}"/>
          </ac:spMkLst>
        </pc:spChg>
        <pc:graphicFrameChg chg="modGraphic">
          <ac:chgData name="Tomas Kubanyi (SK)" userId="785edbf0-048c-4918-8f17-5225f3de95e1" providerId="ADAL" clId="{9E1BE702-770F-4DEF-8938-201FE2EF6A52}" dt="2026-04-20T12:40:32.462" v="54" actId="20577"/>
          <ac:graphicFrameMkLst>
            <pc:docMk/>
            <pc:sldMk cId="2092203674" sldId="2147479784"/>
            <ac:graphicFrameMk id="6" creationId="{FF73EBA0-3FA3-05BC-17C4-0C2E7E5D1ED4}"/>
          </ac:graphicFrameMkLst>
        </pc:graphicFrameChg>
        <pc:extLst>
          <p:ext xmlns:p="http://schemas.openxmlformats.org/presentationml/2006/main" uri="{D6D511B9-2390-475A-947B-AFAB55BFBCF1}">
            <pc226:cmChg xmlns:pc226="http://schemas.microsoft.com/office/powerpoint/2022/06/main/command" chg="mod">
              <pc226:chgData name="Tomas Kubanyi (SK)" userId="785edbf0-048c-4918-8f17-5225f3de95e1" providerId="ADAL" clId="{9E1BE702-770F-4DEF-8938-201FE2EF6A52}" dt="2026-04-20T12:40:08.612" v="43" actId="20577"/>
              <pc2:cmMkLst xmlns:pc2="http://schemas.microsoft.com/office/powerpoint/2019/9/main/command">
                <pc:docMk/>
                <pc:sldMk cId="2092203674" sldId="2147479784"/>
                <pc2:cmMk id="{3766DF3C-027D-4719-B965-93BB423BC954}"/>
              </pc2:cmMkLst>
            </pc226:cmChg>
            <pc226:cmChg xmlns:pc226="http://schemas.microsoft.com/office/powerpoint/2022/06/main/command" chg="mod">
              <pc226:chgData name="Tomas Kubanyi (SK)" userId="785edbf0-048c-4918-8f17-5225f3de95e1" providerId="ADAL" clId="{9E1BE702-770F-4DEF-8938-201FE2EF6A52}" dt="2026-04-20T12:40:32.462" v="54" actId="20577"/>
              <pc2:cmMkLst xmlns:pc2="http://schemas.microsoft.com/office/powerpoint/2019/9/main/command">
                <pc:docMk/>
                <pc:sldMk cId="2092203674" sldId="2147479784"/>
                <pc2:cmMk id="{82A0D16B-11DD-4F60-B5B2-E42C8AD0797A}"/>
              </pc2:cmMkLst>
            </pc226:cmChg>
          </p:ext>
        </pc:extLst>
      </pc:sldChg>
      <pc:sldChg chg="ord">
        <pc:chgData name="Tomas Kubanyi (SK)" userId="785edbf0-048c-4918-8f17-5225f3de95e1" providerId="ADAL" clId="{9E1BE702-770F-4DEF-8938-201FE2EF6A52}" dt="2026-04-20T15:53:51.211" v="84"/>
        <pc:sldMkLst>
          <pc:docMk/>
          <pc:sldMk cId="1056161127" sldId="2147479786"/>
        </pc:sldMkLst>
      </pc:sldChg>
      <pc:sldChg chg="ord">
        <pc:chgData name="Tomas Kubanyi (SK)" userId="785edbf0-048c-4918-8f17-5225f3de95e1" providerId="ADAL" clId="{9E1BE702-770F-4DEF-8938-201FE2EF6A52}" dt="2026-04-20T15:53:51.211" v="84"/>
        <pc:sldMkLst>
          <pc:docMk/>
          <pc:sldMk cId="448417056" sldId="2147479787"/>
        </pc:sldMkLst>
      </pc:sldChg>
      <pc:sldChg chg="ord">
        <pc:chgData name="Tomas Kubanyi (SK)" userId="785edbf0-048c-4918-8f17-5225f3de95e1" providerId="ADAL" clId="{9E1BE702-770F-4DEF-8938-201FE2EF6A52}" dt="2026-04-20T15:53:51.211" v="84"/>
        <pc:sldMkLst>
          <pc:docMk/>
          <pc:sldMk cId="1439909453" sldId="2147479788"/>
        </pc:sldMkLst>
      </pc:sldChg>
      <pc:sldChg chg="ord">
        <pc:chgData name="Tomas Kubanyi (SK)" userId="785edbf0-048c-4918-8f17-5225f3de95e1" providerId="ADAL" clId="{9E1BE702-770F-4DEF-8938-201FE2EF6A52}" dt="2026-04-20T15:53:51.211" v="84"/>
        <pc:sldMkLst>
          <pc:docMk/>
          <pc:sldMk cId="1735464425" sldId="2147479789"/>
        </pc:sldMkLst>
      </pc:sldChg>
      <pc:sldChg chg="ord">
        <pc:chgData name="Tomas Kubanyi (SK)" userId="785edbf0-048c-4918-8f17-5225f3de95e1" providerId="ADAL" clId="{9E1BE702-770F-4DEF-8938-201FE2EF6A52}" dt="2026-04-20T15:53:51.211" v="84"/>
        <pc:sldMkLst>
          <pc:docMk/>
          <pc:sldMk cId="3602910873" sldId="2147479790"/>
        </pc:sldMkLst>
      </pc:sldChg>
      <pc:sldChg chg="ord">
        <pc:chgData name="Tomas Kubanyi (SK)" userId="785edbf0-048c-4918-8f17-5225f3de95e1" providerId="ADAL" clId="{9E1BE702-770F-4DEF-8938-201FE2EF6A52}" dt="2026-04-20T15:53:51.211" v="84"/>
        <pc:sldMkLst>
          <pc:docMk/>
          <pc:sldMk cId="3314538422" sldId="2147479791"/>
        </pc:sldMkLst>
      </pc:sldChg>
      <pc:sldChg chg="ord">
        <pc:chgData name="Tomas Kubanyi (SK)" userId="785edbf0-048c-4918-8f17-5225f3de95e1" providerId="ADAL" clId="{9E1BE702-770F-4DEF-8938-201FE2EF6A52}" dt="2026-04-20T15:53:51.211" v="84"/>
        <pc:sldMkLst>
          <pc:docMk/>
          <pc:sldMk cId="1014101943" sldId="2147479793"/>
        </pc:sldMkLst>
      </pc:sldChg>
      <pc:sldChg chg="ord">
        <pc:chgData name="Tomas Kubanyi (SK)" userId="785edbf0-048c-4918-8f17-5225f3de95e1" providerId="ADAL" clId="{9E1BE702-770F-4DEF-8938-201FE2EF6A52}" dt="2026-04-20T15:53:51.211" v="84"/>
        <pc:sldMkLst>
          <pc:docMk/>
          <pc:sldMk cId="1362065500" sldId="2147479794"/>
        </pc:sldMkLst>
      </pc:sldChg>
      <pc:sldChg chg="ord">
        <pc:chgData name="Tomas Kubanyi (SK)" userId="785edbf0-048c-4918-8f17-5225f3de95e1" providerId="ADAL" clId="{9E1BE702-770F-4DEF-8938-201FE2EF6A52}" dt="2026-04-20T14:16:10.570" v="58"/>
        <pc:sldMkLst>
          <pc:docMk/>
          <pc:sldMk cId="3325826082" sldId="2147479795"/>
        </pc:sldMkLst>
      </pc:sldChg>
      <pc:sldChg chg="ord">
        <pc:chgData name="Tomas Kubanyi (SK)" userId="785edbf0-048c-4918-8f17-5225f3de95e1" providerId="ADAL" clId="{9E1BE702-770F-4DEF-8938-201FE2EF6A52}" dt="2026-04-20T15:53:51.211" v="84"/>
        <pc:sldMkLst>
          <pc:docMk/>
          <pc:sldMk cId="856409930" sldId="2147479799"/>
        </pc:sldMkLst>
      </pc:sldChg>
    </pc:docChg>
  </pc:docChgLst>
  <pc:docChgLst>
    <pc:chgData name="Dagmar Haklova (SK)" userId="S::dagmar.haklova@pwc.com::ba52f4e0-694f-4d38-bfaa-7ae698753f8b" providerId="AD" clId="Web-{BFE01CAA-87AA-876D-E202-D2C7F4BA8094}"/>
    <pc:docChg chg="modSld">
      <pc:chgData name="Dagmar Haklova (SK)" userId="S::dagmar.haklova@pwc.com::ba52f4e0-694f-4d38-bfaa-7ae698753f8b" providerId="AD" clId="Web-{BFE01CAA-87AA-876D-E202-D2C7F4BA8094}" dt="2026-04-20T14:19:02.061" v="8" actId="20577"/>
      <pc:docMkLst>
        <pc:docMk/>
      </pc:docMkLst>
      <pc:sldChg chg="modSp">
        <pc:chgData name="Dagmar Haklova (SK)" userId="S::dagmar.haklova@pwc.com::ba52f4e0-694f-4d38-bfaa-7ae698753f8b" providerId="AD" clId="Web-{BFE01CAA-87AA-876D-E202-D2C7F4BA8094}" dt="2026-04-20T14:19:02.061" v="8" actId="20577"/>
        <pc:sldMkLst>
          <pc:docMk/>
          <pc:sldMk cId="0" sldId="257"/>
        </pc:sldMkLst>
        <pc:spChg chg="mod">
          <ac:chgData name="Dagmar Haklova (SK)" userId="S::dagmar.haklova@pwc.com::ba52f4e0-694f-4d38-bfaa-7ae698753f8b" providerId="AD" clId="Web-{BFE01CAA-87AA-876D-E202-D2C7F4BA8094}" dt="2026-04-20T14:19:02.061" v="8" actId="20577"/>
          <ac:spMkLst>
            <pc:docMk/>
            <pc:sldMk cId="0" sldId="257"/>
            <ac:spMk id="419" creationId="{00000000-0000-0000-0000-000000000000}"/>
          </ac:spMkLst>
        </pc:spChg>
      </pc:sldChg>
      <pc:sldChg chg="modSp">
        <pc:chgData name="Dagmar Haklova (SK)" userId="S::dagmar.haklova@pwc.com::ba52f4e0-694f-4d38-bfaa-7ae698753f8b" providerId="AD" clId="Web-{BFE01CAA-87AA-876D-E202-D2C7F4BA8094}" dt="2026-04-20T14:14:49.183" v="5"/>
        <pc:sldMkLst>
          <pc:docMk/>
          <pc:sldMk cId="1700778012" sldId="2147479783"/>
        </pc:sldMkLst>
        <pc:graphicFrameChg chg="mod modGraphic">
          <ac:chgData name="Dagmar Haklova (SK)" userId="S::dagmar.haklova@pwc.com::ba52f4e0-694f-4d38-bfaa-7ae698753f8b" providerId="AD" clId="Web-{BFE01CAA-87AA-876D-E202-D2C7F4BA8094}" dt="2026-04-20T14:14:49.183" v="5"/>
          <ac:graphicFrameMkLst>
            <pc:docMk/>
            <pc:sldMk cId="1700778012" sldId="2147479783"/>
            <ac:graphicFrameMk id="9" creationId="{D9F75988-67E2-03F9-4FFB-0F366D281B3A}"/>
          </ac:graphicFrameMkLst>
        </pc:graphicFrameChg>
      </pc:sldChg>
      <pc:sldChg chg="modSp">
        <pc:chgData name="Dagmar Haklova (SK)" userId="S::dagmar.haklova@pwc.com::ba52f4e0-694f-4d38-bfaa-7ae698753f8b" providerId="AD" clId="Web-{BFE01CAA-87AA-876D-E202-D2C7F4BA8094}" dt="2026-04-20T14:03:23.081" v="3"/>
        <pc:sldMkLst>
          <pc:docMk/>
          <pc:sldMk cId="2092203674" sldId="2147479784"/>
        </pc:sldMkLst>
        <pc:graphicFrameChg chg="mod modGraphic">
          <ac:chgData name="Dagmar Haklova (SK)" userId="S::dagmar.haklova@pwc.com::ba52f4e0-694f-4d38-bfaa-7ae698753f8b" providerId="AD" clId="Web-{BFE01CAA-87AA-876D-E202-D2C7F4BA8094}" dt="2026-04-20T14:03:23.081" v="3"/>
          <ac:graphicFrameMkLst>
            <pc:docMk/>
            <pc:sldMk cId="2092203674" sldId="2147479784"/>
            <ac:graphicFrameMk id="6" creationId="{FF73EBA0-3FA3-05BC-17C4-0C2E7E5D1ED4}"/>
          </ac:graphicFrameMkLst>
        </pc:graphicFrameChg>
      </pc:sldChg>
    </pc:docChg>
  </pc:docChgLst>
</pc:chgInfo>
</file>

<file path=ppt/comments/modernComment_7FFFF0E5_59886717.xml><?xml version="1.0" encoding="utf-8"?>
<p188:cmLst xmlns:a="http://schemas.openxmlformats.org/drawingml/2006/main" xmlns:r="http://schemas.openxmlformats.org/officeDocument/2006/relationships" xmlns:p188="http://schemas.microsoft.com/office/powerpoint/2018/8/main">
  <p188:cm id="{B78BEBF2-0197-4D78-A8DF-B431AEB2C6FC}" authorId="{815F19CB-0910-5954-EA57-8D8B5621FDC3}" created="2026-04-20T13:58:33.533">
    <ac:txMkLst xmlns:ac="http://schemas.microsoft.com/office/drawing/2013/main/command">
      <pc:docMk xmlns:pc="http://schemas.microsoft.com/office/powerpoint/2013/main/command"/>
      <pc:sldMk xmlns:pc="http://schemas.microsoft.com/office/powerpoint/2013/main/command" cId="1502111511" sldId="2147479781"/>
      <ac:spMk id="9" creationId="{AA2C79AE-F340-5C80-1697-32E0DC88E452}"/>
      <ac:txMk cp="129" len="64">
        <ac:context len="321" hash="631064632"/>
      </ac:txMk>
    </ac:txMkLst>
    <p188:pos x="3059723" y="3540369"/>
    <p188:txBody>
      <a:bodyPr/>
      <a:lstStyle/>
      <a:p>
        <a:r>
          <a:rPr lang="en-US"/>
          <a:t>titeo nase casti by som zvyraznila</a:t>
        </a:r>
      </a:p>
    </p188:txBody>
  </p188:cm>
</p188:cmLst>
</file>

<file path=ppt/comments/modernComment_7FFFF0E7_655FD01C.xml><?xml version="1.0" encoding="utf-8"?>
<p188:cmLst xmlns:a="http://schemas.openxmlformats.org/drawingml/2006/main" xmlns:r="http://schemas.openxmlformats.org/officeDocument/2006/relationships" xmlns:p188="http://schemas.microsoft.com/office/powerpoint/2018/8/main">
  <p188:cm id="{ABA6EC98-621E-484F-A99F-D69B39453A2A}" authorId="{815F19CB-0910-5954-EA57-8D8B5621FDC3}" created="2026-04-20T12:25:54.306">
    <ac:txMkLst xmlns:ac="http://schemas.microsoft.com/office/drawing/2013/main/command">
      <pc:docMk xmlns:pc="http://schemas.microsoft.com/office/powerpoint/2013/main/command"/>
      <pc:sldMk xmlns:pc="http://schemas.microsoft.com/office/powerpoint/2013/main/command" cId="1700778012" sldId="2147479783"/>
      <ac:graphicFrameMk id="9" creationId="{D9F75988-67E2-03F9-4FFB-0F366D281B3A}"/>
      <ac:tblMk/>
      <ac:tcMk rowId="1171781658" colId="3304284731"/>
      <ac:txMk cp="1" len="40">
        <ac:context len="42" hash="1253685645"/>
      </ac:txMk>
    </ac:txMkLst>
    <p188:pos x="11230707" y="3528646"/>
    <p188:replyLst>
      <p188:reply id="{E6AF28C8-26FC-419A-A5E0-904D0B662DF4}" authorId="{23DF1198-95F7-282D-AFD7-F670DE3C5DF6}" created="2026-04-20T12:39:03.407">
        <p188:txBody>
          <a:bodyPr/>
          <a:lstStyle/>
          <a:p>
            <a:r>
              <a:rPr lang="en-GB"/>
              <a:t>Ano nas a adresovany v proposale</a:t>
            </a:r>
          </a:p>
        </p188:txBody>
      </p188:reply>
    </p188:replyLst>
    <p188:txBody>
      <a:bodyPr/>
      <a:lstStyle/>
      <a:p>
        <a:r>
          <a:rPr lang="en-US"/>
          <a:t>toto je nas scope alebo nie?</a:t>
        </a:r>
      </a:p>
    </p188:txBody>
  </p188:cm>
  <p188:cm id="{6B7190F2-5B82-4151-8CDA-7D6AAAFE8E5B}" authorId="{815F19CB-0910-5954-EA57-8D8B5621FDC3}" created="2026-04-20T12:26:31.760">
    <ac:txMkLst xmlns:ac="http://schemas.microsoft.com/office/drawing/2013/main/command">
      <pc:docMk xmlns:pc="http://schemas.microsoft.com/office/powerpoint/2013/main/command"/>
      <pc:sldMk xmlns:pc="http://schemas.microsoft.com/office/powerpoint/2013/main/command" cId="1700778012" sldId="2147479783"/>
      <ac:spMk id="2" creationId="{F76DC972-CE22-3736-B49D-44AAE30B43E3}"/>
      <ac:txMk cp="13" len="8">
        <ac:context len="68" hash="1846723846"/>
      </ac:txMk>
    </ac:txMkLst>
    <p188:pos x="5158153" y="281353"/>
    <p188:txBody>
      <a:bodyPr/>
      <a:lstStyle/>
      <a:p>
        <a:r>
          <a:rPr lang="en-US"/>
          <a:t>toto je vyborny sllide!!! prosim poznac si na dalsom mngrs mtg prosim ukaz</a:t>
        </a:r>
      </a:p>
    </p188:txBody>
    <p188:extLst>
      <p:ext xmlns:p="http://schemas.openxmlformats.org/presentationml/2006/main" uri="{57CB4572-C831-44C2-8A1C-0ADB6CCDFE69}">
        <p223:reactions xmlns:p223="http://schemas.microsoft.com/office/powerpoint/2022/03/main">
          <p223:rxn type="👍">
            <p223:instance time="2026-04-20T12:39:13.323" authorId="{23DF1198-95F7-282D-AFD7-F670DE3C5DF6}"/>
          </p223:rxn>
        </p223:reactions>
      </p:ext>
    </p188:extLst>
  </p188:cm>
</p188:cmLst>
</file>

<file path=ppt/comments/modernComment_7FFFF0E8_7CB47E9A.xml><?xml version="1.0" encoding="utf-8"?>
<p188:cmLst xmlns:a="http://schemas.openxmlformats.org/drawingml/2006/main" xmlns:r="http://schemas.openxmlformats.org/officeDocument/2006/relationships" xmlns:p188="http://schemas.microsoft.com/office/powerpoint/2018/8/main">
  <p188:cm id="{3766DF3C-027D-4719-B965-93BB423BC954}" authorId="{815F19CB-0910-5954-EA57-8D8B5621FDC3}" status="resolved" created="2026-04-20T12:27:32.558" complete="100000">
    <ac:txMkLst xmlns:ac="http://schemas.microsoft.com/office/drawing/2013/main/command">
      <pc:docMk xmlns:pc="http://schemas.microsoft.com/office/powerpoint/2013/main/command"/>
      <pc:sldMk xmlns:pc="http://schemas.microsoft.com/office/powerpoint/2013/main/command" cId="2092203674" sldId="2147479784"/>
      <ac:spMk id="2" creationId="{353DF2E7-6617-CF68-F71C-6E411A5F817B}"/>
      <ac:txMk cp="60">
        <ac:context len="61" hash="1975030613"/>
      </ac:txMk>
    </ac:txMkLst>
    <p188:pos x="6752492" y="820615"/>
    <p188:txBody>
      <a:bodyPr/>
      <a:lstStyle/>
      <a:p>
        <a:r>
          <a:rPr lang="en-US"/>
          <a:t>toto sa mi zda zbytocne. a aj Cure by som nedavala, to sa mi zda moc silne slovo</a:t>
        </a:r>
      </a:p>
    </p188:txBody>
  </p188:cm>
  <p188:cm id="{82A0D16B-11DD-4F60-B5B2-E42C8AD0797A}" authorId="{815F19CB-0910-5954-EA57-8D8B5621FDC3}" status="resolved" created="2026-04-20T12:28:38.403" complete="100000">
    <ac:txMkLst xmlns:ac="http://schemas.microsoft.com/office/drawing/2013/main/command">
      <pc:docMk xmlns:pc="http://schemas.microsoft.com/office/powerpoint/2013/main/command"/>
      <pc:sldMk xmlns:pc="http://schemas.microsoft.com/office/powerpoint/2013/main/command" cId="2092203674" sldId="2147479784"/>
      <ac:graphicFrameMk id="6" creationId="{FF73EBA0-3FA3-05BC-17C4-0C2E7E5D1ED4}"/>
      <ac:tblMk/>
      <ac:tcMk rowId="3060468334" colId="2518726710"/>
      <ac:txMk cp="8" len="10">
        <ac:context len="29" hash="4227524953"/>
      </ac:txMk>
    </ac:txMkLst>
    <p188:pos x="8581292" y="281353"/>
    <p188:txBody>
      <a:bodyPr/>
      <a:lstStyle/>
      <a:p>
        <a:r>
          <a:rPr lang="en-US"/>
          <a:t>nedame radsej nieco ako "as defined by client"? nedala by own words ak by to chcela posielat niekam v jej skupine </a:t>
        </a:r>
      </a:p>
    </p188:txBody>
  </p188:cm>
</p188:cmLst>
</file>

<file path=ppt/comments/modernComment_7FFFF0EA_3EF3BD67.xml><?xml version="1.0" encoding="utf-8"?>
<p188:cmLst xmlns:a="http://schemas.openxmlformats.org/drawingml/2006/main" xmlns:r="http://schemas.openxmlformats.org/officeDocument/2006/relationships" xmlns:p188="http://schemas.microsoft.com/office/powerpoint/2018/8/main">
  <p188:cm id="{E9A809CC-8C73-4CCD-82FC-55DE1BB64FE8}" authorId="{815F19CB-0910-5954-EA57-8D8B5621FDC3}" created="2026-04-20T13:59:29.736">
    <ac:deMkLst xmlns:ac="http://schemas.microsoft.com/office/drawing/2013/main/command">
      <pc:docMk xmlns:pc="http://schemas.microsoft.com/office/powerpoint/2013/main/command"/>
      <pc:sldMk xmlns:pc="http://schemas.microsoft.com/office/powerpoint/2013/main/command" cId="1056161127" sldId="2147479786"/>
      <ac:spMk id="2" creationId="{DBBB1EFE-83D9-221F-5675-63C6CBE15D8B}"/>
    </ac:deMkLst>
    <p188:txBody>
      <a:bodyPr/>
      <a:lstStyle/>
      <a:p>
        <a:r>
          <a:rPr lang="en-US"/>
          <a:t>tento slide je v com different od predtym?</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042BBB12-6E13-4027-91F0-A3A24F3D7134}" authorId="{815F19CB-0910-5954-EA57-8D8B5621FDC3}" created="2026-04-20T12:22:48.708">
    <ac:txMkLst xmlns:ac="http://schemas.microsoft.com/office/drawing/2013/main/command">
      <pc:docMk xmlns:pc="http://schemas.microsoft.com/office/powerpoint/2013/main/command"/>
      <pc:sldMk xmlns:pc="http://schemas.microsoft.com/office/powerpoint/2013/main/command" cId="0" sldId="257"/>
      <ac:spMk id="4" creationId="{5FF0B453-5318-7F47-1EEC-3EBD41EA6FB4}"/>
      <ac:txMk cp="0" len="22">
        <ac:context len="23" hash="1641851131"/>
      </ac:txMk>
    </ac:txMkLst>
    <p188:pos x="725277" y="477397"/>
    <p188:replyLst>
      <p188:reply id="{22038DFE-3538-476A-8901-98A39A8ACBF7}" authorId="{23DF1198-95F7-282D-AFD7-F670DE3C5DF6}" created="2026-04-20T12:38:25.721">
        <p188:txBody>
          <a:bodyPr/>
          <a:lstStyle/>
          <a:p>
            <a:r>
              <a:rPr lang="en-GB"/>
              <a:t>Nie, rovnaky</a:t>
            </a:r>
          </a:p>
        </p188:txBody>
      </p188:reply>
    </p188:replyLst>
    <p188:txBody>
      <a:bodyPr/>
      <a:lstStyle/>
      <a:p>
        <a:r>
          <a:rPr lang="en-US"/>
          <a:t>nemas iny font pisma ako pri mne?</a:t>
        </a:r>
      </a:p>
    </p188:txBody>
  </p188:cm>
  <p188:cm id="{CAF16999-336A-4A30-B07D-A85D2ECAB5DB}" authorId="{815F19CB-0910-5954-EA57-8D8B5621FDC3}" created="2026-04-20T12:24:09.804">
    <ac:txMkLst xmlns:ac="http://schemas.microsoft.com/office/drawing/2013/main/command">
      <pc:docMk xmlns:pc="http://schemas.microsoft.com/office/powerpoint/2013/main/command"/>
      <pc:sldMk xmlns:pc="http://schemas.microsoft.com/office/powerpoint/2013/main/command" cId="0" sldId="257"/>
      <ac:spMk id="419" creationId="{00000000-0000-0000-0000-000000000000}"/>
      <ac:txMk cp="1044" len="12">
        <ac:context len="1172" hash="2115667858"/>
      </ac:txMk>
    </ac:txMkLst>
    <p188:pos x="3552939" y="4030337"/>
    <p188:replyLst>
      <p188:reply id="{106B4D56-3947-4BC9-A459-5129EFCCA6DB}" authorId="{23DF1198-95F7-282D-AFD7-F670DE3C5DF6}" created="2026-04-20T12:38:38.018">
        <p188:txBody>
          <a:bodyPr/>
          <a:lstStyle/>
          <a:p>
            <a:r>
              <a:rPr lang="en-GB"/>
              <a:t>Naschval, takto to oni volaju, tak som to chcel referencovat</a:t>
            </a:r>
          </a:p>
        </p188:txBody>
      </p188:reply>
    </p188:replyLst>
    <p188:txBody>
      <a:bodyPr/>
      <a:lstStyle/>
      <a:p>
        <a:r>
          <a:rPr lang="en-US"/>
          <a:t>to je naschval alebo preklep?</a:t>
        </a:r>
      </a:p>
    </p188:txBody>
  </p188:cm>
</p188:cmLst>
</file>

<file path=ppt/comments/modernComment_105_6F36AF5E.xml><?xml version="1.0" encoding="utf-8"?>
<p188:cmLst xmlns:a="http://schemas.openxmlformats.org/drawingml/2006/main" xmlns:r="http://schemas.openxmlformats.org/officeDocument/2006/relationships" xmlns:p188="http://schemas.microsoft.com/office/powerpoint/2018/8/main">
  <p188:cm id="{28DA7D53-53E2-4E6E-B806-B61E8F716FB8}" authorId="{815F19CB-0910-5954-EA57-8D8B5621FDC3}" created="2026-04-20T12:22:08.878">
    <ac:txMkLst xmlns:ac="http://schemas.microsoft.com/office/drawing/2013/main/command">
      <pc:docMk xmlns:pc="http://schemas.microsoft.com/office/powerpoint/2013/main/command"/>
      <pc:sldMk xmlns:pc="http://schemas.microsoft.com/office/powerpoint/2013/main/command" cId="1865854814" sldId="261"/>
      <ac:spMk id="2" creationId="{12DBF121-4939-9A21-A839-230CC776A674}"/>
      <ac:txMk cp="15">
        <ac:context len="54" hash="511501882"/>
      </ac:txMk>
    </ac:txMkLst>
    <p188:pos x="8932984" y="152400"/>
    <p188:replyLst>
      <p188:reply id="{4C07D8E1-730F-4440-90DF-E25C39CFF6F9}" authorId="{23DF1198-95F7-282D-AFD7-F670DE3C5DF6}" created="2026-04-20T12:37:43.121">
        <p188:txBody>
          <a:bodyPr/>
          <a:lstStyle/>
          <a:p>
            <a:r>
              <a:rPr lang="en-GB"/>
              <a:t>Mas pravdu, vyhodim tu referenciu na Prahu kedze Praha je priorita, ale nie cely picture</a:t>
            </a:r>
          </a:p>
        </p188:txBody>
      </p188:reply>
    </p188:replyLst>
    <p188:txBody>
      <a:bodyPr/>
      <a:lstStyle/>
      <a:p>
        <a:r>
          <a:rPr lang="en-US"/>
          <a:t>to tak volaju? lebo rozumiem, ze vysledkom projektu moze byt aj ze ine miesta budu urcene ako shared centers?</a:t>
        </a:r>
      </a:p>
    </p188:txBody>
  </p188:cm>
  <p188:cm id="{FB37B0A3-C019-495B-BB95-C10973163DDA}" authorId="{815F19CB-0910-5954-EA57-8D8B5621FDC3}" created="2026-04-20T12:22:26.613">
    <ac:txMkLst xmlns:ac="http://schemas.microsoft.com/office/drawing/2013/main/command">
      <pc:docMk xmlns:pc="http://schemas.microsoft.com/office/powerpoint/2013/main/command"/>
      <pc:sldMk xmlns:pc="http://schemas.microsoft.com/office/powerpoint/2013/main/command" cId="1865854814" sldId="261"/>
      <ac:spMk id="9" creationId="{6D45FBCF-F654-37CF-10CA-7AB40D869512}"/>
      <ac:txMk cp="6" len="21">
        <ac:context len="29" hash="2443991359"/>
      </ac:txMk>
    </ac:txMkLst>
    <p188:pos x="1184030" y="621323"/>
    <p188:txBody>
      <a:bodyPr/>
      <a:lstStyle/>
      <a:p>
        <a:r>
          <a:rPr lang="en-US"/>
          <a:t>datum cely pls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8F507-FFAD-4585-99E0-9DC17883AD4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2554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405" name="Google Shape;40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406" name="Google Shape;406;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80" name="Google Shape;480;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7"/>
        <p:cNvGrpSpPr/>
        <p:nvPr/>
      </p:nvGrpSpPr>
      <p:grpSpPr>
        <a:xfrm>
          <a:off x="0" y="0"/>
          <a:ext cx="0" cy="0"/>
          <a:chOff x="0" y="0"/>
          <a:chExt cx="0" cy="0"/>
        </a:xfrm>
      </p:grpSpPr>
      <p:sp>
        <p:nvSpPr>
          <p:cNvPr id="2348" name="Google Shape;2348;g31dcd263fd1_0_369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dirty="0"/>
          </a:p>
        </p:txBody>
      </p:sp>
      <p:sp>
        <p:nvSpPr>
          <p:cNvPr id="2349" name="Google Shape;2349;g31dcd263fd1_0_3690:notes"/>
          <p:cNvSpPr txBox="1">
            <a:spLocks noGrp="1"/>
          </p:cNvSpPr>
          <p:nvPr>
            <p:ph type="body" idx="1"/>
          </p:nvPr>
        </p:nvSpPr>
        <p:spPr>
          <a:xfrm>
            <a:off x="679768" y="4715493"/>
            <a:ext cx="5438100" cy="446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50" name="Google Shape;2350;g31dcd263fd1_0_3690:notes"/>
          <p:cNvSpPr txBox="1">
            <a:spLocks noGrp="1"/>
          </p:cNvSpPr>
          <p:nvPr>
            <p:ph type="sldNum" idx="12"/>
          </p:nvPr>
        </p:nvSpPr>
        <p:spPr>
          <a:xfrm>
            <a:off x="3849956" y="9429288"/>
            <a:ext cx="2946300" cy="4956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11</a:t>
            </a:fld>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a16="http://schemas.microsoft.com/office/drawing/2014/main" id="{85A7A210-31E7-2AEF-ECFB-A8B8062DDFCD}"/>
            </a:ext>
          </a:extLst>
        </p:cNvPr>
        <p:cNvGrpSpPr/>
        <p:nvPr/>
      </p:nvGrpSpPr>
      <p:grpSpPr>
        <a:xfrm>
          <a:off x="0" y="0"/>
          <a:ext cx="0" cy="0"/>
          <a:chOff x="0" y="0"/>
          <a:chExt cx="0" cy="0"/>
        </a:xfrm>
      </p:grpSpPr>
      <p:sp>
        <p:nvSpPr>
          <p:cNvPr id="453" name="Google Shape;453;p68:notes">
            <a:extLst>
              <a:ext uri="{FF2B5EF4-FFF2-40B4-BE49-F238E27FC236}">
                <a16:creationId xmlns:a16="http://schemas.microsoft.com/office/drawing/2014/main" id="{BA1E1BD5-1930-9080-E97A-C45A8164BBE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dirty="0"/>
          </a:p>
        </p:txBody>
      </p:sp>
      <p:sp>
        <p:nvSpPr>
          <p:cNvPr id="454" name="Google Shape;454;p68:notes">
            <a:extLst>
              <a:ext uri="{FF2B5EF4-FFF2-40B4-BE49-F238E27FC236}">
                <a16:creationId xmlns:a16="http://schemas.microsoft.com/office/drawing/2014/main" id="{9C453C8D-FB7F-3CDE-9CD2-7B71D802CBCE}"/>
              </a:ext>
            </a:extLst>
          </p:cNvPr>
          <p:cNvSpPr txBox="1">
            <a:spLocks noGrp="1"/>
          </p:cNvSpPr>
          <p:nvPr>
            <p:ph type="body" idx="1"/>
          </p:nvPr>
        </p:nvSpPr>
        <p:spPr>
          <a:xfrm>
            <a:off x="679768" y="4715493"/>
            <a:ext cx="5438100" cy="446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5" name="Google Shape;455;p68:notes">
            <a:extLst>
              <a:ext uri="{FF2B5EF4-FFF2-40B4-BE49-F238E27FC236}">
                <a16:creationId xmlns:a16="http://schemas.microsoft.com/office/drawing/2014/main" id="{BEB7CE69-613C-E906-0688-E218F380DB5C}"/>
              </a:ext>
            </a:extLst>
          </p:cNvPr>
          <p:cNvSpPr txBox="1">
            <a:spLocks noGrp="1"/>
          </p:cNvSpPr>
          <p:nvPr>
            <p:ph type="sldNum" idx="12"/>
          </p:nvPr>
        </p:nvSpPr>
        <p:spPr>
          <a:xfrm>
            <a:off x="3849956" y="9429288"/>
            <a:ext cx="2946300" cy="495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14</a:t>
            </a:fld>
            <a:endParaRPr dirty="0"/>
          </a:p>
        </p:txBody>
      </p:sp>
    </p:spTree>
    <p:extLst>
      <p:ext uri="{BB962C8B-B14F-4D97-AF65-F5344CB8AC3E}">
        <p14:creationId xmlns:p14="http://schemas.microsoft.com/office/powerpoint/2010/main" val="41100712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3228158800"/>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3720015895"/>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2336" y="4007973"/>
            <a:ext cx="4671732"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7515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Tree>
    <p:extLst>
      <p:ext uri="{BB962C8B-B14F-4D97-AF65-F5344CB8AC3E}">
        <p14:creationId xmlns:p14="http://schemas.microsoft.com/office/powerpoint/2010/main" val="2600970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Tree>
    <p:extLst>
      <p:ext uri="{BB962C8B-B14F-4D97-AF65-F5344CB8AC3E}">
        <p14:creationId xmlns:p14="http://schemas.microsoft.com/office/powerpoint/2010/main" val="45991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Tree>
    <p:extLst>
      <p:ext uri="{BB962C8B-B14F-4D97-AF65-F5344CB8AC3E}">
        <p14:creationId xmlns:p14="http://schemas.microsoft.com/office/powerpoint/2010/main" val="70568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3998913"/>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Tree>
    <p:extLst>
      <p:ext uri="{BB962C8B-B14F-4D97-AF65-F5344CB8AC3E}">
        <p14:creationId xmlns:p14="http://schemas.microsoft.com/office/powerpoint/2010/main" val="4025748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118153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2232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2713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08867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821150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20542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519906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568126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44527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22486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9696" y="794063"/>
            <a:ext cx="6589884" cy="3328416"/>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3847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209696" y="786384"/>
            <a:ext cx="5754687" cy="3195638"/>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160820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1" y="818982"/>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5" y="818982"/>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64987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1363" y="917575"/>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17575"/>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9329556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402336"/>
            <a:ext cx="11399691" cy="129539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4286118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402337"/>
            <a:ext cx="11399691" cy="45720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401638" y="885381"/>
            <a:ext cx="11399837" cy="68580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830176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402336" y="402336"/>
            <a:ext cx="11403809" cy="946148"/>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02336"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802881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402336" y="402336"/>
            <a:ext cx="11403809" cy="457200"/>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02336"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81241698-5CD8-C604-8076-E2C7174471A8}"/>
              </a:ext>
            </a:extLst>
          </p:cNvPr>
          <p:cNvSpPr>
            <a:spLocks noGrp="1"/>
          </p:cNvSpPr>
          <p:nvPr>
            <p:ph type="body" sz="quarter" idx="11"/>
          </p:nvPr>
        </p:nvSpPr>
        <p:spPr>
          <a:xfrm>
            <a:off x="401638" y="886968"/>
            <a:ext cx="11399837" cy="68580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29014782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402336"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2169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402336" y="402336"/>
            <a:ext cx="3840958" cy="5566886"/>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37637"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37637"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6873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9B4C70A-448E-FF82-4DED-5DB3D9F57437}"/>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81363" y="1421451"/>
            <a:ext cx="2514283" cy="1938812"/>
          </a:xfrm>
        </p:spPr>
        <p:txBody>
          <a:bodyPr/>
          <a:lstStyle>
            <a:lvl1pPr>
              <a:lnSpc>
                <a:spcPct val="100000"/>
              </a:lnSpc>
              <a:spcAft>
                <a:spcPts val="1200"/>
              </a:spcAft>
              <a:defRPr sz="1500" b="1"/>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81363"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37638" y="1421451"/>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37638"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416192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994589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2335" y="402337"/>
            <a:ext cx="11399691" cy="45720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1C2027B2-3AF9-ACB0-EFBF-E307D2CA34FA}"/>
              </a:ext>
            </a:extLst>
          </p:cNvPr>
          <p:cNvSpPr>
            <a:spLocks noGrp="1"/>
          </p:cNvSpPr>
          <p:nvPr>
            <p:ph type="body" sz="quarter" idx="12"/>
          </p:nvPr>
        </p:nvSpPr>
        <p:spPr>
          <a:xfrm>
            <a:off x="400050" y="886968"/>
            <a:ext cx="11401425" cy="658368"/>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38581993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9EA8B36-F386-C764-DAD6-33D7736D9EEC}"/>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030475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02336" y="1439508"/>
            <a:ext cx="5237163" cy="4510088"/>
          </a:xfrm>
        </p:spPr>
        <p:txBody>
          <a:bodyPr/>
          <a:lstStyle/>
          <a:p>
            <a:r>
              <a:rPr lang="en-US"/>
              <a:t>Click icon to add chart</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616867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904804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588936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2336"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1000"/>
              </a:spcAft>
              <a:defRPr sz="1800" b="1">
                <a:latin typeface="+mn-lt"/>
              </a:defRPr>
            </a:lvl1pPr>
            <a:lvl2pPr>
              <a:lnSpc>
                <a:spcPct val="100000"/>
              </a:lnSpc>
              <a:spcBef>
                <a:spcPts val="0"/>
              </a:spcBef>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832842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2336"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0"/>
              </a:spcAft>
              <a:defRPr sz="1800" b="1">
                <a:latin typeface="+mn-lt"/>
              </a:defRPr>
            </a:lvl1pPr>
            <a:lvl2pPr>
              <a:spcBef>
                <a:spcPts val="600"/>
              </a:spcBef>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7958"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7958"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63981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9CDDF52B-DBF3-6EA5-316F-86B168D5B385}"/>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440338"/>
            <a:ext cx="3448050" cy="4498500"/>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440338"/>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440339"/>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8"/>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984965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12157443-656C-E355-D086-838984BEEC17}"/>
              </a:ext>
            </a:extLst>
          </p:cNvPr>
          <p:cNvSpPr>
            <a:spLocks noGrp="1"/>
          </p:cNvSpPr>
          <p:nvPr>
            <p:ph type="title"/>
          </p:nvPr>
        </p:nvSpPr>
        <p:spPr>
          <a:xfrm>
            <a:off x="402335" y="402336"/>
            <a:ext cx="11399691" cy="908940"/>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7613992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402336" y="4002723"/>
            <a:ext cx="3389473" cy="1929924"/>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798664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402335" y="402336"/>
            <a:ext cx="11406322"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58730"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260933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402335" y="402337"/>
            <a:ext cx="11406322" cy="45720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58730"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401638" y="886968"/>
            <a:ext cx="11407775" cy="68580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3012792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1381829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402335" y="402336"/>
            <a:ext cx="11406322"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3484563"/>
            <a:ext cx="2757805"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75769" y="3484563"/>
            <a:ext cx="2752324"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52459"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58730"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1115219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402335" y="402336"/>
            <a:ext cx="11399691" cy="908837"/>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402336"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123775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6" name="Title Placeholder 1">
            <a:extLst>
              <a:ext uri="{FF2B5EF4-FFF2-40B4-BE49-F238E27FC236}">
                <a16:creationId xmlns:a16="http://schemas.microsoft.com/office/drawing/2014/main" id="{68A701A6-89AB-4B4D-0870-B17023D69CCD}"/>
              </a:ext>
            </a:extLst>
          </p:cNvPr>
          <p:cNvSpPr>
            <a:spLocks noGrp="1"/>
          </p:cNvSpPr>
          <p:nvPr>
            <p:ph type="title"/>
          </p:nvPr>
        </p:nvSpPr>
        <p:spPr>
          <a:xfrm>
            <a:off x="402335" y="402336"/>
            <a:ext cx="11406322" cy="915289"/>
          </a:xfrm>
          <a:prstGeom prst="rect">
            <a:avLst/>
          </a:prstGeom>
        </p:spPr>
        <p:txBody>
          <a:bodyPr vert="horz" lIns="0" tIns="0" rIns="0" bIns="0" rtlCol="0" anchor="t" anchorCtr="0">
            <a:noAutofit/>
          </a:bodyPr>
          <a:lstStyle/>
          <a:p>
            <a:r>
              <a:rPr lang="en-US"/>
              <a:t>Click to edit Master title style</a:t>
            </a:r>
          </a:p>
        </p:txBody>
      </p:sp>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2336" y="1428750"/>
            <a:ext cx="2647951" cy="2455863"/>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3998913"/>
            <a:ext cx="2757805"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solidFill>
            <a:schemeClr val="bg2"/>
          </a:solidFill>
        </p:spPr>
        <p:txBody>
          <a:bodyPr tIns="731520"/>
          <a:lstStyle>
            <a:lvl1pPr algn="ctr">
              <a:defRPr/>
            </a:lvl1pPr>
          </a:lstStyle>
          <a:p>
            <a:r>
              <a:rPr lang="en-US"/>
              <a:t>Click icon to add picture</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3998913"/>
            <a:ext cx="2752324"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solidFill>
            <a:schemeClr val="bg2"/>
          </a:solidFill>
        </p:spPr>
        <p:txBody>
          <a:bodyPr tIns="73152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58730" y="1428750"/>
            <a:ext cx="2647951" cy="2455863"/>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58730"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980237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399482" y="1443674"/>
            <a:ext cx="2597467" cy="3980813"/>
          </a:xfrm>
        </p:spPr>
        <p:txBody>
          <a:bodyPr/>
          <a:lstStyle>
            <a:lvl1pPr>
              <a:lnSpc>
                <a:spcPct val="100000"/>
              </a:lnSpc>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93938" y="1443674"/>
            <a:ext cx="2597467" cy="398081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75570" y="1428750"/>
            <a:ext cx="5634604" cy="2455863"/>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6147639" y="4041936"/>
            <a:ext cx="2765425" cy="1929924"/>
          </a:xfrm>
        </p:spPr>
        <p:txBody>
          <a:bodyPr/>
          <a:lstStyle>
            <a:lvl1pPr>
              <a:lnSpc>
                <a:spcPct val="100000"/>
              </a:lnSpc>
              <a:spcAft>
                <a:spcPts val="1300"/>
              </a:spcAft>
              <a:defRPr sz="18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0" name="Content Placeholder 2">
            <a:extLst>
              <a:ext uri="{FF2B5EF4-FFF2-40B4-BE49-F238E27FC236}">
                <a16:creationId xmlns:a16="http://schemas.microsoft.com/office/drawing/2014/main" id="{ADA732D9-8671-5C81-D1CA-1C96F66F29CB}"/>
              </a:ext>
            </a:extLst>
          </p:cNvPr>
          <p:cNvSpPr>
            <a:spLocks noGrp="1"/>
          </p:cNvSpPr>
          <p:nvPr>
            <p:ph idx="15"/>
          </p:nvPr>
        </p:nvSpPr>
        <p:spPr>
          <a:xfrm>
            <a:off x="9044749" y="4041936"/>
            <a:ext cx="2765425" cy="1929924"/>
          </a:xfrm>
        </p:spPr>
        <p:txBody>
          <a:bodyPr/>
          <a:lstStyle>
            <a:lvl1pPr>
              <a:lnSpc>
                <a:spcPct val="100000"/>
              </a:lnSpc>
              <a:spcAft>
                <a:spcPts val="1300"/>
              </a:spcAft>
              <a:defRPr sz="1200" b="0">
                <a:latin typeface="+mj-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25373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0233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1579086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Content Subtitle">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402335" y="402337"/>
            <a:ext cx="11399691" cy="457200"/>
          </a:xfrm>
          <a:prstGeom prst="rect">
            <a:avLst/>
          </a:prstGeom>
        </p:spPr>
        <p:txBody>
          <a:bodyPr vert="horz" lIns="0" tIns="0" rIns="0" bIns="0" rtlCol="0" anchor="t" anchorCtr="0">
            <a:noAutofit/>
          </a:bodyPr>
          <a:lstStyle/>
          <a:p>
            <a:r>
              <a:rPr lang="en-US"/>
              <a:t>Click to edit Master title style</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0233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1C018B1A-B52B-AC9A-63B1-F00217B38E41}"/>
              </a:ext>
            </a:extLst>
          </p:cNvPr>
          <p:cNvSpPr>
            <a:spLocks noGrp="1"/>
          </p:cNvSpPr>
          <p:nvPr>
            <p:ph type="body" sz="quarter" idx="15"/>
          </p:nvPr>
        </p:nvSpPr>
        <p:spPr>
          <a:xfrm>
            <a:off x="401638" y="886968"/>
            <a:ext cx="11399837" cy="68580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30904033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233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0233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1968123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68962" cy="3758184"/>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983333"/>
            <a:ext cx="4702359" cy="1014843"/>
          </a:xfrm>
        </p:spPr>
        <p:txBody>
          <a:bodyPr/>
          <a:lstStyle>
            <a:lvl1pPr>
              <a:lnSpc>
                <a:spcPct val="100000"/>
              </a:lnSpc>
              <a:spcBef>
                <a:spcPts val="0"/>
              </a:spcBef>
              <a:spcAft>
                <a:spcPts val="0"/>
              </a:spcAft>
              <a:defRPr sz="1600"/>
            </a:lvl1pPr>
            <a:lvl2pPr>
              <a:lnSpc>
                <a:spcPct val="100000"/>
              </a:lnSpc>
              <a:spcBef>
                <a:spcPts val="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399478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0233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046774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0233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2AE626E5-51F6-0BEB-2AFE-FE78E1409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6163970" y="400050"/>
            <a:ext cx="5637503" cy="4521510"/>
          </a:xfrm>
          <a:custGeom>
            <a:avLst/>
            <a:gdLst>
              <a:gd name="connsiteX0" fmla="*/ 0 w 5637503"/>
              <a:gd name="connsiteY0" fmla="*/ 0 h 4521510"/>
              <a:gd name="connsiteX1" fmla="*/ 5637503 w 5637503"/>
              <a:gd name="connsiteY1" fmla="*/ 0 h 4521510"/>
              <a:gd name="connsiteX2" fmla="*/ 5636321 w 5637503"/>
              <a:gd name="connsiteY2" fmla="*/ 2101892 h 4521510"/>
              <a:gd name="connsiteX3" fmla="*/ 5635136 w 5637503"/>
              <a:gd name="connsiteY3" fmla="*/ 4208474 h 4521510"/>
              <a:gd name="connsiteX4" fmla="*/ 2786509 w 5637503"/>
              <a:gd name="connsiteY4" fmla="*/ 4206576 h 4521510"/>
              <a:gd name="connsiteX5" fmla="*/ 2583036 w 5637503"/>
              <a:gd name="connsiteY5" fmla="*/ 4512498 h 4521510"/>
              <a:gd name="connsiteX6" fmla="*/ 0 w 5637503"/>
              <a:gd name="connsiteY6" fmla="*/ 4521510 h 452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7503" h="4521510">
                <a:moveTo>
                  <a:pt x="0" y="0"/>
                </a:moveTo>
                <a:lnTo>
                  <a:pt x="5637503" y="0"/>
                </a:lnTo>
                <a:lnTo>
                  <a:pt x="5636321" y="2101892"/>
                </a:lnTo>
                <a:cubicBezTo>
                  <a:pt x="5636518" y="2804481"/>
                  <a:pt x="5636716" y="3507070"/>
                  <a:pt x="5635136" y="4208474"/>
                </a:cubicBezTo>
                <a:lnTo>
                  <a:pt x="2786509" y="4206576"/>
                </a:lnTo>
                <a:lnTo>
                  <a:pt x="2583036" y="4512498"/>
                </a:lnTo>
                <a:lnTo>
                  <a:pt x="0" y="4521510"/>
                </a:lnTo>
                <a:close/>
              </a:path>
            </a:pathLst>
          </a:custGeom>
          <a:solidFill>
            <a:schemeClr val="bg2"/>
          </a:solidFill>
        </p:spPr>
        <p:txBody>
          <a:bodyPr wrap="square" tIns="1280160" bIns="2743200" anchor="t" anchorCtr="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8943000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9197" y="4470739"/>
            <a:ext cx="4704858" cy="510836"/>
          </a:xfrm>
        </p:spPr>
        <p:txBody>
          <a:bodyPr/>
          <a:lstStyle>
            <a:lvl1pPr>
              <a:lnSpc>
                <a:spcPct val="100000"/>
              </a:lnSpc>
              <a:spcBef>
                <a:spcPts val="0"/>
              </a:spcBef>
              <a:spcAft>
                <a:spcPts val="0"/>
              </a:spcAft>
              <a:defRPr sz="1600">
                <a:solidFill>
                  <a:schemeClr val="tx1"/>
                </a:solidFill>
              </a:defRPr>
            </a:lvl1pPr>
            <a:lvl2pPr>
              <a:lnSpc>
                <a:spcPct val="100000"/>
              </a:lnSpc>
              <a:spcBef>
                <a:spcPts val="0"/>
              </a:spcBef>
              <a:spcAft>
                <a:spcPts val="0"/>
              </a:spcAft>
              <a:defRPr sz="16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2542327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694" y="4463448"/>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108877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0444676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495083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bg1"/>
                </a:solidFill>
              </a:defRPr>
            </a:lvl1pPr>
            <a:lvl2pPr>
              <a:lnSpc>
                <a:spcPct val="100000"/>
              </a:lnSpc>
              <a:spcBef>
                <a:spcPts val="0"/>
              </a:spcBef>
              <a:spcAft>
                <a:spcPts val="0"/>
              </a:spcAft>
              <a:defRPr sz="1800">
                <a:solidFill>
                  <a:schemeClr val="bg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6807599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0486"/>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0050"/>
            <a:ext cx="6614842" cy="553904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86964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402336"/>
            <a:ext cx="3737453" cy="1295399"/>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2336" y="2979420"/>
            <a:ext cx="3727450" cy="2620963"/>
          </a:xfrm>
        </p:spPr>
        <p:txBody>
          <a:bodyPr/>
          <a:lstStyle>
            <a:lvl1pPr>
              <a:lnSpc>
                <a:spcPct val="100000"/>
              </a:lnSpc>
              <a:spcBef>
                <a:spcPts val="0"/>
              </a:spcBef>
              <a:defRPr sz="1500"/>
            </a:lvl1pPr>
            <a:lvl2pPr>
              <a:defRPr sz="1200">
                <a:latin typeface="+mj-lt"/>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4842426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2457451"/>
            <a:ext cx="2767808" cy="765810"/>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2336" y="3492183"/>
            <a:ext cx="2757805" cy="2115820"/>
          </a:xfrm>
        </p:spPr>
        <p:txBody>
          <a:bodyPr/>
          <a:lstStyle>
            <a:lvl1pPr>
              <a:lnSpc>
                <a:spcPct val="120000"/>
              </a:lnSpc>
              <a:spcBef>
                <a:spcPts val="0"/>
              </a:spcBef>
              <a:defRPr sz="1200" b="0">
                <a:latin typeface="+mj-lt"/>
              </a:defRPr>
            </a:lvl1pPr>
            <a:lvl2pPr>
              <a:defRPr sz="1200">
                <a:latin typeface="+mn-lt"/>
              </a:defRPr>
            </a:lvl2pPr>
          </a:lstStyle>
          <a:p>
            <a:pPr lvl="0"/>
            <a:r>
              <a:rPr lang="en-US"/>
              <a:t>Click to edit Master text styles</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88471" y="400050"/>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Tree>
    <p:extLst>
      <p:ext uri="{BB962C8B-B14F-4D97-AF65-F5344CB8AC3E}">
        <p14:creationId xmlns:p14="http://schemas.microsoft.com/office/powerpoint/2010/main" val="27307693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097462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2128810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369B2012-7A09-E6A5-2473-4DB6823B0A7E}"/>
              </a:ext>
            </a:extLst>
          </p:cNvPr>
          <p:cNvSpPr>
            <a:spLocks noGrp="1"/>
          </p:cNvSpPr>
          <p:nvPr>
            <p:ph type="title"/>
          </p:nvPr>
        </p:nvSpPr>
        <p:spPr>
          <a:xfrm>
            <a:off x="402336"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2336" y="3492183"/>
            <a:ext cx="3719830" cy="2446655"/>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solidFill>
            <a:schemeClr val="bg2"/>
          </a:solidFill>
        </p:spPr>
        <p:txBody>
          <a:bodyPr tIns="457200"/>
          <a:lstStyle>
            <a:lvl1pPr algn="ctr">
              <a:defRPr/>
            </a:lvl1pPr>
          </a:lstStyle>
          <a:p>
            <a:r>
              <a:rPr lang="en-US"/>
              <a:t>Click icon to add picture</a:t>
            </a:r>
          </a:p>
        </p:txBody>
      </p:sp>
      <p:sp>
        <p:nvSpPr>
          <p:cNvPr id="17" name="Content Placeholder 2">
            <a:extLst>
              <a:ext uri="{FF2B5EF4-FFF2-40B4-BE49-F238E27FC236}">
                <a16:creationId xmlns:a16="http://schemas.microsoft.com/office/drawing/2014/main" id="{E0678072-A6EC-A7CF-E412-0D3F27A1A0A0}"/>
              </a:ext>
            </a:extLst>
          </p:cNvPr>
          <p:cNvSpPr>
            <a:spLocks noGrp="1"/>
          </p:cNvSpPr>
          <p:nvPr>
            <p:ph idx="10"/>
          </p:nvPr>
        </p:nvSpPr>
        <p:spPr>
          <a:xfrm>
            <a:off x="7127838" y="1446213"/>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solidFill>
            <a:schemeClr val="bg2"/>
          </a:solidFill>
        </p:spPr>
        <p:txBody>
          <a:bodyPr tIns="457200"/>
          <a:lstStyle>
            <a:lvl1pPr algn="ctr">
              <a:defRPr/>
            </a:lvl1pPr>
          </a:lstStyle>
          <a:p>
            <a:r>
              <a:rPr lang="en-US"/>
              <a:t>Click icon to add picture</a:t>
            </a:r>
          </a:p>
        </p:txBody>
      </p:sp>
      <p:sp>
        <p:nvSpPr>
          <p:cNvPr id="18" name="Content Placeholder 2">
            <a:extLst>
              <a:ext uri="{FF2B5EF4-FFF2-40B4-BE49-F238E27FC236}">
                <a16:creationId xmlns:a16="http://schemas.microsoft.com/office/drawing/2014/main" id="{F62FE28B-1451-7A6D-A415-8DE9235897A9}"/>
              </a:ext>
            </a:extLst>
          </p:cNvPr>
          <p:cNvSpPr>
            <a:spLocks noGrp="1"/>
          </p:cNvSpPr>
          <p:nvPr>
            <p:ph idx="13"/>
          </p:nvPr>
        </p:nvSpPr>
        <p:spPr>
          <a:xfrm>
            <a:off x="7127838" y="2979420"/>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p>
        </p:txBody>
      </p:sp>
      <p:sp>
        <p:nvSpPr>
          <p:cNvPr id="19" name="Content Placeholder 2">
            <a:extLst>
              <a:ext uri="{FF2B5EF4-FFF2-40B4-BE49-F238E27FC236}">
                <a16:creationId xmlns:a16="http://schemas.microsoft.com/office/drawing/2014/main" id="{ADD78EAE-A704-D3CE-D6AA-6E6E52DCA211}"/>
              </a:ext>
            </a:extLst>
          </p:cNvPr>
          <p:cNvSpPr>
            <a:spLocks noGrp="1"/>
          </p:cNvSpPr>
          <p:nvPr>
            <p:ph idx="14"/>
          </p:nvPr>
        </p:nvSpPr>
        <p:spPr>
          <a:xfrm>
            <a:off x="7127838" y="4519931"/>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343165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336"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9" name="Text Placeholder 8">
            <a:extLst>
              <a:ext uri="{FF2B5EF4-FFF2-40B4-BE49-F238E27FC236}">
                <a16:creationId xmlns:a16="http://schemas.microsoft.com/office/drawing/2014/main" id="{9D440408-8D82-6FAB-8574-86AD0978A5D2}"/>
              </a:ext>
            </a:extLst>
          </p:cNvPr>
          <p:cNvSpPr>
            <a:spLocks noGrp="1"/>
          </p:cNvSpPr>
          <p:nvPr>
            <p:ph type="body" sz="quarter" idx="10"/>
          </p:nvPr>
        </p:nvSpPr>
        <p:spPr>
          <a:xfrm>
            <a:off x="6165850" y="3500447"/>
            <a:ext cx="5635625" cy="2438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170915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336"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37638" y="3484563"/>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038249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2336"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solidFill>
            <a:schemeClr val="accent1"/>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1247533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DACEF0AF-E2A8-B95F-9038-793C9FF94FBE}"/>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2336"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2336"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4247643"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808759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865687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25B5614F-1512-8F64-6245-6374F3844E2C}"/>
              </a:ext>
            </a:extLst>
          </p:cNvPr>
          <p:cNvSpPr>
            <a:spLocks noGrp="1"/>
          </p:cNvSpPr>
          <p:nvPr>
            <p:ph type="title"/>
          </p:nvPr>
        </p:nvSpPr>
        <p:spPr>
          <a:xfrm>
            <a:off x="402335" y="402335"/>
            <a:ext cx="11399691"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233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2336"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3288624"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9800"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6169800"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4" name="Content Placeholder 2">
            <a:extLst>
              <a:ext uri="{FF2B5EF4-FFF2-40B4-BE49-F238E27FC236}">
                <a16:creationId xmlns:a16="http://schemas.microsoft.com/office/drawing/2014/main" id="{B19B3672-1BF6-5E8D-DC7D-048381D2695A}"/>
              </a:ext>
            </a:extLst>
          </p:cNvPr>
          <p:cNvSpPr>
            <a:spLocks noGrp="1"/>
          </p:cNvSpPr>
          <p:nvPr>
            <p:ph idx="15"/>
          </p:nvPr>
        </p:nvSpPr>
        <p:spPr>
          <a:xfrm>
            <a:off x="9050976"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3674235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9F1385C-E183-4949-1E52-945BDAAEC82D}"/>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p:nvPr>
        </p:nvSpPr>
        <p:spPr>
          <a:xfrm>
            <a:off x="402336" y="3495320"/>
            <a:ext cx="3719076" cy="2451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p:spPr>
        <p:txBody>
          <a:bodyPr/>
          <a:lstStyle>
            <a:lvl1pPr algn="ctr">
              <a:defRPr/>
            </a:lvl1pPr>
          </a:lstStyle>
          <a:p>
            <a:r>
              <a:rPr lang="en-US"/>
              <a:t>Click icon to add chart</a:t>
            </a:r>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7230567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2336"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02336"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6630360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402335" y="402336"/>
            <a:ext cx="11399692"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2336"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02336"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4" name="Content Placeholder 2">
            <a:extLst>
              <a:ext uri="{FF2B5EF4-FFF2-40B4-BE49-F238E27FC236}">
                <a16:creationId xmlns:a16="http://schemas.microsoft.com/office/drawing/2014/main" id="{7C31502B-FAB9-8313-90B7-D7C06363AE17}"/>
              </a:ext>
            </a:extLst>
          </p:cNvPr>
          <p:cNvSpPr>
            <a:spLocks noGrp="1"/>
          </p:cNvSpPr>
          <p:nvPr>
            <p:ph idx="25"/>
          </p:nvPr>
        </p:nvSpPr>
        <p:spPr>
          <a:xfrm>
            <a:off x="328864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77198"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0" name="Content Placeholder 2">
            <a:extLst>
              <a:ext uri="{FF2B5EF4-FFF2-40B4-BE49-F238E27FC236}">
                <a16:creationId xmlns:a16="http://schemas.microsoft.com/office/drawing/2014/main" id="{3DF40A1F-2110-372D-0359-94789B6D9CD7}"/>
              </a:ext>
            </a:extLst>
          </p:cNvPr>
          <p:cNvSpPr>
            <a:spLocks noGrp="1"/>
          </p:cNvSpPr>
          <p:nvPr>
            <p:ph idx="28"/>
          </p:nvPr>
        </p:nvSpPr>
        <p:spPr>
          <a:xfrm>
            <a:off x="9059425"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77198"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FCAFF494-77C5-F797-6FAA-D4D42743AB5D}"/>
              </a:ext>
            </a:extLst>
          </p:cNvPr>
          <p:cNvSpPr>
            <a:spLocks noGrp="1"/>
          </p:cNvSpPr>
          <p:nvPr>
            <p:ph idx="29"/>
          </p:nvPr>
        </p:nvSpPr>
        <p:spPr>
          <a:xfrm>
            <a:off x="9059425"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0143405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994293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0727817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336" y="1946275"/>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err="1">
                <a:solidFill>
                  <a:schemeClr val="tx1"/>
                </a:solidFill>
                <a:latin typeface="+mn-lt"/>
                <a:cs typeface="Arial" panose="020B0604020202020204" pitchFamily="34" charset="0"/>
              </a:rPr>
              <a:t>pwc.com</a:t>
            </a:r>
            <a:r>
              <a:rPr lang="en-US" sz="1600" b="1">
                <a:solidFill>
                  <a:schemeClr val="tx1"/>
                </a:solidFill>
                <a:latin typeface="+mn-lt"/>
                <a:cs typeface="Arial" panose="020B0604020202020204" pitchFamily="34" charset="0"/>
              </a:rPr>
              <a:t>/</a:t>
            </a:r>
            <a:r>
              <a:rPr lang="en-US" sz="1600" b="1" err="1">
                <a:solidFill>
                  <a:schemeClr val="tx1"/>
                </a:solidFill>
                <a:latin typeface="+mn-lt"/>
                <a:cs typeface="Arial" panose="020B0604020202020204" pitchFamily="34" charset="0"/>
              </a:rPr>
              <a:t>sk</a:t>
            </a:r>
            <a:endParaRPr lang="en-US" sz="1600"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746571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336"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2336"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6349205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57425"/>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42834068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02336" y="400050"/>
            <a:ext cx="11387893" cy="3484563"/>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336" y="4410115"/>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0114"/>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7713849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6" y="402337"/>
            <a:ext cx="11402671" cy="915288"/>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6"/>
            <a:ext cx="9482935" cy="3992562"/>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14178842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670"/>
        <p:cNvGrpSpPr/>
        <p:nvPr/>
      </p:nvGrpSpPr>
      <p:grpSpPr>
        <a:xfrm>
          <a:off x="0" y="0"/>
          <a:ext cx="0" cy="0"/>
          <a:chOff x="0" y="0"/>
          <a:chExt cx="0" cy="0"/>
        </a:xfrm>
      </p:grpSpPr>
      <p:sp>
        <p:nvSpPr>
          <p:cNvPr id="671" name="Google Shape;671;p116"/>
          <p:cNvSpPr txBox="1">
            <a:spLocks noGrp="1"/>
          </p:cNvSpPr>
          <p:nvPr>
            <p:ph type="body" idx="1"/>
          </p:nvPr>
        </p:nvSpPr>
        <p:spPr>
          <a:xfrm>
            <a:off x="442914" y="2103438"/>
            <a:ext cx="3528900" cy="4068900"/>
          </a:xfrm>
          <a:prstGeom prst="rect">
            <a:avLst/>
          </a:prstGeom>
          <a:noFill/>
          <a:ln>
            <a:noFill/>
          </a:ln>
        </p:spPr>
        <p:txBody>
          <a:bodyPr spcFirstLastPara="1" wrap="square" lIns="0" tIns="0" rIns="0" bIns="0" anchor="t" anchorCtr="0">
            <a:noAutofit/>
          </a:bodyPr>
          <a:lstStyle>
            <a:lvl1pPr marL="457200" marR="0" lvl="0"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700"/>
              </a:spcBef>
              <a:spcAft>
                <a:spcPts val="7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72" name="Google Shape;672;p116"/>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500"/>
              <a:buNone/>
              <a:defRPr sz="1900"/>
            </a:lvl2pPr>
            <a:lvl3pPr lvl="2" algn="l" rtl="0">
              <a:lnSpc>
                <a:spcPct val="100000"/>
              </a:lnSpc>
              <a:spcBef>
                <a:spcPts val="0"/>
              </a:spcBef>
              <a:spcAft>
                <a:spcPts val="0"/>
              </a:spcAft>
              <a:buSzPts val="1500"/>
              <a:buNone/>
              <a:defRPr sz="1900"/>
            </a:lvl3pPr>
            <a:lvl4pPr lvl="3" algn="l" rtl="0">
              <a:lnSpc>
                <a:spcPct val="100000"/>
              </a:lnSpc>
              <a:spcBef>
                <a:spcPts val="0"/>
              </a:spcBef>
              <a:spcAft>
                <a:spcPts val="0"/>
              </a:spcAft>
              <a:buSzPts val="1500"/>
              <a:buNone/>
              <a:defRPr sz="1900"/>
            </a:lvl4pPr>
            <a:lvl5pPr lvl="4" algn="l" rtl="0">
              <a:lnSpc>
                <a:spcPct val="100000"/>
              </a:lnSpc>
              <a:spcBef>
                <a:spcPts val="0"/>
              </a:spcBef>
              <a:spcAft>
                <a:spcPts val="0"/>
              </a:spcAft>
              <a:buSzPts val="1500"/>
              <a:buNone/>
              <a:defRPr sz="1900"/>
            </a:lvl5pPr>
            <a:lvl6pPr lvl="5" algn="l" rtl="0">
              <a:lnSpc>
                <a:spcPct val="100000"/>
              </a:lnSpc>
              <a:spcBef>
                <a:spcPts val="0"/>
              </a:spcBef>
              <a:spcAft>
                <a:spcPts val="0"/>
              </a:spcAft>
              <a:buSzPts val="1500"/>
              <a:buNone/>
              <a:defRPr sz="1900"/>
            </a:lvl6pPr>
            <a:lvl7pPr lvl="6" algn="l" rtl="0">
              <a:lnSpc>
                <a:spcPct val="100000"/>
              </a:lnSpc>
              <a:spcBef>
                <a:spcPts val="0"/>
              </a:spcBef>
              <a:spcAft>
                <a:spcPts val="0"/>
              </a:spcAft>
              <a:buSzPts val="1500"/>
              <a:buNone/>
              <a:defRPr sz="1900"/>
            </a:lvl7pPr>
            <a:lvl8pPr lvl="7" algn="l" rtl="0">
              <a:lnSpc>
                <a:spcPct val="100000"/>
              </a:lnSpc>
              <a:spcBef>
                <a:spcPts val="0"/>
              </a:spcBef>
              <a:spcAft>
                <a:spcPts val="0"/>
              </a:spcAft>
              <a:buSzPts val="1500"/>
              <a:buNone/>
              <a:defRPr sz="1900"/>
            </a:lvl8pPr>
            <a:lvl9pPr lvl="8" algn="l" rtl="0">
              <a:lnSpc>
                <a:spcPct val="100000"/>
              </a:lnSpc>
              <a:spcBef>
                <a:spcPts val="0"/>
              </a:spcBef>
              <a:spcAft>
                <a:spcPts val="0"/>
              </a:spcAft>
              <a:buSzPts val="1500"/>
              <a:buNone/>
              <a:defRPr sz="1900"/>
            </a:lvl9pPr>
          </a:lstStyle>
          <a:p>
            <a:endParaRPr/>
          </a:p>
        </p:txBody>
      </p:sp>
      <p:sp>
        <p:nvSpPr>
          <p:cNvPr id="673" name="Google Shape;673;p116"/>
          <p:cNvSpPr txBox="1">
            <a:spLocks noGrp="1"/>
          </p:cNvSpPr>
          <p:nvPr>
            <p:ph type="sldNum" idx="12"/>
          </p:nvPr>
        </p:nvSpPr>
        <p:spPr>
          <a:xfrm>
            <a:off x="8218489" y="6492240"/>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74" name="Google Shape;674;p116"/>
          <p:cNvSpPr txBox="1">
            <a:spLocks noGrp="1"/>
          </p:cNvSpPr>
          <p:nvPr>
            <p:ph type="subTitle" idx="2"/>
          </p:nvPr>
        </p:nvSpPr>
        <p:spPr>
          <a:xfrm>
            <a:off x="442912" y="933433"/>
            <a:ext cx="11306100" cy="8859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10174547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1068"/>
        <p:cNvGrpSpPr/>
        <p:nvPr/>
      </p:nvGrpSpPr>
      <p:grpSpPr>
        <a:xfrm>
          <a:off x="0" y="0"/>
          <a:ext cx="0" cy="0"/>
          <a:chOff x="0" y="0"/>
          <a:chExt cx="0" cy="0"/>
        </a:xfrm>
      </p:grpSpPr>
      <p:sp>
        <p:nvSpPr>
          <p:cNvPr id="1069" name="Google Shape;1069;p163"/>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500"/>
              <a:buNone/>
              <a:defRPr sz="1900"/>
            </a:lvl2pPr>
            <a:lvl3pPr lvl="2" algn="l">
              <a:lnSpc>
                <a:spcPct val="100000"/>
              </a:lnSpc>
              <a:spcBef>
                <a:spcPts val="0"/>
              </a:spcBef>
              <a:spcAft>
                <a:spcPts val="0"/>
              </a:spcAft>
              <a:buSzPts val="1500"/>
              <a:buNone/>
              <a:defRPr sz="1900"/>
            </a:lvl3pPr>
            <a:lvl4pPr lvl="3" algn="l">
              <a:lnSpc>
                <a:spcPct val="100000"/>
              </a:lnSpc>
              <a:spcBef>
                <a:spcPts val="0"/>
              </a:spcBef>
              <a:spcAft>
                <a:spcPts val="0"/>
              </a:spcAft>
              <a:buSzPts val="1500"/>
              <a:buNone/>
              <a:defRPr sz="1900"/>
            </a:lvl4pPr>
            <a:lvl5pPr lvl="4" algn="l">
              <a:lnSpc>
                <a:spcPct val="100000"/>
              </a:lnSpc>
              <a:spcBef>
                <a:spcPts val="0"/>
              </a:spcBef>
              <a:spcAft>
                <a:spcPts val="0"/>
              </a:spcAft>
              <a:buSzPts val="1500"/>
              <a:buNone/>
              <a:defRPr sz="1900"/>
            </a:lvl5pPr>
            <a:lvl6pPr lvl="5" algn="l">
              <a:lnSpc>
                <a:spcPct val="100000"/>
              </a:lnSpc>
              <a:spcBef>
                <a:spcPts val="0"/>
              </a:spcBef>
              <a:spcAft>
                <a:spcPts val="0"/>
              </a:spcAft>
              <a:buSzPts val="1500"/>
              <a:buNone/>
              <a:defRPr sz="1900"/>
            </a:lvl6pPr>
            <a:lvl7pPr lvl="6" algn="l">
              <a:lnSpc>
                <a:spcPct val="100000"/>
              </a:lnSpc>
              <a:spcBef>
                <a:spcPts val="0"/>
              </a:spcBef>
              <a:spcAft>
                <a:spcPts val="0"/>
              </a:spcAft>
              <a:buSzPts val="1500"/>
              <a:buNone/>
              <a:defRPr sz="1900"/>
            </a:lvl7pPr>
            <a:lvl8pPr lvl="7" algn="l">
              <a:lnSpc>
                <a:spcPct val="100000"/>
              </a:lnSpc>
              <a:spcBef>
                <a:spcPts val="0"/>
              </a:spcBef>
              <a:spcAft>
                <a:spcPts val="0"/>
              </a:spcAft>
              <a:buSzPts val="1500"/>
              <a:buNone/>
              <a:defRPr sz="1900"/>
            </a:lvl8pPr>
            <a:lvl9pPr lvl="8" algn="l">
              <a:lnSpc>
                <a:spcPct val="100000"/>
              </a:lnSpc>
              <a:spcBef>
                <a:spcPts val="0"/>
              </a:spcBef>
              <a:spcAft>
                <a:spcPts val="0"/>
              </a:spcAft>
              <a:buSzPts val="1500"/>
              <a:buNone/>
              <a:defRPr sz="1900"/>
            </a:lvl9pPr>
          </a:lstStyle>
          <a:p>
            <a:endParaRPr/>
          </a:p>
        </p:txBody>
      </p:sp>
      <p:sp>
        <p:nvSpPr>
          <p:cNvPr id="1070" name="Google Shape;1070;p163"/>
          <p:cNvSpPr txBox="1">
            <a:spLocks noGrp="1"/>
          </p:cNvSpPr>
          <p:nvPr>
            <p:ph type="body" idx="1"/>
          </p:nvPr>
        </p:nvSpPr>
        <p:spPr>
          <a:xfrm>
            <a:off x="442913" y="2103120"/>
            <a:ext cx="7418400" cy="4073600"/>
          </a:xfrm>
          <a:prstGeom prst="rect">
            <a:avLst/>
          </a:prstGeom>
          <a:noFill/>
          <a:ln>
            <a:noFill/>
          </a:ln>
        </p:spPr>
        <p:txBody>
          <a:bodyPr spcFirstLastPara="1" wrap="square" lIns="0" tIns="0" rIns="0" bIns="0" anchor="t" anchorCtr="0">
            <a:noAutofit/>
          </a:bodyPr>
          <a:lstStyle>
            <a:lvl1pPr marL="609585" marR="0" lvl="0" indent="-440256"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1219170" marR="0" lvl="1"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828754" marR="0" lvl="2"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2438339" marR="0" lvl="3"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3047924" marR="0" lvl="4"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3657509" marR="0" lvl="5"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4267093" marR="0" lvl="6"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4876678" marR="0" lvl="7" indent="-440256" algn="l">
              <a:lnSpc>
                <a:spcPct val="100000"/>
              </a:lnSpc>
              <a:spcBef>
                <a:spcPts val="7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5486263" marR="0" lvl="8" indent="-440256" algn="l">
              <a:lnSpc>
                <a:spcPct val="100000"/>
              </a:lnSpc>
              <a:spcBef>
                <a:spcPts val="700"/>
              </a:spcBef>
              <a:spcAft>
                <a:spcPts val="7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71" name="Google Shape;1071;p163"/>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0237030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57"/>
        <p:cNvGrpSpPr/>
        <p:nvPr/>
      </p:nvGrpSpPr>
      <p:grpSpPr>
        <a:xfrm>
          <a:off x="0" y="0"/>
          <a:ext cx="0" cy="0"/>
          <a:chOff x="0" y="0"/>
          <a:chExt cx="0" cy="0"/>
        </a:xfrm>
      </p:grpSpPr>
      <p:sp>
        <p:nvSpPr>
          <p:cNvPr id="58" name="Google Shape;58;p38"/>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3200"/>
              <a:buFont typeface="Georg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38"/>
          <p:cNvSpPr txBox="1">
            <a:spLocks noGrp="1"/>
          </p:cNvSpPr>
          <p:nvPr>
            <p:ph type="body" idx="1"/>
          </p:nvPr>
        </p:nvSpPr>
        <p:spPr>
          <a:xfrm>
            <a:off x="442913" y="2103438"/>
            <a:ext cx="7418387" cy="40687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0" name="Google Shape;60;p38"/>
          <p:cNvSpPr txBox="1">
            <a:spLocks noGrp="1"/>
          </p:cNvSpPr>
          <p:nvPr>
            <p:ph type="sldNum" idx="12"/>
          </p:nvPr>
        </p:nvSpPr>
        <p:spPr>
          <a:xfrm>
            <a:off x="11327130" y="6400800"/>
            <a:ext cx="421958" cy="137160"/>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1" name="Google Shape;61;p38"/>
          <p:cNvSpPr txBox="1">
            <a:spLocks noGrp="1"/>
          </p:cNvSpPr>
          <p:nvPr>
            <p:ph type="subTitle" idx="2"/>
          </p:nvPr>
        </p:nvSpPr>
        <p:spPr>
          <a:xfrm>
            <a:off x="442912" y="933433"/>
            <a:ext cx="11306176" cy="885842"/>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None/>
              <a:defRPr sz="2400" b="0">
                <a:solidFill>
                  <a:schemeClr val="dk1"/>
                </a:solidFill>
              </a:defRPr>
            </a:lvl1pPr>
            <a:lvl2pPr lvl="1" algn="l">
              <a:lnSpc>
                <a:spcPct val="85000"/>
              </a:lnSpc>
              <a:spcBef>
                <a:spcPts val="0"/>
              </a:spcBef>
              <a:spcAft>
                <a:spcPts val="0"/>
              </a:spcAft>
              <a:buClr>
                <a:schemeClr val="dk1"/>
              </a:buClr>
              <a:buSzPts val="2400"/>
              <a:buNone/>
              <a:defRPr sz="2400"/>
            </a:lvl2pPr>
            <a:lvl3pPr lvl="2" algn="l">
              <a:lnSpc>
                <a:spcPct val="85000"/>
              </a:lnSpc>
              <a:spcBef>
                <a:spcPts val="0"/>
              </a:spcBef>
              <a:spcAft>
                <a:spcPts val="0"/>
              </a:spcAft>
              <a:buClr>
                <a:schemeClr val="dk1"/>
              </a:buClr>
              <a:buSzPts val="2400"/>
              <a:buNone/>
              <a:defRPr sz="2400"/>
            </a:lvl3pPr>
            <a:lvl4pPr lvl="3" algn="l">
              <a:lnSpc>
                <a:spcPct val="85000"/>
              </a:lnSpc>
              <a:spcBef>
                <a:spcPts val="0"/>
              </a:spcBef>
              <a:spcAft>
                <a:spcPts val="0"/>
              </a:spcAft>
              <a:buClr>
                <a:schemeClr val="dk1"/>
              </a:buClr>
              <a:buSzPts val="2400"/>
              <a:buNone/>
              <a:defRPr sz="2400"/>
            </a:lvl4pPr>
            <a:lvl5pPr lvl="4" algn="l">
              <a:lnSpc>
                <a:spcPct val="85000"/>
              </a:lnSpc>
              <a:spcBef>
                <a:spcPts val="0"/>
              </a:spcBef>
              <a:spcAft>
                <a:spcPts val="0"/>
              </a:spcAft>
              <a:buClr>
                <a:schemeClr val="dk1"/>
              </a:buClr>
              <a:buSzPts val="2400"/>
              <a:buNone/>
              <a:defRPr sz="2400"/>
            </a:lvl5pPr>
            <a:lvl6pPr lvl="5" algn="l">
              <a:lnSpc>
                <a:spcPct val="85000"/>
              </a:lnSpc>
              <a:spcBef>
                <a:spcPts val="0"/>
              </a:spcBef>
              <a:spcAft>
                <a:spcPts val="0"/>
              </a:spcAft>
              <a:buClr>
                <a:schemeClr val="dk1"/>
              </a:buClr>
              <a:buSzPts val="2400"/>
              <a:buNone/>
              <a:defRPr sz="2400"/>
            </a:lvl6pPr>
            <a:lvl7pPr lvl="6" algn="l">
              <a:lnSpc>
                <a:spcPct val="85000"/>
              </a:lnSpc>
              <a:spcBef>
                <a:spcPts val="0"/>
              </a:spcBef>
              <a:spcAft>
                <a:spcPts val="0"/>
              </a:spcAft>
              <a:buClr>
                <a:schemeClr val="dk1"/>
              </a:buClr>
              <a:buSzPts val="2400"/>
              <a:buNone/>
              <a:defRPr sz="2400"/>
            </a:lvl7pPr>
            <a:lvl8pPr lvl="7" algn="l">
              <a:lnSpc>
                <a:spcPct val="85000"/>
              </a:lnSpc>
              <a:spcBef>
                <a:spcPts val="0"/>
              </a:spcBef>
              <a:spcAft>
                <a:spcPts val="0"/>
              </a:spcAft>
              <a:buClr>
                <a:schemeClr val="dk1"/>
              </a:buClr>
              <a:buSzPts val="2400"/>
              <a:buNone/>
              <a:defRPr sz="2400"/>
            </a:lvl8pPr>
            <a:lvl9pPr lvl="8" algn="l">
              <a:lnSpc>
                <a:spcPct val="85000"/>
              </a:lnSpc>
              <a:spcBef>
                <a:spcPts val="0"/>
              </a:spcBef>
              <a:spcAft>
                <a:spcPts val="0"/>
              </a:spcAft>
              <a:buClr>
                <a:schemeClr val="dk1"/>
              </a:buClr>
              <a:buSzPts val="2400"/>
              <a:buNone/>
              <a:defRPr sz="2400"/>
            </a:lvl9pPr>
          </a:lstStyle>
          <a:p>
            <a:endParaRPr/>
          </a:p>
        </p:txBody>
      </p:sp>
      <p:sp>
        <p:nvSpPr>
          <p:cNvPr id="62" name="Google Shape;62;p38"/>
          <p:cNvSpPr txBox="1"/>
          <p:nvPr/>
        </p:nvSpPr>
        <p:spPr>
          <a:xfrm>
            <a:off x="442913" y="6411672"/>
            <a:ext cx="2317942" cy="115416"/>
          </a:xfrm>
          <a:prstGeom prst="rect">
            <a:avLst/>
          </a:prstGeom>
          <a:solidFill>
            <a:schemeClr val="accent6"/>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750"/>
              <a:buFont typeface="Arial"/>
              <a:buNone/>
            </a:pPr>
            <a:r>
              <a:rPr lang="en-US" sz="750">
                <a:solidFill>
                  <a:schemeClr val="lt1"/>
                </a:solidFill>
                <a:latin typeface="Arial"/>
                <a:ea typeface="Arial"/>
                <a:cs typeface="Arial"/>
                <a:sym typeface="Arial"/>
              </a:rPr>
              <a:t>Contract management for Albert Česká republika s.r.o.</a:t>
            </a:r>
            <a:endParaRPr sz="750">
              <a:solidFill>
                <a:schemeClr val="lt1"/>
              </a:solidFill>
              <a:latin typeface="Arial"/>
              <a:ea typeface="Arial"/>
              <a:cs typeface="Arial"/>
              <a:sym typeface="Arial"/>
            </a:endParaRPr>
          </a:p>
        </p:txBody>
      </p:sp>
    </p:spTree>
    <p:extLst>
      <p:ext uri="{BB962C8B-B14F-4D97-AF65-F5344CB8AC3E}">
        <p14:creationId xmlns:p14="http://schemas.microsoft.com/office/powerpoint/2010/main" val="46588877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dirty="0"/>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1362731306"/>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dirty="0"/>
              <a:t>Click icon to add cover image</a:t>
            </a:r>
          </a:p>
          <a:p>
            <a:endParaRPr lang="en-US" dirty="0"/>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dirty="0"/>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89701821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46087904"/>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1530036886"/>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582730775"/>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3346688430"/>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99255235"/>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15008883"/>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4645730"/>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61651545"/>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00209032"/>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3789431"/>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49241990"/>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09560331"/>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9461201"/>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188181" y="781004"/>
            <a:ext cx="5670320" cy="3219495"/>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164745671"/>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022340" y="781329"/>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491579" y="781329"/>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31050783"/>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171949" y="890680"/>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598978" y="890680"/>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549291237"/>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7">
            <a:extLst>
              <a:ext uri="{FF2B5EF4-FFF2-40B4-BE49-F238E27FC236}">
                <a16:creationId xmlns:a16="http://schemas.microsoft.com/office/drawing/2014/main" id="{09A13E53-F775-A736-E17E-0D3BA9C73AFD}"/>
              </a:ext>
            </a:extLst>
          </p:cNvPr>
          <p:cNvSpPr>
            <a:spLocks noGrp="1"/>
          </p:cNvSpPr>
          <p:nvPr>
            <p:ph sz="quarter" idx="10"/>
          </p:nvPr>
        </p:nvSpPr>
        <p:spPr>
          <a:xfrm>
            <a:off x="368300" y="1924050"/>
            <a:ext cx="663892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itle 9">
            <a:extLst>
              <a:ext uri="{FF2B5EF4-FFF2-40B4-BE49-F238E27FC236}">
                <a16:creationId xmlns:a16="http://schemas.microsoft.com/office/drawing/2014/main" id="{8379B048-01BA-296A-05B7-D40EDFD37263}"/>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063466940"/>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370063"/>
            <a:ext cx="11453638"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369364" y="885381"/>
            <a:ext cx="11454336" cy="521144"/>
          </a:xfrm>
        </p:spPr>
        <p:txBody>
          <a:bodyPr/>
          <a:lstStyle>
            <a:lvl1pPr>
              <a:defRPr sz="1800"/>
            </a:lvl1pPr>
          </a:lstStyle>
          <a:p>
            <a:pPr lvl="0"/>
            <a:r>
              <a:rPr lang="en-US"/>
              <a:t>Click to edit Master text styles</a:t>
            </a:r>
          </a:p>
        </p:txBody>
      </p:sp>
      <p:sp>
        <p:nvSpPr>
          <p:cNvPr id="7" name="Content Placeholder 6">
            <a:extLst>
              <a:ext uri="{FF2B5EF4-FFF2-40B4-BE49-F238E27FC236}">
                <a16:creationId xmlns:a16="http://schemas.microsoft.com/office/drawing/2014/main" id="{090265C7-5AAC-0489-DEB2-CECC63DAC288}"/>
              </a:ext>
            </a:extLst>
          </p:cNvPr>
          <p:cNvSpPr>
            <a:spLocks noGrp="1"/>
          </p:cNvSpPr>
          <p:nvPr>
            <p:ph sz="quarter"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792157969"/>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A5CBFC34-8CB2-CC41-3972-5FC87B9BDCE6}"/>
              </a:ext>
            </a:extLst>
          </p:cNvPr>
          <p:cNvSpPr>
            <a:spLocks noGrp="1"/>
          </p:cNvSpPr>
          <p:nvPr>
            <p:ph sz="quarter" idx="10"/>
          </p:nvPr>
        </p:nvSpPr>
        <p:spPr>
          <a:xfrm>
            <a:off x="369888" y="1924050"/>
            <a:ext cx="5285403"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6">
            <a:extLst>
              <a:ext uri="{FF2B5EF4-FFF2-40B4-BE49-F238E27FC236}">
                <a16:creationId xmlns:a16="http://schemas.microsoft.com/office/drawing/2014/main" id="{9F37A09F-4048-050A-FDB3-83EC9C37253B}"/>
              </a:ext>
            </a:extLst>
          </p:cNvPr>
          <p:cNvSpPr>
            <a:spLocks noGrp="1"/>
          </p:cNvSpPr>
          <p:nvPr>
            <p:ph sz="quarter" idx="11"/>
          </p:nvPr>
        </p:nvSpPr>
        <p:spPr>
          <a:xfrm>
            <a:off x="6149975" y="1924050"/>
            <a:ext cx="5285403"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itle 7">
            <a:extLst>
              <a:ext uri="{FF2B5EF4-FFF2-40B4-BE49-F238E27FC236}">
                <a16:creationId xmlns:a16="http://schemas.microsoft.com/office/drawing/2014/main" id="{E24C1953-6774-4962-D21C-79F931E8AFE2}"/>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525519700"/>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70062"/>
            <a:ext cx="11453638" cy="404638"/>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81241698-5CD8-C604-8076-E2C7174471A8}"/>
              </a:ext>
            </a:extLst>
          </p:cNvPr>
          <p:cNvSpPr>
            <a:spLocks noGrp="1"/>
          </p:cNvSpPr>
          <p:nvPr>
            <p:ph type="body" sz="quarter" idx="11"/>
          </p:nvPr>
        </p:nvSpPr>
        <p:spPr>
          <a:xfrm>
            <a:off x="369364" y="886968"/>
            <a:ext cx="11454336" cy="519557"/>
          </a:xfrm>
        </p:spPr>
        <p:txBody>
          <a:bodyPr/>
          <a:lstStyle>
            <a:lvl1pPr>
              <a:defRPr sz="1800"/>
            </a:lvl1pPr>
          </a:lstStyle>
          <a:p>
            <a:pPr lvl="0"/>
            <a:r>
              <a:rPr lang="en-US"/>
              <a:t>Click to edit Master text styles</a:t>
            </a:r>
          </a:p>
        </p:txBody>
      </p:sp>
      <p:sp>
        <p:nvSpPr>
          <p:cNvPr id="6" name="Content Placeholder 5">
            <a:extLst>
              <a:ext uri="{FF2B5EF4-FFF2-40B4-BE49-F238E27FC236}">
                <a16:creationId xmlns:a16="http://schemas.microsoft.com/office/drawing/2014/main" id="{09364D4B-08FC-0F72-14EE-FFE49CBE3E87}"/>
              </a:ext>
            </a:extLst>
          </p:cNvPr>
          <p:cNvSpPr>
            <a:spLocks noGrp="1"/>
          </p:cNvSpPr>
          <p:nvPr>
            <p:ph sz="quarter" idx="12"/>
          </p:nvPr>
        </p:nvSpPr>
        <p:spPr>
          <a:xfrm>
            <a:off x="368301" y="1924050"/>
            <a:ext cx="5284844"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37630663-0430-1D7C-EBF0-D28C79961CF8}"/>
              </a:ext>
            </a:extLst>
          </p:cNvPr>
          <p:cNvSpPr>
            <a:spLocks noGrp="1"/>
          </p:cNvSpPr>
          <p:nvPr>
            <p:ph sz="quarter" idx="13"/>
          </p:nvPr>
        </p:nvSpPr>
        <p:spPr>
          <a:xfrm>
            <a:off x="6149975" y="1924050"/>
            <a:ext cx="528484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421409790"/>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6065" y="370158"/>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12975468"/>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1" y="370061"/>
            <a:ext cx="3855863" cy="5602113"/>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0686" y="370158"/>
            <a:ext cx="3649948" cy="2486022"/>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43016"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190686" y="2960903"/>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43016"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16643030"/>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370557" y="1409922"/>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59847" y="1399935"/>
            <a:ext cx="2514283" cy="1938812"/>
          </a:xfrm>
        </p:spPr>
        <p:txBody>
          <a:bodyPr/>
          <a:lstStyle>
            <a:lvl1pPr>
              <a:lnSpc>
                <a:spcPct val="100000"/>
              </a:lnSpc>
              <a:spcAft>
                <a:spcPts val="1200"/>
              </a:spcAft>
              <a:defRPr sz="1500" b="1">
                <a:latin typeface="+mn-lt"/>
              </a:defRPr>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370557" y="3492323"/>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5984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49536" y="1409922"/>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43017" y="1399935"/>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49536" y="3492323"/>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4301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E62847D5-ADA8-3259-2549-281D1A6D5522}"/>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331035531"/>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A03E9A5D-D94B-2C14-C57F-8CEEA73EB975}"/>
              </a:ext>
            </a:extLst>
          </p:cNvPr>
          <p:cNvSpPr>
            <a:spLocks noGrp="1"/>
          </p:cNvSpPr>
          <p:nvPr>
            <p:ph sz="quarter" idx="10"/>
          </p:nvPr>
        </p:nvSpPr>
        <p:spPr>
          <a:xfrm>
            <a:off x="368300" y="1924050"/>
            <a:ext cx="3235512"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4">
            <a:extLst>
              <a:ext uri="{FF2B5EF4-FFF2-40B4-BE49-F238E27FC236}">
                <a16:creationId xmlns:a16="http://schemas.microsoft.com/office/drawing/2014/main" id="{489906B8-D3A9-4BCE-6015-ACFE378C7211}"/>
              </a:ext>
            </a:extLst>
          </p:cNvPr>
          <p:cNvSpPr>
            <a:spLocks noGrp="1"/>
          </p:cNvSpPr>
          <p:nvPr>
            <p:ph sz="quarter" idx="11"/>
          </p:nvPr>
        </p:nvSpPr>
        <p:spPr>
          <a:xfrm>
            <a:off x="4235674" y="1924050"/>
            <a:ext cx="3235512"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4">
            <a:extLst>
              <a:ext uri="{FF2B5EF4-FFF2-40B4-BE49-F238E27FC236}">
                <a16:creationId xmlns:a16="http://schemas.microsoft.com/office/drawing/2014/main" id="{FE0E6B83-F5A0-569B-4BAB-B7F61D7D0853}"/>
              </a:ext>
            </a:extLst>
          </p:cNvPr>
          <p:cNvSpPr>
            <a:spLocks noGrp="1"/>
          </p:cNvSpPr>
          <p:nvPr>
            <p:ph sz="quarter" idx="12"/>
          </p:nvPr>
        </p:nvSpPr>
        <p:spPr>
          <a:xfrm>
            <a:off x="8074025" y="1924049"/>
            <a:ext cx="3235512"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itle 10">
            <a:extLst>
              <a:ext uri="{FF2B5EF4-FFF2-40B4-BE49-F238E27FC236}">
                <a16:creationId xmlns:a16="http://schemas.microsoft.com/office/drawing/2014/main" id="{46DFEB0B-173F-2B4F-16A8-263FCC6CEC2F}"/>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355711086"/>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1C2027B2-3AF9-ACB0-EFBF-E307D2CA34FA}"/>
              </a:ext>
            </a:extLst>
          </p:cNvPr>
          <p:cNvSpPr>
            <a:spLocks noGrp="1"/>
          </p:cNvSpPr>
          <p:nvPr>
            <p:ph type="body" sz="quarter" idx="12"/>
          </p:nvPr>
        </p:nvSpPr>
        <p:spPr>
          <a:xfrm>
            <a:off x="367776" y="886968"/>
            <a:ext cx="11455924" cy="519557"/>
          </a:xfrm>
        </p:spPr>
        <p:txBody>
          <a:bodyPr/>
          <a:lstStyle>
            <a:lvl1pPr>
              <a:defRPr sz="1800"/>
            </a:lvl1pPr>
          </a:lstStyle>
          <a:p>
            <a:pPr lvl="0"/>
            <a:r>
              <a:rPr lang="en-US"/>
              <a:t>Click to edit Master text styles</a:t>
            </a:r>
          </a:p>
        </p:txBody>
      </p:sp>
      <p:sp>
        <p:nvSpPr>
          <p:cNvPr id="4" name="Content Placeholder 4">
            <a:extLst>
              <a:ext uri="{FF2B5EF4-FFF2-40B4-BE49-F238E27FC236}">
                <a16:creationId xmlns:a16="http://schemas.microsoft.com/office/drawing/2014/main" id="{B015D90A-43B1-2686-2FB5-24977CABC779}"/>
              </a:ext>
            </a:extLst>
          </p:cNvPr>
          <p:cNvSpPr>
            <a:spLocks noGrp="1"/>
          </p:cNvSpPr>
          <p:nvPr>
            <p:ph sz="quarter" idx="10"/>
          </p:nvPr>
        </p:nvSpPr>
        <p:spPr>
          <a:xfrm>
            <a:off x="368300" y="1924050"/>
            <a:ext cx="3235512"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4">
            <a:extLst>
              <a:ext uri="{FF2B5EF4-FFF2-40B4-BE49-F238E27FC236}">
                <a16:creationId xmlns:a16="http://schemas.microsoft.com/office/drawing/2014/main" id="{305BD07F-9015-08E7-A1B9-CEE3998C38ED}"/>
              </a:ext>
            </a:extLst>
          </p:cNvPr>
          <p:cNvSpPr>
            <a:spLocks noGrp="1"/>
          </p:cNvSpPr>
          <p:nvPr>
            <p:ph sz="quarter" idx="11"/>
          </p:nvPr>
        </p:nvSpPr>
        <p:spPr>
          <a:xfrm>
            <a:off x="4235674" y="1924050"/>
            <a:ext cx="3235512"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4">
            <a:extLst>
              <a:ext uri="{FF2B5EF4-FFF2-40B4-BE49-F238E27FC236}">
                <a16:creationId xmlns:a16="http://schemas.microsoft.com/office/drawing/2014/main" id="{96E79EC7-3C5A-2B86-5F55-4E1518901C12}"/>
              </a:ext>
            </a:extLst>
          </p:cNvPr>
          <p:cNvSpPr>
            <a:spLocks noGrp="1"/>
          </p:cNvSpPr>
          <p:nvPr>
            <p:ph sz="quarter" idx="13"/>
          </p:nvPr>
        </p:nvSpPr>
        <p:spPr>
          <a:xfrm>
            <a:off x="8074025" y="1924049"/>
            <a:ext cx="3235512"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26856217"/>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E9C1A15D-9D72-ADF5-F762-A0FCDB4299C1}"/>
              </a:ext>
            </a:extLst>
          </p:cNvPr>
          <p:cNvSpPr>
            <a:spLocks noGrp="1"/>
          </p:cNvSpPr>
          <p:nvPr>
            <p:ph sz="quarter" idx="10"/>
          </p:nvPr>
        </p:nvSpPr>
        <p:spPr>
          <a:xfrm>
            <a:off x="368300" y="1924050"/>
            <a:ext cx="3235512" cy="4048125"/>
          </a:xfrm>
        </p:spPr>
        <p:txBody>
          <a:bodyPr/>
          <a:lstStyle>
            <a:lvl1pPr>
              <a:defRPr sz="18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Content Placeholder 4">
            <a:extLst>
              <a:ext uri="{FF2B5EF4-FFF2-40B4-BE49-F238E27FC236}">
                <a16:creationId xmlns:a16="http://schemas.microsoft.com/office/drawing/2014/main" id="{F894016E-E9A2-621D-7E7E-4C60EA7D1446}"/>
              </a:ext>
            </a:extLst>
          </p:cNvPr>
          <p:cNvSpPr>
            <a:spLocks noGrp="1"/>
          </p:cNvSpPr>
          <p:nvPr>
            <p:ph sz="quarter" idx="11"/>
          </p:nvPr>
        </p:nvSpPr>
        <p:spPr>
          <a:xfrm>
            <a:off x="4235674" y="1924050"/>
            <a:ext cx="3235512" cy="4048125"/>
          </a:xfrm>
        </p:spPr>
        <p:txBody>
          <a:bodyPr/>
          <a:lstStyle>
            <a:lvl1pPr>
              <a:defRPr sz="18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4">
            <a:extLst>
              <a:ext uri="{FF2B5EF4-FFF2-40B4-BE49-F238E27FC236}">
                <a16:creationId xmlns:a16="http://schemas.microsoft.com/office/drawing/2014/main" id="{6B0989A2-BAE8-DBCB-9B68-2A6A9EEEC5CC}"/>
              </a:ext>
            </a:extLst>
          </p:cNvPr>
          <p:cNvSpPr>
            <a:spLocks noGrp="1"/>
          </p:cNvSpPr>
          <p:nvPr>
            <p:ph sz="quarter" idx="12"/>
          </p:nvPr>
        </p:nvSpPr>
        <p:spPr>
          <a:xfrm>
            <a:off x="8074025" y="1924049"/>
            <a:ext cx="3235512" cy="4048125"/>
          </a:xfrm>
        </p:spPr>
        <p:txBody>
          <a:bodyPr/>
          <a:lstStyle>
            <a:lvl1pPr>
              <a:defRPr sz="18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itle 8">
            <a:extLst>
              <a:ext uri="{FF2B5EF4-FFF2-40B4-BE49-F238E27FC236}">
                <a16:creationId xmlns:a16="http://schemas.microsoft.com/office/drawing/2014/main" id="{6B661239-E68D-0808-F96A-FE85956F113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364033962"/>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370062" y="1407233"/>
            <a:ext cx="5229293" cy="4564941"/>
          </a:xfrm>
        </p:spPr>
        <p:txBody>
          <a:bodyPr/>
          <a:lstStyle/>
          <a:p>
            <a:r>
              <a:rPr lang="en-US"/>
              <a:t>Click icon to add chart</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943EE09F-88BE-B892-E588-CE1A64CF45AD}"/>
              </a:ext>
            </a:extLst>
          </p:cNvPr>
          <p:cNvSpPr>
            <a:spLocks noGrp="1"/>
          </p:cNvSpPr>
          <p:nvPr>
            <p:ph sz="quarter" idx="13"/>
          </p:nvPr>
        </p:nvSpPr>
        <p:spPr>
          <a:xfrm>
            <a:off x="6149975" y="2441575"/>
            <a:ext cx="2781300" cy="35306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3">
            <a:extLst>
              <a:ext uri="{FF2B5EF4-FFF2-40B4-BE49-F238E27FC236}">
                <a16:creationId xmlns:a16="http://schemas.microsoft.com/office/drawing/2014/main" id="{89862BAD-5A88-900F-A59B-68B96AB41490}"/>
              </a:ext>
            </a:extLst>
          </p:cNvPr>
          <p:cNvSpPr>
            <a:spLocks noGrp="1"/>
          </p:cNvSpPr>
          <p:nvPr>
            <p:ph sz="quarter" idx="14"/>
          </p:nvPr>
        </p:nvSpPr>
        <p:spPr>
          <a:xfrm>
            <a:off x="9042400" y="2441575"/>
            <a:ext cx="2781300" cy="35306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itle 7">
            <a:extLst>
              <a:ext uri="{FF2B5EF4-FFF2-40B4-BE49-F238E27FC236}">
                <a16:creationId xmlns:a16="http://schemas.microsoft.com/office/drawing/2014/main" id="{0DA847B6-5ED7-CD22-AC77-BE2F874194B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593111293"/>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64683" y="1933273"/>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97546331-F0CB-B769-2ED0-10C215328D57}"/>
              </a:ext>
            </a:extLst>
          </p:cNvPr>
          <p:cNvSpPr>
            <a:spLocks noGrp="1"/>
          </p:cNvSpPr>
          <p:nvPr>
            <p:ph sz="quarter" idx="16"/>
          </p:nvPr>
        </p:nvSpPr>
        <p:spPr>
          <a:xfrm>
            <a:off x="365125" y="3603812"/>
            <a:ext cx="3335338" cy="2476313"/>
          </a:xfrm>
        </p:spPr>
        <p:txBody>
          <a:bodyPr/>
          <a:lstStyle>
            <a:lvl1pPr>
              <a:defRPr sz="18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8">
            <a:extLst>
              <a:ext uri="{FF2B5EF4-FFF2-40B4-BE49-F238E27FC236}">
                <a16:creationId xmlns:a16="http://schemas.microsoft.com/office/drawing/2014/main" id="{7809C51E-8610-C513-8EEC-D5CB091B65E2}"/>
              </a:ext>
            </a:extLst>
          </p:cNvPr>
          <p:cNvSpPr>
            <a:spLocks noGrp="1"/>
          </p:cNvSpPr>
          <p:nvPr>
            <p:ph sz="quarter" idx="17"/>
          </p:nvPr>
        </p:nvSpPr>
        <p:spPr>
          <a:xfrm>
            <a:off x="4225925" y="1933575"/>
            <a:ext cx="3280410" cy="4146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8">
            <a:extLst>
              <a:ext uri="{FF2B5EF4-FFF2-40B4-BE49-F238E27FC236}">
                <a16:creationId xmlns:a16="http://schemas.microsoft.com/office/drawing/2014/main" id="{DFE232A4-E7EE-98E3-AD8F-428E48A336B7}"/>
              </a:ext>
            </a:extLst>
          </p:cNvPr>
          <p:cNvSpPr>
            <a:spLocks noGrp="1"/>
          </p:cNvSpPr>
          <p:nvPr>
            <p:ph sz="quarter" idx="18"/>
          </p:nvPr>
        </p:nvSpPr>
        <p:spPr>
          <a:xfrm>
            <a:off x="8087167" y="1933575"/>
            <a:ext cx="3280410" cy="4146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itle 10">
            <a:extLst>
              <a:ext uri="{FF2B5EF4-FFF2-40B4-BE49-F238E27FC236}">
                <a16:creationId xmlns:a16="http://schemas.microsoft.com/office/drawing/2014/main" id="{A39229A9-9F4B-8863-1C67-62C2859D9BEE}"/>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59892623"/>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70062" y="1927894"/>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2B415381-8D1E-8A6F-693B-DB90EB881D1C}"/>
              </a:ext>
            </a:extLst>
          </p:cNvPr>
          <p:cNvSpPr>
            <a:spLocks noGrp="1"/>
          </p:cNvSpPr>
          <p:nvPr>
            <p:ph sz="quarter" idx="19"/>
          </p:nvPr>
        </p:nvSpPr>
        <p:spPr>
          <a:xfrm>
            <a:off x="365125" y="3603812"/>
            <a:ext cx="3335338" cy="2476313"/>
          </a:xfrm>
        </p:spPr>
        <p:txBody>
          <a:bodyPr/>
          <a:lstStyle>
            <a:lvl1pPr>
              <a:defRPr sz="18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8E8D28FD-FF5F-398A-38AD-0E9B9DE0EC1B}"/>
              </a:ext>
            </a:extLst>
          </p:cNvPr>
          <p:cNvSpPr>
            <a:spLocks noGrp="1"/>
          </p:cNvSpPr>
          <p:nvPr>
            <p:ph sz="quarter" idx="20"/>
          </p:nvPr>
        </p:nvSpPr>
        <p:spPr>
          <a:xfrm>
            <a:off x="4225925" y="1924050"/>
            <a:ext cx="3740150" cy="19653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E2C8463D-8B6E-9FF2-1B5C-72452E9273E2}"/>
              </a:ext>
            </a:extLst>
          </p:cNvPr>
          <p:cNvSpPr>
            <a:spLocks noGrp="1"/>
          </p:cNvSpPr>
          <p:nvPr>
            <p:ph sz="quarter" idx="21"/>
          </p:nvPr>
        </p:nvSpPr>
        <p:spPr>
          <a:xfrm>
            <a:off x="4225925" y="4006850"/>
            <a:ext cx="3740150" cy="19653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39DE996C-A166-458A-310E-FEBC9C52A706}"/>
              </a:ext>
            </a:extLst>
          </p:cNvPr>
          <p:cNvSpPr>
            <a:spLocks noGrp="1"/>
          </p:cNvSpPr>
          <p:nvPr>
            <p:ph sz="quarter" idx="22"/>
          </p:nvPr>
        </p:nvSpPr>
        <p:spPr>
          <a:xfrm>
            <a:off x="8087920" y="1924050"/>
            <a:ext cx="3740150" cy="19653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134591D3-6AC4-CADD-BA45-13112332007E}"/>
              </a:ext>
            </a:extLst>
          </p:cNvPr>
          <p:cNvSpPr>
            <a:spLocks noGrp="1"/>
          </p:cNvSpPr>
          <p:nvPr>
            <p:ph sz="quarter" idx="23"/>
          </p:nvPr>
        </p:nvSpPr>
        <p:spPr>
          <a:xfrm>
            <a:off x="8087920" y="4006850"/>
            <a:ext cx="3740150" cy="19653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Title 15">
            <a:extLst>
              <a:ext uri="{FF2B5EF4-FFF2-40B4-BE49-F238E27FC236}">
                <a16:creationId xmlns:a16="http://schemas.microsoft.com/office/drawing/2014/main" id="{33601CD4-0BCA-521B-0F56-3E84B8C91F79}"/>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538620263"/>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7"/>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C3E8CA74-2A20-C79E-AB93-415F841BF9A5}"/>
              </a:ext>
            </a:extLst>
          </p:cNvPr>
          <p:cNvSpPr>
            <a:spLocks noGrp="1"/>
          </p:cNvSpPr>
          <p:nvPr>
            <p:ph sz="quarter" idx="14"/>
          </p:nvPr>
        </p:nvSpPr>
        <p:spPr>
          <a:xfrm>
            <a:off x="368300" y="1924049"/>
            <a:ext cx="3548063" cy="4048125"/>
          </a:xfrm>
        </p:spPr>
        <p:txBody>
          <a:bodyPr/>
          <a:lstStyle>
            <a:lvl1pPr>
              <a:defRPr sz="18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F4A2F6DA-84DB-C19E-4C0E-907410D65A2C}"/>
              </a:ext>
            </a:extLst>
          </p:cNvPr>
          <p:cNvSpPr>
            <a:spLocks noGrp="1"/>
          </p:cNvSpPr>
          <p:nvPr>
            <p:ph sz="quarter" idx="15"/>
          </p:nvPr>
        </p:nvSpPr>
        <p:spPr>
          <a:xfrm>
            <a:off x="4225925" y="1924049"/>
            <a:ext cx="3621405" cy="1663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10">
            <a:extLst>
              <a:ext uri="{FF2B5EF4-FFF2-40B4-BE49-F238E27FC236}">
                <a16:creationId xmlns:a16="http://schemas.microsoft.com/office/drawing/2014/main" id="{91E96ECE-0D5F-0C73-B9DA-305E820717B8}"/>
              </a:ext>
            </a:extLst>
          </p:cNvPr>
          <p:cNvSpPr>
            <a:spLocks noGrp="1"/>
          </p:cNvSpPr>
          <p:nvPr>
            <p:ph sz="quarter" idx="16"/>
          </p:nvPr>
        </p:nvSpPr>
        <p:spPr>
          <a:xfrm>
            <a:off x="8084820" y="1924049"/>
            <a:ext cx="3621405" cy="166362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2">
            <a:extLst>
              <a:ext uri="{FF2B5EF4-FFF2-40B4-BE49-F238E27FC236}">
                <a16:creationId xmlns:a16="http://schemas.microsoft.com/office/drawing/2014/main" id="{3FB0C79D-C35F-8072-C668-9D9D7A937399}"/>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224162951"/>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373155" y="1407888"/>
            <a:ext cx="3621405" cy="2449830"/>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31060" y="1407888"/>
            <a:ext cx="3621405" cy="2449830"/>
          </a:xfrm>
          <a:solidFill>
            <a:schemeClr val="bg2"/>
          </a:solidFill>
        </p:spPr>
        <p:txBody>
          <a:bodyPr tIns="731520"/>
          <a:lstStyle>
            <a:lvl1pPr algn="ctr">
              <a:defRPr/>
            </a:lvl1pPr>
          </a:lstStyle>
          <a:p>
            <a:r>
              <a:rPr lang="en-US"/>
              <a:t>Click icon to add picture</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79441" y="1407888"/>
            <a:ext cx="3621405" cy="2449830"/>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90658801-9D03-6822-31B7-920A8C4C5D87}"/>
              </a:ext>
            </a:extLst>
          </p:cNvPr>
          <p:cNvSpPr>
            <a:spLocks noGrp="1"/>
          </p:cNvSpPr>
          <p:nvPr>
            <p:ph sz="quarter" idx="15"/>
          </p:nvPr>
        </p:nvSpPr>
        <p:spPr>
          <a:xfrm>
            <a:off x="368300" y="4000500"/>
            <a:ext cx="3621405"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4">
            <a:extLst>
              <a:ext uri="{FF2B5EF4-FFF2-40B4-BE49-F238E27FC236}">
                <a16:creationId xmlns:a16="http://schemas.microsoft.com/office/drawing/2014/main" id="{E8465518-586C-3585-5D66-F8C5F784114F}"/>
              </a:ext>
            </a:extLst>
          </p:cNvPr>
          <p:cNvSpPr>
            <a:spLocks noGrp="1"/>
          </p:cNvSpPr>
          <p:nvPr>
            <p:ph sz="quarter" idx="16"/>
          </p:nvPr>
        </p:nvSpPr>
        <p:spPr>
          <a:xfrm>
            <a:off x="4231059" y="4000500"/>
            <a:ext cx="3621405"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4">
            <a:extLst>
              <a:ext uri="{FF2B5EF4-FFF2-40B4-BE49-F238E27FC236}">
                <a16:creationId xmlns:a16="http://schemas.microsoft.com/office/drawing/2014/main" id="{32A0F579-2C59-6C73-6CB2-7D28A65E2EE6}"/>
              </a:ext>
            </a:extLst>
          </p:cNvPr>
          <p:cNvSpPr>
            <a:spLocks noGrp="1"/>
          </p:cNvSpPr>
          <p:nvPr>
            <p:ph sz="quarter" idx="17"/>
          </p:nvPr>
        </p:nvSpPr>
        <p:spPr>
          <a:xfrm>
            <a:off x="8082597" y="4000500"/>
            <a:ext cx="3621405"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itle 12">
            <a:extLst>
              <a:ext uri="{FF2B5EF4-FFF2-40B4-BE49-F238E27FC236}">
                <a16:creationId xmlns:a16="http://schemas.microsoft.com/office/drawing/2014/main" id="{6C860A8A-DDDD-D41D-7D92-718D7B4F0FA5}"/>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240757912"/>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70062" y="4002723"/>
            <a:ext cx="3389473" cy="1969452"/>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72399"/>
            <a:ext cx="3621405" cy="3474561"/>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72399"/>
            <a:ext cx="3621405" cy="3474561"/>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14B2DDC5-30CC-4253-DAE0-02B6367366D1}"/>
              </a:ext>
            </a:extLst>
          </p:cNvPr>
          <p:cNvSpPr>
            <a:spLocks noGrp="1"/>
          </p:cNvSpPr>
          <p:nvPr>
            <p:ph sz="quarter" idx="14"/>
          </p:nvPr>
        </p:nvSpPr>
        <p:spPr>
          <a:xfrm>
            <a:off x="4241800" y="4002088"/>
            <a:ext cx="3621405" cy="20780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3">
            <a:extLst>
              <a:ext uri="{FF2B5EF4-FFF2-40B4-BE49-F238E27FC236}">
                <a16:creationId xmlns:a16="http://schemas.microsoft.com/office/drawing/2014/main" id="{BC4F89F3-153E-1F6B-8CFE-E1D4D6874917}"/>
              </a:ext>
            </a:extLst>
          </p:cNvPr>
          <p:cNvSpPr>
            <a:spLocks noGrp="1"/>
          </p:cNvSpPr>
          <p:nvPr>
            <p:ph sz="quarter" idx="15"/>
          </p:nvPr>
        </p:nvSpPr>
        <p:spPr>
          <a:xfrm>
            <a:off x="8084820" y="4002088"/>
            <a:ext cx="3621405" cy="20780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5637202"/>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AB18F79E-2EEB-FEB6-9FD2-CF00E69E399F}"/>
              </a:ext>
            </a:extLst>
          </p:cNvPr>
          <p:cNvSpPr>
            <a:spLocks noGrp="1"/>
          </p:cNvSpPr>
          <p:nvPr>
            <p:ph sz="quarter" idx="10"/>
          </p:nvPr>
        </p:nvSpPr>
        <p:spPr>
          <a:xfrm>
            <a:off x="368300"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B50CDAE4-0C34-CA3B-8150-C653F963250D}"/>
              </a:ext>
            </a:extLst>
          </p:cNvPr>
          <p:cNvSpPr>
            <a:spLocks noGrp="1"/>
          </p:cNvSpPr>
          <p:nvPr>
            <p:ph sz="quarter" idx="11"/>
          </p:nvPr>
        </p:nvSpPr>
        <p:spPr>
          <a:xfrm>
            <a:off x="3257550"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6">
            <a:extLst>
              <a:ext uri="{FF2B5EF4-FFF2-40B4-BE49-F238E27FC236}">
                <a16:creationId xmlns:a16="http://schemas.microsoft.com/office/drawing/2014/main" id="{32934F70-692D-5369-94C8-0030A3CD43FB}"/>
              </a:ext>
            </a:extLst>
          </p:cNvPr>
          <p:cNvSpPr>
            <a:spLocks noGrp="1"/>
          </p:cNvSpPr>
          <p:nvPr>
            <p:ph sz="quarter" idx="12"/>
          </p:nvPr>
        </p:nvSpPr>
        <p:spPr>
          <a:xfrm>
            <a:off x="6149975"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6">
            <a:extLst>
              <a:ext uri="{FF2B5EF4-FFF2-40B4-BE49-F238E27FC236}">
                <a16:creationId xmlns:a16="http://schemas.microsoft.com/office/drawing/2014/main" id="{75F0D866-D99D-B922-92B9-43D8C80FC33D}"/>
              </a:ext>
            </a:extLst>
          </p:cNvPr>
          <p:cNvSpPr>
            <a:spLocks noGrp="1"/>
          </p:cNvSpPr>
          <p:nvPr>
            <p:ph sz="quarter" idx="13"/>
          </p:nvPr>
        </p:nvSpPr>
        <p:spPr>
          <a:xfrm>
            <a:off x="9042400"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Title 13">
            <a:extLst>
              <a:ext uri="{FF2B5EF4-FFF2-40B4-BE49-F238E27FC236}">
                <a16:creationId xmlns:a16="http://schemas.microsoft.com/office/drawing/2014/main" id="{28C2AC20-FA64-9BFB-4B6C-CC4DC765CF15}"/>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29420392"/>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70060"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369364" y="886968"/>
            <a:ext cx="11453639" cy="519557"/>
          </a:xfrm>
        </p:spPr>
        <p:txBody>
          <a:bodyPr/>
          <a:lstStyle>
            <a:lvl1pPr>
              <a:defRPr sz="1800"/>
            </a:lvl1pPr>
          </a:lstStyle>
          <a:p>
            <a:pPr lvl="0"/>
            <a:r>
              <a:rPr lang="en-US"/>
              <a:t>Click to edit Master text styles</a:t>
            </a:r>
          </a:p>
        </p:txBody>
      </p:sp>
      <p:sp>
        <p:nvSpPr>
          <p:cNvPr id="4" name="Content Placeholder 6">
            <a:extLst>
              <a:ext uri="{FF2B5EF4-FFF2-40B4-BE49-F238E27FC236}">
                <a16:creationId xmlns:a16="http://schemas.microsoft.com/office/drawing/2014/main" id="{35EB01E0-E6A4-D360-2FD4-9B71B2DE0DCB}"/>
              </a:ext>
            </a:extLst>
          </p:cNvPr>
          <p:cNvSpPr>
            <a:spLocks noGrp="1"/>
          </p:cNvSpPr>
          <p:nvPr>
            <p:ph sz="quarter" idx="10"/>
          </p:nvPr>
        </p:nvSpPr>
        <p:spPr>
          <a:xfrm>
            <a:off x="368300"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4626FCF7-D9DB-AA92-E09A-63795E0A9BF7}"/>
              </a:ext>
            </a:extLst>
          </p:cNvPr>
          <p:cNvSpPr>
            <a:spLocks noGrp="1"/>
          </p:cNvSpPr>
          <p:nvPr>
            <p:ph sz="quarter" idx="11"/>
          </p:nvPr>
        </p:nvSpPr>
        <p:spPr>
          <a:xfrm>
            <a:off x="3257550"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6">
            <a:extLst>
              <a:ext uri="{FF2B5EF4-FFF2-40B4-BE49-F238E27FC236}">
                <a16:creationId xmlns:a16="http://schemas.microsoft.com/office/drawing/2014/main" id="{3EAED7B3-1E01-DB3C-A9C0-C02BF6D0CA41}"/>
              </a:ext>
            </a:extLst>
          </p:cNvPr>
          <p:cNvSpPr>
            <a:spLocks noGrp="1"/>
          </p:cNvSpPr>
          <p:nvPr>
            <p:ph sz="quarter" idx="12"/>
          </p:nvPr>
        </p:nvSpPr>
        <p:spPr>
          <a:xfrm>
            <a:off x="6149975"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6">
            <a:extLst>
              <a:ext uri="{FF2B5EF4-FFF2-40B4-BE49-F238E27FC236}">
                <a16:creationId xmlns:a16="http://schemas.microsoft.com/office/drawing/2014/main" id="{1DF4DD5F-AF74-EA4E-244D-3B8BF6C634D7}"/>
              </a:ext>
            </a:extLst>
          </p:cNvPr>
          <p:cNvSpPr>
            <a:spLocks noGrp="1"/>
          </p:cNvSpPr>
          <p:nvPr>
            <p:ph sz="quarter" idx="14"/>
          </p:nvPr>
        </p:nvSpPr>
        <p:spPr>
          <a:xfrm>
            <a:off x="9042400" y="1924050"/>
            <a:ext cx="27844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74492507"/>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357B41B5-877C-16C0-86C3-0049A6AEFDB5}"/>
              </a:ext>
            </a:extLst>
          </p:cNvPr>
          <p:cNvSpPr>
            <a:spLocks noGrp="1"/>
          </p:cNvSpPr>
          <p:nvPr>
            <p:ph sz="quarter" idx="10"/>
          </p:nvPr>
        </p:nvSpPr>
        <p:spPr>
          <a:xfrm>
            <a:off x="368300" y="3482975"/>
            <a:ext cx="34448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4">
            <a:extLst>
              <a:ext uri="{FF2B5EF4-FFF2-40B4-BE49-F238E27FC236}">
                <a16:creationId xmlns:a16="http://schemas.microsoft.com/office/drawing/2014/main" id="{AF5BE851-36FB-AE1C-238B-97C05E05B1AD}"/>
              </a:ext>
            </a:extLst>
          </p:cNvPr>
          <p:cNvSpPr>
            <a:spLocks noGrp="1"/>
          </p:cNvSpPr>
          <p:nvPr>
            <p:ph sz="quarter" idx="11"/>
          </p:nvPr>
        </p:nvSpPr>
        <p:spPr>
          <a:xfrm>
            <a:off x="4239222" y="3482975"/>
            <a:ext cx="34448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4">
            <a:extLst>
              <a:ext uri="{FF2B5EF4-FFF2-40B4-BE49-F238E27FC236}">
                <a16:creationId xmlns:a16="http://schemas.microsoft.com/office/drawing/2014/main" id="{C3EBFD86-34DE-5EF4-510C-8C6F417E6456}"/>
              </a:ext>
            </a:extLst>
          </p:cNvPr>
          <p:cNvSpPr>
            <a:spLocks noGrp="1"/>
          </p:cNvSpPr>
          <p:nvPr>
            <p:ph sz="quarter" idx="12"/>
          </p:nvPr>
        </p:nvSpPr>
        <p:spPr>
          <a:xfrm>
            <a:off x="8077870" y="3482975"/>
            <a:ext cx="34448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itle 8">
            <a:extLst>
              <a:ext uri="{FF2B5EF4-FFF2-40B4-BE49-F238E27FC236}">
                <a16:creationId xmlns:a16="http://schemas.microsoft.com/office/drawing/2014/main" id="{87ADAD20-05B4-05C7-E934-6F9C1436EB7E}"/>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405918459"/>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DF7CA4CE-E47A-514D-5828-6AA4EAEAA5D3}"/>
              </a:ext>
            </a:extLst>
          </p:cNvPr>
          <p:cNvSpPr>
            <a:spLocks noGrp="1"/>
          </p:cNvSpPr>
          <p:nvPr>
            <p:ph sz="quarter" idx="10"/>
          </p:nvPr>
        </p:nvSpPr>
        <p:spPr>
          <a:xfrm>
            <a:off x="368300" y="3482975"/>
            <a:ext cx="27844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BE81782A-2131-81EC-B274-273228A022F2}"/>
              </a:ext>
            </a:extLst>
          </p:cNvPr>
          <p:cNvSpPr>
            <a:spLocks noGrp="1"/>
          </p:cNvSpPr>
          <p:nvPr>
            <p:ph sz="quarter" idx="11"/>
          </p:nvPr>
        </p:nvSpPr>
        <p:spPr>
          <a:xfrm>
            <a:off x="3257550" y="3482975"/>
            <a:ext cx="27844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6">
            <a:extLst>
              <a:ext uri="{FF2B5EF4-FFF2-40B4-BE49-F238E27FC236}">
                <a16:creationId xmlns:a16="http://schemas.microsoft.com/office/drawing/2014/main" id="{1C7B2FA3-BB01-C042-C3E2-CE1E30B4DC87}"/>
              </a:ext>
            </a:extLst>
          </p:cNvPr>
          <p:cNvSpPr>
            <a:spLocks noGrp="1"/>
          </p:cNvSpPr>
          <p:nvPr>
            <p:ph sz="quarter" idx="12"/>
          </p:nvPr>
        </p:nvSpPr>
        <p:spPr>
          <a:xfrm>
            <a:off x="6149975" y="3482975"/>
            <a:ext cx="27844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6">
            <a:extLst>
              <a:ext uri="{FF2B5EF4-FFF2-40B4-BE49-F238E27FC236}">
                <a16:creationId xmlns:a16="http://schemas.microsoft.com/office/drawing/2014/main" id="{5817751D-AEF1-E60E-A99F-8E78DF21FF5F}"/>
              </a:ext>
            </a:extLst>
          </p:cNvPr>
          <p:cNvSpPr>
            <a:spLocks noGrp="1"/>
          </p:cNvSpPr>
          <p:nvPr>
            <p:ph sz="quarter" idx="13"/>
          </p:nvPr>
        </p:nvSpPr>
        <p:spPr>
          <a:xfrm>
            <a:off x="9042400" y="3482975"/>
            <a:ext cx="2784475"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Title 13">
            <a:extLst>
              <a:ext uri="{FF2B5EF4-FFF2-40B4-BE49-F238E27FC236}">
                <a16:creationId xmlns:a16="http://schemas.microsoft.com/office/drawing/2014/main" id="{AC495E7E-4FB5-532A-2A69-899751FD4B0E}"/>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862191539"/>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EDE25965-5FF0-06E1-006B-1D9AEC33DC63}"/>
              </a:ext>
            </a:extLst>
          </p:cNvPr>
          <p:cNvSpPr>
            <a:spLocks noGrp="1"/>
          </p:cNvSpPr>
          <p:nvPr>
            <p:ph sz="quarter" idx="17"/>
          </p:nvPr>
        </p:nvSpPr>
        <p:spPr>
          <a:xfrm>
            <a:off x="368300" y="1406525"/>
            <a:ext cx="4711700" cy="1447800"/>
          </a:xfrm>
        </p:spPr>
        <p:txBody>
          <a:bodyPr/>
          <a:lstStyle>
            <a:lvl1pPr>
              <a:defRPr sz="1600"/>
            </a:lvl1pPr>
          </a:lstStyle>
          <a:p>
            <a:pPr lvl="0"/>
            <a:r>
              <a:rPr lang="en-GB"/>
              <a:t>Click to edit Master text styles</a:t>
            </a:r>
          </a:p>
          <a:p>
            <a:pPr lvl="1"/>
            <a:r>
              <a:rPr lang="en-GB"/>
              <a:t>Second level</a:t>
            </a:r>
          </a:p>
          <a:p>
            <a:pPr lvl="2"/>
            <a:r>
              <a:rPr lang="en-GB"/>
              <a:t>Third level</a:t>
            </a:r>
          </a:p>
        </p:txBody>
      </p:sp>
      <p:sp>
        <p:nvSpPr>
          <p:cNvPr id="11" name="Content Placeholder 10">
            <a:extLst>
              <a:ext uri="{FF2B5EF4-FFF2-40B4-BE49-F238E27FC236}">
                <a16:creationId xmlns:a16="http://schemas.microsoft.com/office/drawing/2014/main" id="{F248317B-0C78-D1D7-C7AA-97B940FCDFDA}"/>
              </a:ext>
            </a:extLst>
          </p:cNvPr>
          <p:cNvSpPr>
            <a:spLocks noGrp="1"/>
          </p:cNvSpPr>
          <p:nvPr>
            <p:ph sz="quarter" idx="18"/>
          </p:nvPr>
        </p:nvSpPr>
        <p:spPr>
          <a:xfrm>
            <a:off x="368300" y="2959100"/>
            <a:ext cx="2784475" cy="3013075"/>
          </a:xfrm>
          <a:solidFill>
            <a:srgbClr val="FFE8D4"/>
          </a:solidFill>
        </p:spPr>
        <p:txBody>
          <a:bodyPr lIns="144000" rIns="144000" bIns="144000" anchor="b" anchorCtr="0"/>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Content Placeholder 10">
            <a:extLst>
              <a:ext uri="{FF2B5EF4-FFF2-40B4-BE49-F238E27FC236}">
                <a16:creationId xmlns:a16="http://schemas.microsoft.com/office/drawing/2014/main" id="{9E1EEBC7-B3D2-0C33-A1E4-86D938D57B98}"/>
              </a:ext>
            </a:extLst>
          </p:cNvPr>
          <p:cNvSpPr>
            <a:spLocks noGrp="1"/>
          </p:cNvSpPr>
          <p:nvPr>
            <p:ph sz="quarter" idx="19"/>
          </p:nvPr>
        </p:nvSpPr>
        <p:spPr>
          <a:xfrm>
            <a:off x="3257550" y="2959100"/>
            <a:ext cx="2784475" cy="3013075"/>
          </a:xfrm>
          <a:solidFill>
            <a:srgbClr val="FFE8D4"/>
          </a:solidFill>
        </p:spPr>
        <p:txBody>
          <a:bodyPr lIns="144000" rIns="144000" bIns="144000" anchor="b" anchorCtr="0"/>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Content Placeholder 10">
            <a:extLst>
              <a:ext uri="{FF2B5EF4-FFF2-40B4-BE49-F238E27FC236}">
                <a16:creationId xmlns:a16="http://schemas.microsoft.com/office/drawing/2014/main" id="{DE61D85C-E065-C899-A314-61A974789950}"/>
              </a:ext>
            </a:extLst>
          </p:cNvPr>
          <p:cNvSpPr>
            <a:spLocks noGrp="1"/>
          </p:cNvSpPr>
          <p:nvPr>
            <p:ph sz="quarter" idx="20"/>
          </p:nvPr>
        </p:nvSpPr>
        <p:spPr>
          <a:xfrm>
            <a:off x="6149975" y="2959100"/>
            <a:ext cx="2784475" cy="3013075"/>
          </a:xfrm>
          <a:solidFill>
            <a:srgbClr val="FFE8D4"/>
          </a:solidFill>
        </p:spPr>
        <p:txBody>
          <a:bodyPr lIns="144000" rIns="144000" bIns="144000" anchor="b" anchorCtr="0"/>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Content Placeholder 10">
            <a:extLst>
              <a:ext uri="{FF2B5EF4-FFF2-40B4-BE49-F238E27FC236}">
                <a16:creationId xmlns:a16="http://schemas.microsoft.com/office/drawing/2014/main" id="{2AC1B240-8DE4-93F4-7F67-7A0D12BFCB2D}"/>
              </a:ext>
            </a:extLst>
          </p:cNvPr>
          <p:cNvSpPr>
            <a:spLocks noGrp="1"/>
          </p:cNvSpPr>
          <p:nvPr>
            <p:ph sz="quarter" idx="21"/>
          </p:nvPr>
        </p:nvSpPr>
        <p:spPr>
          <a:xfrm>
            <a:off x="9039225" y="2959100"/>
            <a:ext cx="2784475" cy="3013075"/>
          </a:xfrm>
          <a:solidFill>
            <a:srgbClr val="FFE8D4"/>
          </a:solidFill>
        </p:spPr>
        <p:txBody>
          <a:bodyPr lIns="144000" rIns="144000" bIns="144000" anchor="b" anchorCtr="0"/>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itle 16">
            <a:extLst>
              <a:ext uri="{FF2B5EF4-FFF2-40B4-BE49-F238E27FC236}">
                <a16:creationId xmlns:a16="http://schemas.microsoft.com/office/drawing/2014/main" id="{26AF7A0A-28F9-E71C-DA0E-449F854A8D7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378625112"/>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370062" y="1407234"/>
            <a:ext cx="2647951" cy="2455863"/>
          </a:xfrm>
          <a:solidFill>
            <a:schemeClr val="bg2"/>
          </a:solidFill>
        </p:spPr>
        <p:txBody>
          <a:bodyPr tIns="731520"/>
          <a:lstStyle>
            <a:lvl1pPr algn="ctr">
              <a:defRPr/>
            </a:lvl1pPr>
          </a:lstStyle>
          <a:p>
            <a:r>
              <a:rPr lang="en-US"/>
              <a:t>Click icon to add picture</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62926" y="1407234"/>
            <a:ext cx="2647951" cy="2455863"/>
          </a:xfrm>
          <a:solidFill>
            <a:schemeClr val="bg2"/>
          </a:solidFill>
        </p:spPr>
        <p:txBody>
          <a:bodyPr tIns="731520"/>
          <a:lstStyle>
            <a:lvl1pPr algn="ctr">
              <a:defRPr/>
            </a:lvl1pPr>
          </a:lstStyle>
          <a:p>
            <a:r>
              <a:rPr lang="en-US"/>
              <a:t>Click icon to add picture</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55753" y="1407234"/>
            <a:ext cx="2647951" cy="2455863"/>
          </a:xfrm>
          <a:solidFill>
            <a:schemeClr val="bg2"/>
          </a:solidFill>
        </p:spPr>
        <p:txBody>
          <a:bodyPr tIns="731520"/>
          <a:lstStyle>
            <a:lvl1pPr algn="ctr">
              <a:defRPr/>
            </a:lvl1pPr>
          </a:lstStyle>
          <a:p>
            <a:r>
              <a:rPr lang="en-US"/>
              <a:t>Click icon to add picture</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7972" y="1407234"/>
            <a:ext cx="2647951" cy="2455863"/>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E1769020-22C9-8DED-D532-40F11F2D33CA}"/>
              </a:ext>
            </a:extLst>
          </p:cNvPr>
          <p:cNvSpPr>
            <a:spLocks noGrp="1"/>
          </p:cNvSpPr>
          <p:nvPr>
            <p:ph sz="quarter" idx="17"/>
          </p:nvPr>
        </p:nvSpPr>
        <p:spPr>
          <a:xfrm>
            <a:off x="368300" y="4000500"/>
            <a:ext cx="2692400"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BE4E3AAB-764D-686D-74DE-DD6CA1560316}"/>
              </a:ext>
            </a:extLst>
          </p:cNvPr>
          <p:cNvSpPr>
            <a:spLocks noGrp="1"/>
          </p:cNvSpPr>
          <p:nvPr>
            <p:ph sz="quarter" idx="18"/>
          </p:nvPr>
        </p:nvSpPr>
        <p:spPr>
          <a:xfrm>
            <a:off x="3262926" y="3998912"/>
            <a:ext cx="2692400"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9">
            <a:extLst>
              <a:ext uri="{FF2B5EF4-FFF2-40B4-BE49-F238E27FC236}">
                <a16:creationId xmlns:a16="http://schemas.microsoft.com/office/drawing/2014/main" id="{2BEB6BEE-26A1-CA65-94AF-66C85CEB8FB8}"/>
              </a:ext>
            </a:extLst>
          </p:cNvPr>
          <p:cNvSpPr>
            <a:spLocks noGrp="1"/>
          </p:cNvSpPr>
          <p:nvPr>
            <p:ph sz="quarter" idx="19"/>
          </p:nvPr>
        </p:nvSpPr>
        <p:spPr>
          <a:xfrm>
            <a:off x="6149975" y="3998912"/>
            <a:ext cx="2692400"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Content Placeholder 9">
            <a:extLst>
              <a:ext uri="{FF2B5EF4-FFF2-40B4-BE49-F238E27FC236}">
                <a16:creationId xmlns:a16="http://schemas.microsoft.com/office/drawing/2014/main" id="{E50EC622-9E3E-7826-5B6E-3F05131728C6}"/>
              </a:ext>
            </a:extLst>
          </p:cNvPr>
          <p:cNvSpPr>
            <a:spLocks noGrp="1"/>
          </p:cNvSpPr>
          <p:nvPr>
            <p:ph sz="quarter" idx="20"/>
          </p:nvPr>
        </p:nvSpPr>
        <p:spPr>
          <a:xfrm>
            <a:off x="9047972" y="3998912"/>
            <a:ext cx="2692400" cy="20796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9" name="Title 18">
            <a:extLst>
              <a:ext uri="{FF2B5EF4-FFF2-40B4-BE49-F238E27FC236}">
                <a16:creationId xmlns:a16="http://schemas.microsoft.com/office/drawing/2014/main" id="{87CC549C-7C7A-4C05-D6A7-8187C41504D4}"/>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4091853828"/>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4054" y="1407234"/>
            <a:ext cx="5669646" cy="2482141"/>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6" name="Content Placeholder 5">
            <a:extLst>
              <a:ext uri="{FF2B5EF4-FFF2-40B4-BE49-F238E27FC236}">
                <a16:creationId xmlns:a16="http://schemas.microsoft.com/office/drawing/2014/main" id="{4903BE73-FFB9-9122-4626-1B97EB913FE8}"/>
              </a:ext>
            </a:extLst>
          </p:cNvPr>
          <p:cNvSpPr>
            <a:spLocks noGrp="1"/>
          </p:cNvSpPr>
          <p:nvPr>
            <p:ph sz="quarter" idx="16"/>
          </p:nvPr>
        </p:nvSpPr>
        <p:spPr>
          <a:xfrm>
            <a:off x="369888" y="1406525"/>
            <a:ext cx="2782887" cy="4565650"/>
          </a:xfrm>
        </p:spPr>
        <p:txBody>
          <a:bodyPr/>
          <a:lstStyle>
            <a:lvl1pPr>
              <a:defRPr sz="2400"/>
            </a:lvl1pPr>
          </a:lstStyle>
          <a:p>
            <a:pPr lvl="0"/>
            <a:r>
              <a:rPr lang="en-GB"/>
              <a:t>Click to edit Master text styles</a:t>
            </a:r>
          </a:p>
        </p:txBody>
      </p:sp>
      <p:sp>
        <p:nvSpPr>
          <p:cNvPr id="11" name="Content Placeholder 10">
            <a:extLst>
              <a:ext uri="{FF2B5EF4-FFF2-40B4-BE49-F238E27FC236}">
                <a16:creationId xmlns:a16="http://schemas.microsoft.com/office/drawing/2014/main" id="{42EA7D05-D7C0-FDE4-0EBC-5FC8729460EF}"/>
              </a:ext>
            </a:extLst>
          </p:cNvPr>
          <p:cNvSpPr>
            <a:spLocks noGrp="1"/>
          </p:cNvSpPr>
          <p:nvPr>
            <p:ph sz="quarter" idx="17"/>
          </p:nvPr>
        </p:nvSpPr>
        <p:spPr>
          <a:xfrm>
            <a:off x="3257550" y="1406525"/>
            <a:ext cx="2784475" cy="45656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73B30585-2E0B-0145-792D-87F4CBF909B1}"/>
              </a:ext>
            </a:extLst>
          </p:cNvPr>
          <p:cNvSpPr>
            <a:spLocks noGrp="1"/>
          </p:cNvSpPr>
          <p:nvPr>
            <p:ph sz="quarter" idx="18"/>
          </p:nvPr>
        </p:nvSpPr>
        <p:spPr>
          <a:xfrm>
            <a:off x="6149975" y="4000500"/>
            <a:ext cx="2781300" cy="1971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13">
            <a:extLst>
              <a:ext uri="{FF2B5EF4-FFF2-40B4-BE49-F238E27FC236}">
                <a16:creationId xmlns:a16="http://schemas.microsoft.com/office/drawing/2014/main" id="{CF1ADCBF-761E-4BC8-95AF-5ED8A304B911}"/>
              </a:ext>
            </a:extLst>
          </p:cNvPr>
          <p:cNvSpPr>
            <a:spLocks noGrp="1"/>
          </p:cNvSpPr>
          <p:nvPr>
            <p:ph sz="quarter" idx="19"/>
          </p:nvPr>
        </p:nvSpPr>
        <p:spPr>
          <a:xfrm>
            <a:off x="9042400" y="4000500"/>
            <a:ext cx="2781300" cy="1971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itle 17">
            <a:extLst>
              <a:ext uri="{FF2B5EF4-FFF2-40B4-BE49-F238E27FC236}">
                <a16:creationId xmlns:a16="http://schemas.microsoft.com/office/drawing/2014/main" id="{FD1333CB-59A1-E4BE-4739-1CA1A660FB0F}"/>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258862498"/>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B1E147C2-A10D-59C4-CC48-6D69F1DA6177}"/>
              </a:ext>
            </a:extLst>
          </p:cNvPr>
          <p:cNvSpPr>
            <a:spLocks noGrp="1"/>
          </p:cNvSpPr>
          <p:nvPr>
            <p:ph sz="quarter" idx="10"/>
          </p:nvPr>
        </p:nvSpPr>
        <p:spPr>
          <a:xfrm>
            <a:off x="368300"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A86AE55E-C7BC-EC71-C728-F72A80B86C83}"/>
              </a:ext>
            </a:extLst>
          </p:cNvPr>
          <p:cNvSpPr>
            <a:spLocks noGrp="1"/>
          </p:cNvSpPr>
          <p:nvPr>
            <p:ph sz="quarter" idx="11"/>
          </p:nvPr>
        </p:nvSpPr>
        <p:spPr>
          <a:xfrm>
            <a:off x="2295525"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55CDC6F-9090-45B3-C7DF-1D1A5E390D2C}"/>
              </a:ext>
            </a:extLst>
          </p:cNvPr>
          <p:cNvSpPr>
            <a:spLocks noGrp="1"/>
          </p:cNvSpPr>
          <p:nvPr>
            <p:ph sz="quarter" idx="12"/>
          </p:nvPr>
        </p:nvSpPr>
        <p:spPr>
          <a:xfrm>
            <a:off x="4219575"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CB40FF7B-D30A-160F-9C8B-1003AE57EE92}"/>
              </a:ext>
            </a:extLst>
          </p:cNvPr>
          <p:cNvSpPr>
            <a:spLocks noGrp="1"/>
          </p:cNvSpPr>
          <p:nvPr>
            <p:ph sz="quarter" idx="13"/>
          </p:nvPr>
        </p:nvSpPr>
        <p:spPr>
          <a:xfrm>
            <a:off x="6146800"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97083C73-43EE-6C29-DF37-8BDBD145922F}"/>
              </a:ext>
            </a:extLst>
          </p:cNvPr>
          <p:cNvSpPr>
            <a:spLocks noGrp="1"/>
          </p:cNvSpPr>
          <p:nvPr>
            <p:ph sz="quarter" idx="14"/>
          </p:nvPr>
        </p:nvSpPr>
        <p:spPr>
          <a:xfrm>
            <a:off x="8077200"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FAAF6896-CE8D-11B6-CDB6-B5581B467D87}"/>
              </a:ext>
            </a:extLst>
          </p:cNvPr>
          <p:cNvSpPr>
            <a:spLocks noGrp="1"/>
          </p:cNvSpPr>
          <p:nvPr>
            <p:ph sz="quarter" idx="15"/>
          </p:nvPr>
        </p:nvSpPr>
        <p:spPr>
          <a:xfrm>
            <a:off x="10004425"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9" name="Title 18">
            <a:extLst>
              <a:ext uri="{FF2B5EF4-FFF2-40B4-BE49-F238E27FC236}">
                <a16:creationId xmlns:a16="http://schemas.microsoft.com/office/drawing/2014/main" id="{EE952CC9-7B70-01FB-582B-30F68D4C37F3}"/>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635821786"/>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ix Content Subtitle">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1C018B1A-B52B-AC9A-63B1-F00217B38E41}"/>
              </a:ext>
            </a:extLst>
          </p:cNvPr>
          <p:cNvSpPr>
            <a:spLocks noGrp="1"/>
          </p:cNvSpPr>
          <p:nvPr>
            <p:ph type="body" sz="quarter" idx="15"/>
          </p:nvPr>
        </p:nvSpPr>
        <p:spPr>
          <a:xfrm>
            <a:off x="369364" y="886968"/>
            <a:ext cx="11453639" cy="519557"/>
          </a:xfrm>
        </p:spPr>
        <p:txBody>
          <a:bodyPr/>
          <a:lstStyle>
            <a:lvl1pPr>
              <a:defRPr sz="1800"/>
            </a:lvl1pPr>
          </a:lstStyle>
          <a:p>
            <a:pPr lvl="0"/>
            <a:r>
              <a:rPr lang="en-US"/>
              <a:t>Click to edit Master text styles</a:t>
            </a:r>
          </a:p>
        </p:txBody>
      </p:sp>
      <p:sp>
        <p:nvSpPr>
          <p:cNvPr id="2" name="Title Placeholder 1">
            <a:extLst>
              <a:ext uri="{FF2B5EF4-FFF2-40B4-BE49-F238E27FC236}">
                <a16:creationId xmlns:a16="http://schemas.microsoft.com/office/drawing/2014/main" id="{F7150835-224A-C855-A540-11B95474A75B}"/>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10" name="Content Placeholder 9">
            <a:extLst>
              <a:ext uri="{FF2B5EF4-FFF2-40B4-BE49-F238E27FC236}">
                <a16:creationId xmlns:a16="http://schemas.microsoft.com/office/drawing/2014/main" id="{83A6C828-337E-DF3F-E796-CD513517E4D6}"/>
              </a:ext>
            </a:extLst>
          </p:cNvPr>
          <p:cNvSpPr>
            <a:spLocks noGrp="1"/>
          </p:cNvSpPr>
          <p:nvPr>
            <p:ph sz="quarter" idx="10"/>
          </p:nvPr>
        </p:nvSpPr>
        <p:spPr>
          <a:xfrm>
            <a:off x="368300"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9">
            <a:extLst>
              <a:ext uri="{FF2B5EF4-FFF2-40B4-BE49-F238E27FC236}">
                <a16:creationId xmlns:a16="http://schemas.microsoft.com/office/drawing/2014/main" id="{5039018F-04C9-76F6-FBBC-358D2F0A1005}"/>
              </a:ext>
            </a:extLst>
          </p:cNvPr>
          <p:cNvSpPr>
            <a:spLocks noGrp="1"/>
          </p:cNvSpPr>
          <p:nvPr>
            <p:ph sz="quarter" idx="11"/>
          </p:nvPr>
        </p:nvSpPr>
        <p:spPr>
          <a:xfrm>
            <a:off x="2295525"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9">
            <a:extLst>
              <a:ext uri="{FF2B5EF4-FFF2-40B4-BE49-F238E27FC236}">
                <a16:creationId xmlns:a16="http://schemas.microsoft.com/office/drawing/2014/main" id="{F0641CF8-17DD-D58B-57D0-930294460401}"/>
              </a:ext>
            </a:extLst>
          </p:cNvPr>
          <p:cNvSpPr>
            <a:spLocks noGrp="1"/>
          </p:cNvSpPr>
          <p:nvPr>
            <p:ph sz="quarter" idx="12"/>
          </p:nvPr>
        </p:nvSpPr>
        <p:spPr>
          <a:xfrm>
            <a:off x="4219575"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9">
            <a:extLst>
              <a:ext uri="{FF2B5EF4-FFF2-40B4-BE49-F238E27FC236}">
                <a16:creationId xmlns:a16="http://schemas.microsoft.com/office/drawing/2014/main" id="{F8C87661-3C9C-724E-425D-6BFB684FAA53}"/>
              </a:ext>
            </a:extLst>
          </p:cNvPr>
          <p:cNvSpPr>
            <a:spLocks noGrp="1"/>
          </p:cNvSpPr>
          <p:nvPr>
            <p:ph sz="quarter" idx="13"/>
          </p:nvPr>
        </p:nvSpPr>
        <p:spPr>
          <a:xfrm>
            <a:off x="6146800"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9">
            <a:extLst>
              <a:ext uri="{FF2B5EF4-FFF2-40B4-BE49-F238E27FC236}">
                <a16:creationId xmlns:a16="http://schemas.microsoft.com/office/drawing/2014/main" id="{C1CA5D93-F653-F2C0-8751-8A90F765D494}"/>
              </a:ext>
            </a:extLst>
          </p:cNvPr>
          <p:cNvSpPr>
            <a:spLocks noGrp="1"/>
          </p:cNvSpPr>
          <p:nvPr>
            <p:ph sz="quarter" idx="14"/>
          </p:nvPr>
        </p:nvSpPr>
        <p:spPr>
          <a:xfrm>
            <a:off x="8077200"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9">
            <a:extLst>
              <a:ext uri="{FF2B5EF4-FFF2-40B4-BE49-F238E27FC236}">
                <a16:creationId xmlns:a16="http://schemas.microsoft.com/office/drawing/2014/main" id="{59DA2641-90BA-C589-4AC5-93DB0472E745}"/>
              </a:ext>
            </a:extLst>
          </p:cNvPr>
          <p:cNvSpPr>
            <a:spLocks noGrp="1"/>
          </p:cNvSpPr>
          <p:nvPr>
            <p:ph sz="quarter" idx="16"/>
          </p:nvPr>
        </p:nvSpPr>
        <p:spPr>
          <a:xfrm>
            <a:off x="10004425" y="1924050"/>
            <a:ext cx="1819275"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17744805"/>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370062"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294159"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27490"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46253"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75774"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9999916"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9">
            <a:extLst>
              <a:ext uri="{FF2B5EF4-FFF2-40B4-BE49-F238E27FC236}">
                <a16:creationId xmlns:a16="http://schemas.microsoft.com/office/drawing/2014/main" id="{9822908B-8C98-3E38-BAF1-87309A19DE45}"/>
              </a:ext>
            </a:extLst>
          </p:cNvPr>
          <p:cNvSpPr>
            <a:spLocks noGrp="1"/>
          </p:cNvSpPr>
          <p:nvPr>
            <p:ph sz="quarter" idx="10"/>
          </p:nvPr>
        </p:nvSpPr>
        <p:spPr>
          <a:xfrm>
            <a:off x="368300" y="3492819"/>
            <a:ext cx="1819275" cy="24793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9">
            <a:extLst>
              <a:ext uri="{FF2B5EF4-FFF2-40B4-BE49-F238E27FC236}">
                <a16:creationId xmlns:a16="http://schemas.microsoft.com/office/drawing/2014/main" id="{C0C24A9A-AB7A-C92C-EABC-107D1A3E3099}"/>
              </a:ext>
            </a:extLst>
          </p:cNvPr>
          <p:cNvSpPr>
            <a:spLocks noGrp="1"/>
          </p:cNvSpPr>
          <p:nvPr>
            <p:ph sz="quarter" idx="11"/>
          </p:nvPr>
        </p:nvSpPr>
        <p:spPr>
          <a:xfrm>
            <a:off x="2295525" y="3492819"/>
            <a:ext cx="1819275" cy="24793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9">
            <a:extLst>
              <a:ext uri="{FF2B5EF4-FFF2-40B4-BE49-F238E27FC236}">
                <a16:creationId xmlns:a16="http://schemas.microsoft.com/office/drawing/2014/main" id="{1BE33546-5281-3759-9C24-7C92D3AB81E7}"/>
              </a:ext>
            </a:extLst>
          </p:cNvPr>
          <p:cNvSpPr>
            <a:spLocks noGrp="1"/>
          </p:cNvSpPr>
          <p:nvPr>
            <p:ph sz="quarter" idx="12"/>
          </p:nvPr>
        </p:nvSpPr>
        <p:spPr>
          <a:xfrm>
            <a:off x="4219575" y="3492819"/>
            <a:ext cx="1819275" cy="24793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9">
            <a:extLst>
              <a:ext uri="{FF2B5EF4-FFF2-40B4-BE49-F238E27FC236}">
                <a16:creationId xmlns:a16="http://schemas.microsoft.com/office/drawing/2014/main" id="{CD8F01FB-26C3-D412-CD60-13931D0A16A9}"/>
              </a:ext>
            </a:extLst>
          </p:cNvPr>
          <p:cNvSpPr>
            <a:spLocks noGrp="1"/>
          </p:cNvSpPr>
          <p:nvPr>
            <p:ph sz="quarter" idx="13"/>
          </p:nvPr>
        </p:nvSpPr>
        <p:spPr>
          <a:xfrm>
            <a:off x="6146800" y="3492819"/>
            <a:ext cx="1819275" cy="24793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52D6BCE3-5DC0-F54B-0BF2-1E8CB838F946}"/>
              </a:ext>
            </a:extLst>
          </p:cNvPr>
          <p:cNvSpPr>
            <a:spLocks noGrp="1"/>
          </p:cNvSpPr>
          <p:nvPr>
            <p:ph sz="quarter" idx="14"/>
          </p:nvPr>
        </p:nvSpPr>
        <p:spPr>
          <a:xfrm>
            <a:off x="8077200" y="3492819"/>
            <a:ext cx="1819275" cy="24793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9">
            <a:extLst>
              <a:ext uri="{FF2B5EF4-FFF2-40B4-BE49-F238E27FC236}">
                <a16:creationId xmlns:a16="http://schemas.microsoft.com/office/drawing/2014/main" id="{954D3D35-7293-9CD0-B576-44307004CC31}"/>
              </a:ext>
            </a:extLst>
          </p:cNvPr>
          <p:cNvSpPr>
            <a:spLocks noGrp="1"/>
          </p:cNvSpPr>
          <p:nvPr>
            <p:ph sz="quarter" idx="21"/>
          </p:nvPr>
        </p:nvSpPr>
        <p:spPr>
          <a:xfrm>
            <a:off x="10004425" y="3492819"/>
            <a:ext cx="1819275" cy="24793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Title 16">
            <a:extLst>
              <a:ext uri="{FF2B5EF4-FFF2-40B4-BE49-F238E27FC236}">
                <a16:creationId xmlns:a16="http://schemas.microsoft.com/office/drawing/2014/main" id="{9919F7E4-902E-17BD-9A23-BEC353B54086}"/>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699735419"/>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dirty="0"/>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2377" y="1306772"/>
            <a:ext cx="5668962" cy="3731953"/>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CA070464-B6E7-0612-AE11-56A546D97BD4}"/>
              </a:ext>
            </a:extLst>
          </p:cNvPr>
          <p:cNvSpPr>
            <a:spLocks noGrp="1"/>
          </p:cNvSpPr>
          <p:nvPr>
            <p:ph sz="quarter" idx="10"/>
          </p:nvPr>
        </p:nvSpPr>
        <p:spPr>
          <a:xfrm>
            <a:off x="368300" y="4518025"/>
            <a:ext cx="3746500" cy="1562100"/>
          </a:xfrm>
        </p:spPr>
        <p:txBody>
          <a:bodyPr/>
          <a:lstStyle>
            <a:lvl1pPr>
              <a:defRPr sz="1800"/>
            </a:lvl1pPr>
            <a:lvl2pPr>
              <a:defRPr sz="1400">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29931665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dirty="0"/>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46096"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70062" y="3485571"/>
            <a:ext cx="5498502" cy="2486604"/>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72355"/>
            <a:ext cx="5671662"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D4716BEF-8A35-16AB-2612-D5ADC74B28FD}"/>
              </a:ext>
            </a:extLst>
          </p:cNvPr>
          <p:cNvSpPr>
            <a:spLocks noGrp="1"/>
          </p:cNvSpPr>
          <p:nvPr>
            <p:ph sz="quarter" idx="10"/>
          </p:nvPr>
        </p:nvSpPr>
        <p:spPr>
          <a:xfrm>
            <a:off x="6150276" y="5038725"/>
            <a:ext cx="5673424" cy="933450"/>
          </a:xfrm>
        </p:spPr>
        <p:txBody>
          <a:bodyPr/>
          <a:lstStyle>
            <a:lvl1pPr>
              <a:defRPr sz="1800"/>
            </a:lvl1pPr>
            <a:lvl2pPr>
              <a:defRPr sz="1400">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246604859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dirty="0"/>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dirty="0"/>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dirty="0"/>
              <a:t>Presentation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dirty="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dirty="0">
              <a:ln>
                <a:noFill/>
              </a:ln>
              <a:solidFill>
                <a:srgbClr val="FC5108"/>
              </a:solidFill>
              <a:effectLst/>
              <a:uLnTx/>
              <a:uFillTx/>
              <a:latin typeface="+mn-lt"/>
              <a:cs typeface="Arial" panose="020B0604020202020204" pitchFamily="34" charset="0"/>
            </a:endParaRPr>
          </a:p>
          <a:p>
            <a:endParaRPr lang="en-US" sz="6000" b="1" dirty="0">
              <a:solidFill>
                <a:srgbClr val="FC5108"/>
              </a:solidFill>
              <a:latin typeface="Georgia" panose="02040502050405020303" pitchFamily="18" charset="0"/>
              <a:cs typeface="Arial" panose="020B0604020202020204" pitchFamily="34" charset="0"/>
            </a:endParaRPr>
          </a:p>
        </p:txBody>
      </p:sp>
      <p:sp>
        <p:nvSpPr>
          <p:cNvPr id="3" name="Content Placeholder 4">
            <a:extLst>
              <a:ext uri="{FF2B5EF4-FFF2-40B4-BE49-F238E27FC236}">
                <a16:creationId xmlns:a16="http://schemas.microsoft.com/office/drawing/2014/main" id="{0617E1E3-DEC2-78E7-9998-E4FF637CE30B}"/>
              </a:ext>
            </a:extLst>
          </p:cNvPr>
          <p:cNvSpPr>
            <a:spLocks noGrp="1"/>
          </p:cNvSpPr>
          <p:nvPr>
            <p:ph sz="quarter" idx="10"/>
          </p:nvPr>
        </p:nvSpPr>
        <p:spPr>
          <a:xfrm>
            <a:off x="6151729" y="4005692"/>
            <a:ext cx="5455771" cy="921908"/>
          </a:xfrm>
        </p:spPr>
        <p:txBody>
          <a:bodyPr/>
          <a:lstStyle>
            <a:lvl1pPr>
              <a:defRPr sz="1800"/>
            </a:lvl1pPr>
            <a:lvl2pPr>
              <a:defRPr sz="1400">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379224332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420F89DA-180E-8B5A-DBF0-E46D4BE19FF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179287522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746CDA39-33E4-3C95-FE9D-6263CE3649C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424842824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B31972B4-0D39-C3FB-E17F-DC8EC7D11818}"/>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109780569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dirty="0">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dirty="0"/>
              <a:t>Presentation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748F1255-B234-8F3E-2E95-66C55731FF06}"/>
              </a:ext>
            </a:extLst>
          </p:cNvPr>
          <p:cNvSpPr>
            <a:spLocks noGrp="1"/>
          </p:cNvSpPr>
          <p:nvPr>
            <p:ph sz="quarter" idx="10"/>
          </p:nvPr>
        </p:nvSpPr>
        <p:spPr>
          <a:xfrm>
            <a:off x="368300" y="4518025"/>
            <a:ext cx="4711700" cy="1562100"/>
          </a:xfrm>
        </p:spPr>
        <p:txBody>
          <a:bodyPr/>
          <a:lstStyle>
            <a:lvl1pPr>
              <a:defRPr sz="1800">
                <a:solidFill>
                  <a:schemeClr val="bg1"/>
                </a:solidFill>
              </a:defRPr>
            </a:lvl1pPr>
            <a:lvl2pPr>
              <a:defRPr sz="1400">
                <a:solidFill>
                  <a:schemeClr val="bg1"/>
                </a:solidFill>
                <a:latin typeface="+mj-lt"/>
              </a:defRPr>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142692711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369010" y="3491244"/>
            <a:ext cx="4499480" cy="2458352"/>
          </a:xfrm>
        </p:spPr>
        <p:txBody>
          <a:bodyPr/>
          <a:lstStyle>
            <a:lvl1pPr>
              <a:lnSpc>
                <a:spcPct val="100000"/>
              </a:lnSpc>
              <a:defRPr sz="3200" b="0"/>
            </a:lvl1pPr>
          </a:lstStyle>
          <a:p>
            <a:r>
              <a:rPr lang="en-US" dirty="0"/>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6" y="368299"/>
            <a:ext cx="6638214" cy="5603875"/>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7067140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370062"/>
            <a:ext cx="3737453" cy="1295399"/>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4" y="370062"/>
            <a:ext cx="6637163" cy="5562780"/>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01119A16-4429-1C3B-93F5-9356F9F7EC68}"/>
              </a:ext>
            </a:extLst>
          </p:cNvPr>
          <p:cNvSpPr>
            <a:spLocks noGrp="1"/>
          </p:cNvSpPr>
          <p:nvPr>
            <p:ph sz="quarter" idx="12"/>
          </p:nvPr>
        </p:nvSpPr>
        <p:spPr>
          <a:xfrm>
            <a:off x="369888" y="2959100"/>
            <a:ext cx="3744912" cy="3013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18169950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2446693"/>
            <a:ext cx="2767808" cy="765810"/>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57550" y="368299"/>
            <a:ext cx="8566150" cy="5603875"/>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3" name="Content Placeholder 2">
            <a:extLst>
              <a:ext uri="{FF2B5EF4-FFF2-40B4-BE49-F238E27FC236}">
                <a16:creationId xmlns:a16="http://schemas.microsoft.com/office/drawing/2014/main" id="{460FE9E2-DC3E-0EAB-DFB7-B3E4A12323BE}"/>
              </a:ext>
            </a:extLst>
          </p:cNvPr>
          <p:cNvSpPr>
            <a:spLocks noGrp="1"/>
          </p:cNvSpPr>
          <p:nvPr>
            <p:ph sz="quarter" idx="14" hasCustomPrompt="1"/>
          </p:nvPr>
        </p:nvSpPr>
        <p:spPr>
          <a:xfrm>
            <a:off x="368300" y="3482975"/>
            <a:ext cx="2784475" cy="2489200"/>
          </a:xfrm>
        </p:spPr>
        <p:txBody>
          <a:bodyPr/>
          <a:lstStyle/>
          <a:p>
            <a:pPr lvl="1"/>
            <a:r>
              <a:rPr lang="en-GB" dirty="0"/>
              <a:t>Second level</a:t>
            </a:r>
          </a:p>
        </p:txBody>
      </p:sp>
    </p:spTree>
    <p:extLst>
      <p:ext uri="{BB962C8B-B14F-4D97-AF65-F5344CB8AC3E}">
        <p14:creationId xmlns:p14="http://schemas.microsoft.com/office/powerpoint/2010/main" val="88803544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DBB20E5E-A5D8-1921-9B3B-F7258AF1BECE}"/>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303821785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BE8A4846-D27E-80FC-9B7E-3CE63CD42E9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53832718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370062" y="3492183"/>
            <a:ext cx="3744738" cy="2479992"/>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08803"/>
            <a:ext cx="1804072" cy="1445521"/>
          </a:xfrm>
          <a:solidFill>
            <a:schemeClr val="bg2"/>
          </a:solidFill>
        </p:spPr>
        <p:txBody>
          <a:bodyPr tIns="457200"/>
          <a:lstStyle>
            <a:lvl1pPr algn="ctr">
              <a:defRPr/>
            </a:lvl1pPr>
          </a:lstStyle>
          <a:p>
            <a:r>
              <a:rPr lang="en-US"/>
              <a:t>Click icon to add picture</a:t>
            </a:r>
            <a:endParaRPr lang="en-US" dirty="0"/>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65506"/>
            <a:ext cx="1804072" cy="1432559"/>
          </a:xfrm>
          <a:solidFill>
            <a:schemeClr val="bg2"/>
          </a:solidFill>
        </p:spPr>
        <p:txBody>
          <a:bodyPr tIns="457200"/>
          <a:lstStyle>
            <a:lvl1pPr algn="ctr">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77299292-477B-B167-FA09-34ABA37250D4}"/>
              </a:ext>
            </a:extLst>
          </p:cNvPr>
          <p:cNvSpPr>
            <a:spLocks noGrp="1"/>
          </p:cNvSpPr>
          <p:nvPr>
            <p:ph sz="quarter" idx="18"/>
          </p:nvPr>
        </p:nvSpPr>
        <p:spPr>
          <a:xfrm>
            <a:off x="7112000" y="1406525"/>
            <a:ext cx="4711700" cy="14478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Content Placeholder 2">
            <a:extLst>
              <a:ext uri="{FF2B5EF4-FFF2-40B4-BE49-F238E27FC236}">
                <a16:creationId xmlns:a16="http://schemas.microsoft.com/office/drawing/2014/main" id="{33096CD5-F472-2FF7-8821-A2FC9AB7EECF}"/>
              </a:ext>
            </a:extLst>
          </p:cNvPr>
          <p:cNvSpPr>
            <a:spLocks noGrp="1"/>
          </p:cNvSpPr>
          <p:nvPr>
            <p:ph sz="quarter" idx="19"/>
          </p:nvPr>
        </p:nvSpPr>
        <p:spPr>
          <a:xfrm>
            <a:off x="7112000" y="2966384"/>
            <a:ext cx="4711700" cy="14478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Content Placeholder 2">
            <a:extLst>
              <a:ext uri="{FF2B5EF4-FFF2-40B4-BE49-F238E27FC236}">
                <a16:creationId xmlns:a16="http://schemas.microsoft.com/office/drawing/2014/main" id="{6D1E7B3D-67E9-63CB-5191-3A7FBCE6F83F}"/>
              </a:ext>
            </a:extLst>
          </p:cNvPr>
          <p:cNvSpPr>
            <a:spLocks noGrp="1"/>
          </p:cNvSpPr>
          <p:nvPr>
            <p:ph sz="quarter" idx="20"/>
          </p:nvPr>
        </p:nvSpPr>
        <p:spPr>
          <a:xfrm>
            <a:off x="7112000" y="4520863"/>
            <a:ext cx="4711700" cy="14478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itle 8">
            <a:extLst>
              <a:ext uri="{FF2B5EF4-FFF2-40B4-BE49-F238E27FC236}">
                <a16:creationId xmlns:a16="http://schemas.microsoft.com/office/drawing/2014/main" id="{1EABDFC4-9BD0-55BC-2846-2FA45EAB5354}"/>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5665130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56F6B0ED-8AF6-B2AA-E6DF-421FC9028A75}"/>
              </a:ext>
            </a:extLst>
          </p:cNvPr>
          <p:cNvSpPr>
            <a:spLocks noGrp="1"/>
          </p:cNvSpPr>
          <p:nvPr>
            <p:ph sz="quarter" idx="10"/>
          </p:nvPr>
        </p:nvSpPr>
        <p:spPr>
          <a:xfrm>
            <a:off x="6149975" y="3482975"/>
            <a:ext cx="5673725" cy="248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7630125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2001" y="368300"/>
            <a:ext cx="4711700" cy="3003550"/>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dirty="0"/>
              <a:t>0,000</a:t>
            </a:r>
          </a:p>
          <a:p>
            <a:pPr lvl="1"/>
            <a:r>
              <a:rPr lang="en-US" dirty="0"/>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F83831A1-36E4-05EF-6AB7-93A548B9DE9C}"/>
              </a:ext>
            </a:extLst>
          </p:cNvPr>
          <p:cNvSpPr>
            <a:spLocks noGrp="1"/>
          </p:cNvSpPr>
          <p:nvPr>
            <p:ph sz="quarter" idx="12"/>
          </p:nvPr>
        </p:nvSpPr>
        <p:spPr>
          <a:xfrm>
            <a:off x="9039225" y="3492500"/>
            <a:ext cx="2784475" cy="2479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1155481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373155"/>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46692"/>
            <a:ext cx="2481263" cy="552451"/>
          </a:xfrm>
        </p:spPr>
        <p:txBody>
          <a:bodyPr anchor="b" anchorCtr="0"/>
          <a:lstStyle>
            <a:lvl1pPr>
              <a:spcBef>
                <a:spcPts val="0"/>
              </a:spcBef>
              <a:spcAft>
                <a:spcPts val="600"/>
              </a:spcAft>
              <a:defRPr sz="1000" b="0">
                <a:latin typeface="+mn-lt"/>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52188" y="373155"/>
            <a:ext cx="2765424" cy="2777490"/>
          </a:xfr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dirty="0"/>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46692"/>
            <a:ext cx="2481263" cy="552451"/>
          </a:xfrm>
        </p:spPr>
        <p:txBody>
          <a:bodyPr anchor="b" anchorCtr="0"/>
          <a:lstStyle>
            <a:lvl1pPr>
              <a:spcBef>
                <a:spcPts val="0"/>
              </a:spcBef>
              <a:spcAft>
                <a:spcPts val="600"/>
              </a:spcAft>
              <a:defRPr sz="1000" b="0">
                <a:latin typeface="+mn-lt"/>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n-lt"/>
              </a:defRPr>
            </a:lvl1pPr>
          </a:lstStyle>
          <a:p>
            <a:pPr lvl="0"/>
            <a:r>
              <a:rPr lang="en-US" dirty="0"/>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52188"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n-lt"/>
              </a:defRPr>
            </a:lvl1pPr>
          </a:lstStyle>
          <a:p>
            <a:pPr lvl="0"/>
            <a:r>
              <a:rPr lang="en-US" dirty="0"/>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70340804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31506"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71461"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2DEADD9F-C4DB-21BA-6151-16846D00A132}"/>
              </a:ext>
            </a:extLst>
          </p:cNvPr>
          <p:cNvSpPr>
            <a:spLocks noGrp="1"/>
          </p:cNvSpPr>
          <p:nvPr>
            <p:ph sz="quarter" idx="15"/>
          </p:nvPr>
        </p:nvSpPr>
        <p:spPr>
          <a:xfrm>
            <a:off x="368301" y="3482975"/>
            <a:ext cx="3310128"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2">
            <a:extLst>
              <a:ext uri="{FF2B5EF4-FFF2-40B4-BE49-F238E27FC236}">
                <a16:creationId xmlns:a16="http://schemas.microsoft.com/office/drawing/2014/main" id="{DEBB524E-5A84-8775-0998-D7CE79E36DCD}"/>
              </a:ext>
            </a:extLst>
          </p:cNvPr>
          <p:cNvSpPr>
            <a:spLocks noGrp="1"/>
          </p:cNvSpPr>
          <p:nvPr>
            <p:ph sz="quarter" idx="16"/>
          </p:nvPr>
        </p:nvSpPr>
        <p:spPr>
          <a:xfrm>
            <a:off x="4239426" y="3482975"/>
            <a:ext cx="3310128"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2">
            <a:extLst>
              <a:ext uri="{FF2B5EF4-FFF2-40B4-BE49-F238E27FC236}">
                <a16:creationId xmlns:a16="http://schemas.microsoft.com/office/drawing/2014/main" id="{0FB583A4-A0D5-B473-CEAF-7EDB869751B3}"/>
              </a:ext>
            </a:extLst>
          </p:cNvPr>
          <p:cNvSpPr>
            <a:spLocks noGrp="1"/>
          </p:cNvSpPr>
          <p:nvPr>
            <p:ph sz="quarter" idx="17"/>
          </p:nvPr>
        </p:nvSpPr>
        <p:spPr>
          <a:xfrm>
            <a:off x="8071461" y="3482975"/>
            <a:ext cx="3310128" cy="259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Title 14">
            <a:extLst>
              <a:ext uri="{FF2B5EF4-FFF2-40B4-BE49-F238E27FC236}">
                <a16:creationId xmlns:a16="http://schemas.microsoft.com/office/drawing/2014/main" id="{FF63D470-D7BD-0CB6-AB02-AD298B18C3E2}"/>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74532724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6710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53663"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Title 2">
            <a:extLst>
              <a:ext uri="{FF2B5EF4-FFF2-40B4-BE49-F238E27FC236}">
                <a16:creationId xmlns:a16="http://schemas.microsoft.com/office/drawing/2014/main" id="{B7CEDE5A-24B5-302A-F9C9-38D8A4ED15EA}"/>
              </a:ext>
            </a:extLst>
          </p:cNvPr>
          <p:cNvSpPr>
            <a:spLocks noGrp="1"/>
          </p:cNvSpPr>
          <p:nvPr>
            <p:ph type="title"/>
          </p:nvPr>
        </p:nvSpPr>
        <p:spPr/>
        <p:txBody>
          <a:bodyPr/>
          <a:lstStyle/>
          <a:p>
            <a:r>
              <a:rPr lang="en-GB"/>
              <a:t>Click to edit Master title style</a:t>
            </a:r>
          </a:p>
        </p:txBody>
      </p:sp>
      <p:sp>
        <p:nvSpPr>
          <p:cNvPr id="16" name="Content Placeholder 15">
            <a:extLst>
              <a:ext uri="{FF2B5EF4-FFF2-40B4-BE49-F238E27FC236}">
                <a16:creationId xmlns:a16="http://schemas.microsoft.com/office/drawing/2014/main" id="{44F1DDBE-5AF8-4AE5-035D-1455CB11941A}"/>
              </a:ext>
            </a:extLst>
          </p:cNvPr>
          <p:cNvSpPr>
            <a:spLocks noGrp="1"/>
          </p:cNvSpPr>
          <p:nvPr>
            <p:ph sz="quarter" idx="17"/>
          </p:nvPr>
        </p:nvSpPr>
        <p:spPr>
          <a:xfrm>
            <a:off x="369888" y="3482975"/>
            <a:ext cx="2396050" cy="279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Content Placeholder 15">
            <a:extLst>
              <a:ext uri="{FF2B5EF4-FFF2-40B4-BE49-F238E27FC236}">
                <a16:creationId xmlns:a16="http://schemas.microsoft.com/office/drawing/2014/main" id="{0506503A-B70F-E2C2-7E96-19228D38F73B}"/>
              </a:ext>
            </a:extLst>
          </p:cNvPr>
          <p:cNvSpPr>
            <a:spLocks noGrp="1"/>
          </p:cNvSpPr>
          <p:nvPr>
            <p:ph sz="quarter" idx="18"/>
          </p:nvPr>
        </p:nvSpPr>
        <p:spPr>
          <a:xfrm>
            <a:off x="3271236" y="3482975"/>
            <a:ext cx="2396050" cy="279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Content Placeholder 15">
            <a:extLst>
              <a:ext uri="{FF2B5EF4-FFF2-40B4-BE49-F238E27FC236}">
                <a16:creationId xmlns:a16="http://schemas.microsoft.com/office/drawing/2014/main" id="{099901CA-C5DD-EA1C-B029-123F8C580614}"/>
              </a:ext>
            </a:extLst>
          </p:cNvPr>
          <p:cNvSpPr>
            <a:spLocks noGrp="1"/>
          </p:cNvSpPr>
          <p:nvPr>
            <p:ph sz="quarter" idx="19"/>
          </p:nvPr>
        </p:nvSpPr>
        <p:spPr>
          <a:xfrm>
            <a:off x="6149975" y="3482975"/>
            <a:ext cx="2396050" cy="279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9" name="Content Placeholder 15">
            <a:extLst>
              <a:ext uri="{FF2B5EF4-FFF2-40B4-BE49-F238E27FC236}">
                <a16:creationId xmlns:a16="http://schemas.microsoft.com/office/drawing/2014/main" id="{066BC0D1-1139-9685-3799-963F80B0C907}"/>
              </a:ext>
            </a:extLst>
          </p:cNvPr>
          <p:cNvSpPr>
            <a:spLocks noGrp="1"/>
          </p:cNvSpPr>
          <p:nvPr>
            <p:ph sz="quarter" idx="20"/>
          </p:nvPr>
        </p:nvSpPr>
        <p:spPr>
          <a:xfrm>
            <a:off x="9047405" y="3482975"/>
            <a:ext cx="2396050" cy="279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8819295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88305" y="1930138"/>
            <a:ext cx="5670195" cy="4042037"/>
          </a:xfrm>
        </p:spPr>
        <p:txBody>
          <a:bodyPr/>
          <a:lstStyle>
            <a:lvl1pPr algn="ctr">
              <a:defRPr/>
            </a:lvl1pPr>
          </a:lstStyle>
          <a:p>
            <a:r>
              <a:rPr lang="en-US"/>
              <a:t>Click icon to add chart</a:t>
            </a:r>
            <a:endParaRPr lang="en-US" dirty="0"/>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itle 3">
            <a:extLst>
              <a:ext uri="{FF2B5EF4-FFF2-40B4-BE49-F238E27FC236}">
                <a16:creationId xmlns:a16="http://schemas.microsoft.com/office/drawing/2014/main" id="{B3172550-E933-8167-0222-DD1326B01A64}"/>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40478187-E2B9-385E-A350-C3EAF7AF28EC}"/>
              </a:ext>
            </a:extLst>
          </p:cNvPr>
          <p:cNvSpPr>
            <a:spLocks noGrp="1"/>
          </p:cNvSpPr>
          <p:nvPr>
            <p:ph sz="quarter" idx="11"/>
          </p:nvPr>
        </p:nvSpPr>
        <p:spPr>
          <a:xfrm>
            <a:off x="368300" y="3482975"/>
            <a:ext cx="3746500" cy="248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8905228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062"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67127"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0423"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8340"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51A35449-0894-A02C-8F55-DCFAB1AE42A2}"/>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EAA4954E-F516-8DC7-20A3-B649BF255769}"/>
              </a:ext>
            </a:extLst>
          </p:cNvPr>
          <p:cNvSpPr>
            <a:spLocks noGrp="1"/>
          </p:cNvSpPr>
          <p:nvPr>
            <p:ph sz="quarter" idx="24"/>
          </p:nvPr>
        </p:nvSpPr>
        <p:spPr>
          <a:xfrm>
            <a:off x="368300" y="4518025"/>
            <a:ext cx="2696610" cy="1562100"/>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p:txBody>
      </p:sp>
      <p:sp>
        <p:nvSpPr>
          <p:cNvPr id="9" name="Content Placeholder 7">
            <a:extLst>
              <a:ext uri="{FF2B5EF4-FFF2-40B4-BE49-F238E27FC236}">
                <a16:creationId xmlns:a16="http://schemas.microsoft.com/office/drawing/2014/main" id="{B8FE92CD-7709-9DB8-6AAE-AA80F067440B}"/>
              </a:ext>
            </a:extLst>
          </p:cNvPr>
          <p:cNvSpPr>
            <a:spLocks noGrp="1"/>
          </p:cNvSpPr>
          <p:nvPr>
            <p:ph sz="quarter" idx="25"/>
          </p:nvPr>
        </p:nvSpPr>
        <p:spPr>
          <a:xfrm>
            <a:off x="3267127" y="4518025"/>
            <a:ext cx="2696610" cy="1562100"/>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p:txBody>
      </p:sp>
      <p:sp>
        <p:nvSpPr>
          <p:cNvPr id="10" name="Content Placeholder 7">
            <a:extLst>
              <a:ext uri="{FF2B5EF4-FFF2-40B4-BE49-F238E27FC236}">
                <a16:creationId xmlns:a16="http://schemas.microsoft.com/office/drawing/2014/main" id="{A2951703-E32B-EAF8-80B8-BAFE647F14A4}"/>
              </a:ext>
            </a:extLst>
          </p:cNvPr>
          <p:cNvSpPr>
            <a:spLocks noGrp="1"/>
          </p:cNvSpPr>
          <p:nvPr>
            <p:ph sz="quarter" idx="26"/>
          </p:nvPr>
        </p:nvSpPr>
        <p:spPr>
          <a:xfrm>
            <a:off x="6151846" y="4518025"/>
            <a:ext cx="2696610" cy="1562100"/>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p:txBody>
      </p:sp>
      <p:sp>
        <p:nvSpPr>
          <p:cNvPr id="13" name="Content Placeholder 7">
            <a:extLst>
              <a:ext uri="{FF2B5EF4-FFF2-40B4-BE49-F238E27FC236}">
                <a16:creationId xmlns:a16="http://schemas.microsoft.com/office/drawing/2014/main" id="{66FE3CF3-7037-DD51-3661-1034378DCD33}"/>
              </a:ext>
            </a:extLst>
          </p:cNvPr>
          <p:cNvSpPr>
            <a:spLocks noGrp="1"/>
          </p:cNvSpPr>
          <p:nvPr>
            <p:ph sz="quarter" idx="27"/>
          </p:nvPr>
        </p:nvSpPr>
        <p:spPr>
          <a:xfrm>
            <a:off x="9048340" y="4518025"/>
            <a:ext cx="2696610" cy="1562100"/>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p:txBody>
      </p:sp>
    </p:spTree>
    <p:extLst>
      <p:ext uri="{BB962C8B-B14F-4D97-AF65-F5344CB8AC3E}">
        <p14:creationId xmlns:p14="http://schemas.microsoft.com/office/powerpoint/2010/main" val="263489723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586" y="1924016"/>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68300" y="4012229"/>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5682" y="1927615"/>
            <a:ext cx="2696610" cy="1927865"/>
          </a:xfrm>
          <a:solidFill>
            <a:schemeClr val="bg1">
              <a:lumMod val="85000"/>
            </a:schemeClr>
          </a:solidFill>
        </p:spPr>
        <p:txBody>
          <a:bodyPr tIns="365760"/>
          <a:lstStyle>
            <a:lvl1pPr algn="ctr">
              <a:defRPr/>
            </a:lvl1pPr>
          </a:lstStyle>
          <a:p>
            <a:r>
              <a:rPr lang="en-US" dirty="0"/>
              <a:t>Click icon to add picture</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5682" y="4006850"/>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DA84C67F-7F12-B485-C133-367619428FBC}"/>
              </a:ext>
            </a:extLst>
          </p:cNvPr>
          <p:cNvSpPr>
            <a:spLocks noGrp="1"/>
          </p:cNvSpPr>
          <p:nvPr>
            <p:ph type="title"/>
          </p:nvPr>
        </p:nvSpPr>
        <p:spPr/>
        <p:txBody>
          <a:bodyPr/>
          <a:lstStyle/>
          <a:p>
            <a:r>
              <a:rPr lang="en-GB"/>
              <a:t>Click to edit Master title style</a:t>
            </a:r>
          </a:p>
        </p:txBody>
      </p:sp>
      <p:sp>
        <p:nvSpPr>
          <p:cNvPr id="13" name="Content Placeholder 12">
            <a:extLst>
              <a:ext uri="{FF2B5EF4-FFF2-40B4-BE49-F238E27FC236}">
                <a16:creationId xmlns:a16="http://schemas.microsoft.com/office/drawing/2014/main" id="{C4995FEB-FD4F-B089-F6E6-2920F4574AB5}"/>
              </a:ext>
            </a:extLst>
          </p:cNvPr>
          <p:cNvSpPr>
            <a:spLocks noGrp="1"/>
          </p:cNvSpPr>
          <p:nvPr>
            <p:ph sz="quarter" idx="28"/>
          </p:nvPr>
        </p:nvSpPr>
        <p:spPr>
          <a:xfrm>
            <a:off x="3257550" y="1924016"/>
            <a:ext cx="2784475" cy="1965325"/>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Content Placeholder 12">
            <a:extLst>
              <a:ext uri="{FF2B5EF4-FFF2-40B4-BE49-F238E27FC236}">
                <a16:creationId xmlns:a16="http://schemas.microsoft.com/office/drawing/2014/main" id="{27422C95-30AE-DA35-26C7-4D859468EE89}"/>
              </a:ext>
            </a:extLst>
          </p:cNvPr>
          <p:cNvSpPr>
            <a:spLocks noGrp="1"/>
          </p:cNvSpPr>
          <p:nvPr>
            <p:ph sz="quarter" idx="29"/>
          </p:nvPr>
        </p:nvSpPr>
        <p:spPr>
          <a:xfrm>
            <a:off x="3257550" y="4006850"/>
            <a:ext cx="2784475" cy="1965325"/>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7" name="Content Placeholder 12">
            <a:extLst>
              <a:ext uri="{FF2B5EF4-FFF2-40B4-BE49-F238E27FC236}">
                <a16:creationId xmlns:a16="http://schemas.microsoft.com/office/drawing/2014/main" id="{EB8C9608-59D0-BF46-B719-9598B6A020EF}"/>
              </a:ext>
            </a:extLst>
          </p:cNvPr>
          <p:cNvSpPr>
            <a:spLocks noGrp="1"/>
          </p:cNvSpPr>
          <p:nvPr>
            <p:ph sz="quarter" idx="30"/>
          </p:nvPr>
        </p:nvSpPr>
        <p:spPr>
          <a:xfrm>
            <a:off x="9045164" y="1924016"/>
            <a:ext cx="2784475" cy="1965325"/>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8" name="Content Placeholder 12">
            <a:extLst>
              <a:ext uri="{FF2B5EF4-FFF2-40B4-BE49-F238E27FC236}">
                <a16:creationId xmlns:a16="http://schemas.microsoft.com/office/drawing/2014/main" id="{83B437C6-3E7C-2B00-379C-58EBBE522843}"/>
              </a:ext>
            </a:extLst>
          </p:cNvPr>
          <p:cNvSpPr>
            <a:spLocks noGrp="1"/>
          </p:cNvSpPr>
          <p:nvPr>
            <p:ph sz="quarter" idx="31"/>
          </p:nvPr>
        </p:nvSpPr>
        <p:spPr>
          <a:xfrm>
            <a:off x="9045164" y="4006850"/>
            <a:ext cx="2784475" cy="1965325"/>
          </a:xfrm>
        </p:spPr>
        <p:txBody>
          <a:bodyPr/>
          <a:lstStyle>
            <a:lvl2pPr>
              <a:defRPr>
                <a:latin typeface="+mj-lt"/>
              </a:defRPr>
            </a:lvl2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323425220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9049CDF5-8A8F-79F6-E93E-E0A712397C7E}"/>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80565466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94068750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957033"/>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3230846617"/>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37006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2212813203"/>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157"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30530"/>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70157"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1408536047"/>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370062" y="373155"/>
            <a:ext cx="11453638" cy="3516220"/>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4437010"/>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5493"/>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3771145099"/>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6" name="TextBox 5">
            <a:extLst>
              <a:ext uri="{FF2B5EF4-FFF2-40B4-BE49-F238E27FC236}">
                <a16:creationId xmlns:a16="http://schemas.microsoft.com/office/drawing/2014/main" id="{0556A229-FEBB-D152-453C-CB7311E22927}"/>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
        <p:nvSpPr>
          <p:cNvPr id="4" name="Title 3">
            <a:extLst>
              <a:ext uri="{FF2B5EF4-FFF2-40B4-BE49-F238E27FC236}">
                <a16:creationId xmlns:a16="http://schemas.microsoft.com/office/drawing/2014/main" id="{04760CE5-544A-F30C-8082-D31FCC54B7F2}"/>
              </a:ext>
            </a:extLst>
          </p:cNvPr>
          <p:cNvSpPr>
            <a:spLocks noGrp="1"/>
          </p:cNvSpPr>
          <p:nvPr>
            <p:ph type="title"/>
          </p:nvPr>
        </p:nvSpPr>
        <p:spPr/>
        <p:txBody>
          <a:bodyPr/>
          <a:lstStyle/>
          <a:p>
            <a:r>
              <a:rPr lang="en-GB"/>
              <a:t>Click to edit Master title style</a:t>
            </a:r>
          </a:p>
        </p:txBody>
      </p:sp>
      <p:sp>
        <p:nvSpPr>
          <p:cNvPr id="7" name="Content Placeholder 6">
            <a:extLst>
              <a:ext uri="{FF2B5EF4-FFF2-40B4-BE49-F238E27FC236}">
                <a16:creationId xmlns:a16="http://schemas.microsoft.com/office/drawing/2014/main" id="{B125B3EF-B02C-F8B5-CF3D-C9F9193AA5BE}"/>
              </a:ext>
            </a:extLst>
          </p:cNvPr>
          <p:cNvSpPr>
            <a:spLocks noGrp="1"/>
          </p:cNvSpPr>
          <p:nvPr>
            <p:ph sz="quarter" idx="10"/>
          </p:nvPr>
        </p:nvSpPr>
        <p:spPr>
          <a:xfrm>
            <a:off x="368300" y="1924050"/>
            <a:ext cx="8523288" cy="4048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8016881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03.xml"/><Relationship Id="rId21" Type="http://schemas.openxmlformats.org/officeDocument/2006/relationships/slideLayout" Target="../slideLayouts/slideLayout98.xml"/><Relationship Id="rId42" Type="http://schemas.openxmlformats.org/officeDocument/2006/relationships/slideLayout" Target="../slideLayouts/slideLayout119.xml"/><Relationship Id="rId47" Type="http://schemas.openxmlformats.org/officeDocument/2006/relationships/slideLayout" Target="../slideLayouts/slideLayout124.xml"/><Relationship Id="rId63" Type="http://schemas.openxmlformats.org/officeDocument/2006/relationships/slideLayout" Target="../slideLayouts/slideLayout140.xml"/><Relationship Id="rId68" Type="http://schemas.openxmlformats.org/officeDocument/2006/relationships/slideLayout" Target="../slideLayouts/slideLayout145.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9" Type="http://schemas.openxmlformats.org/officeDocument/2006/relationships/slideLayout" Target="../slideLayouts/slideLayout106.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32" Type="http://schemas.openxmlformats.org/officeDocument/2006/relationships/slideLayout" Target="../slideLayouts/slideLayout109.xml"/><Relationship Id="rId37" Type="http://schemas.openxmlformats.org/officeDocument/2006/relationships/slideLayout" Target="../slideLayouts/slideLayout114.xml"/><Relationship Id="rId40" Type="http://schemas.openxmlformats.org/officeDocument/2006/relationships/slideLayout" Target="../slideLayouts/slideLayout117.xml"/><Relationship Id="rId45" Type="http://schemas.openxmlformats.org/officeDocument/2006/relationships/slideLayout" Target="../slideLayouts/slideLayout122.xml"/><Relationship Id="rId53" Type="http://schemas.openxmlformats.org/officeDocument/2006/relationships/slideLayout" Target="../slideLayouts/slideLayout130.xml"/><Relationship Id="rId58" Type="http://schemas.openxmlformats.org/officeDocument/2006/relationships/slideLayout" Target="../slideLayouts/slideLayout135.xml"/><Relationship Id="rId66" Type="http://schemas.openxmlformats.org/officeDocument/2006/relationships/slideLayout" Target="../slideLayouts/slideLayout143.xml"/><Relationship Id="rId5" Type="http://schemas.openxmlformats.org/officeDocument/2006/relationships/slideLayout" Target="../slideLayouts/slideLayout82.xml"/><Relationship Id="rId61" Type="http://schemas.openxmlformats.org/officeDocument/2006/relationships/slideLayout" Target="../slideLayouts/slideLayout138.xml"/><Relationship Id="rId19" Type="http://schemas.openxmlformats.org/officeDocument/2006/relationships/slideLayout" Target="../slideLayouts/slideLayout9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slideLayout" Target="../slideLayouts/slideLayout107.xml"/><Relationship Id="rId35" Type="http://schemas.openxmlformats.org/officeDocument/2006/relationships/slideLayout" Target="../slideLayouts/slideLayout112.xml"/><Relationship Id="rId43" Type="http://schemas.openxmlformats.org/officeDocument/2006/relationships/slideLayout" Target="../slideLayouts/slideLayout120.xml"/><Relationship Id="rId48" Type="http://schemas.openxmlformats.org/officeDocument/2006/relationships/slideLayout" Target="../slideLayouts/slideLayout125.xml"/><Relationship Id="rId56" Type="http://schemas.openxmlformats.org/officeDocument/2006/relationships/slideLayout" Target="../slideLayouts/slideLayout133.xml"/><Relationship Id="rId64" Type="http://schemas.openxmlformats.org/officeDocument/2006/relationships/slideLayout" Target="../slideLayouts/slideLayout141.xml"/><Relationship Id="rId69" Type="http://schemas.openxmlformats.org/officeDocument/2006/relationships/slideLayout" Target="../slideLayouts/slideLayout146.xml"/><Relationship Id="rId8" Type="http://schemas.openxmlformats.org/officeDocument/2006/relationships/slideLayout" Target="../slideLayouts/slideLayout85.xml"/><Relationship Id="rId51" Type="http://schemas.openxmlformats.org/officeDocument/2006/relationships/slideLayout" Target="../slideLayouts/slideLayout128.xml"/><Relationship Id="rId72" Type="http://schemas.openxmlformats.org/officeDocument/2006/relationships/slideLayout" Target="../slideLayouts/slideLayout149.xml"/><Relationship Id="rId3" Type="http://schemas.openxmlformats.org/officeDocument/2006/relationships/slideLayout" Target="../slideLayouts/slideLayout80.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33" Type="http://schemas.openxmlformats.org/officeDocument/2006/relationships/slideLayout" Target="../slideLayouts/slideLayout110.xml"/><Relationship Id="rId38" Type="http://schemas.openxmlformats.org/officeDocument/2006/relationships/slideLayout" Target="../slideLayouts/slideLayout115.xml"/><Relationship Id="rId46" Type="http://schemas.openxmlformats.org/officeDocument/2006/relationships/slideLayout" Target="../slideLayouts/slideLayout123.xml"/><Relationship Id="rId59" Type="http://schemas.openxmlformats.org/officeDocument/2006/relationships/slideLayout" Target="../slideLayouts/slideLayout136.xml"/><Relationship Id="rId67" Type="http://schemas.openxmlformats.org/officeDocument/2006/relationships/slideLayout" Target="../slideLayouts/slideLayout144.xml"/><Relationship Id="rId20" Type="http://schemas.openxmlformats.org/officeDocument/2006/relationships/slideLayout" Target="../slideLayouts/slideLayout97.xml"/><Relationship Id="rId41" Type="http://schemas.openxmlformats.org/officeDocument/2006/relationships/slideLayout" Target="../slideLayouts/slideLayout118.xml"/><Relationship Id="rId54" Type="http://schemas.openxmlformats.org/officeDocument/2006/relationships/slideLayout" Target="../slideLayouts/slideLayout131.xml"/><Relationship Id="rId62" Type="http://schemas.openxmlformats.org/officeDocument/2006/relationships/slideLayout" Target="../slideLayouts/slideLayout139.xml"/><Relationship Id="rId70" Type="http://schemas.openxmlformats.org/officeDocument/2006/relationships/slideLayout" Target="../slideLayouts/slideLayout147.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36" Type="http://schemas.openxmlformats.org/officeDocument/2006/relationships/slideLayout" Target="../slideLayouts/slideLayout113.xml"/><Relationship Id="rId49" Type="http://schemas.openxmlformats.org/officeDocument/2006/relationships/slideLayout" Target="../slideLayouts/slideLayout126.xml"/><Relationship Id="rId57" Type="http://schemas.openxmlformats.org/officeDocument/2006/relationships/slideLayout" Target="../slideLayouts/slideLayout134.xml"/><Relationship Id="rId10" Type="http://schemas.openxmlformats.org/officeDocument/2006/relationships/slideLayout" Target="../slideLayouts/slideLayout87.xml"/><Relationship Id="rId31" Type="http://schemas.openxmlformats.org/officeDocument/2006/relationships/slideLayout" Target="../slideLayouts/slideLayout108.xml"/><Relationship Id="rId44" Type="http://schemas.openxmlformats.org/officeDocument/2006/relationships/slideLayout" Target="../slideLayouts/slideLayout121.xml"/><Relationship Id="rId52" Type="http://schemas.openxmlformats.org/officeDocument/2006/relationships/slideLayout" Target="../slideLayouts/slideLayout129.xml"/><Relationship Id="rId60" Type="http://schemas.openxmlformats.org/officeDocument/2006/relationships/slideLayout" Target="../slideLayouts/slideLayout137.xml"/><Relationship Id="rId65" Type="http://schemas.openxmlformats.org/officeDocument/2006/relationships/slideLayout" Target="../slideLayouts/slideLayout142.xml"/><Relationship Id="rId73" Type="http://schemas.openxmlformats.org/officeDocument/2006/relationships/theme" Target="../theme/theme2.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9" Type="http://schemas.openxmlformats.org/officeDocument/2006/relationships/slideLayout" Target="../slideLayouts/slideLayout116.xml"/><Relationship Id="rId34" Type="http://schemas.openxmlformats.org/officeDocument/2006/relationships/slideLayout" Target="../slideLayouts/slideLayout111.xml"/><Relationship Id="rId50" Type="http://schemas.openxmlformats.org/officeDocument/2006/relationships/slideLayout" Target="../slideLayouts/slideLayout127.xml"/><Relationship Id="rId55" Type="http://schemas.openxmlformats.org/officeDocument/2006/relationships/slideLayout" Target="../slideLayouts/slideLayout132.xml"/><Relationship Id="rId7" Type="http://schemas.openxmlformats.org/officeDocument/2006/relationships/slideLayout" Target="../slideLayouts/slideLayout84.xml"/><Relationship Id="rId71" Type="http://schemas.openxmlformats.org/officeDocument/2006/relationships/slideLayout" Target="../slideLayouts/slideLayout1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402335" y="402336"/>
            <a:ext cx="11399691"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402336"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GB"/>
              <a:t>Proposal for Global Payments Prague Shared Service Center Transformation</a:t>
            </a:r>
            <a:endParaRPr lang="en-US"/>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405651436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 id="2147483799" r:id="rId35"/>
    <p:sldLayoutId id="2147483800" r:id="rId36"/>
    <p:sldLayoutId id="2147483801" r:id="rId37"/>
    <p:sldLayoutId id="2147483802" r:id="rId38"/>
    <p:sldLayoutId id="2147483803" r:id="rId39"/>
    <p:sldLayoutId id="2147483804" r:id="rId40"/>
    <p:sldLayoutId id="2147483805" r:id="rId41"/>
    <p:sldLayoutId id="2147483806" r:id="rId42"/>
    <p:sldLayoutId id="2147483807" r:id="rId43"/>
    <p:sldLayoutId id="2147483808" r:id="rId44"/>
    <p:sldLayoutId id="2147483809" r:id="rId45"/>
    <p:sldLayoutId id="2147483810" r:id="rId46"/>
    <p:sldLayoutId id="2147483811" r:id="rId47"/>
    <p:sldLayoutId id="2147483812" r:id="rId48"/>
    <p:sldLayoutId id="2147483813" r:id="rId49"/>
    <p:sldLayoutId id="2147483814" r:id="rId50"/>
    <p:sldLayoutId id="2147483815" r:id="rId51"/>
    <p:sldLayoutId id="2147483816" r:id="rId52"/>
    <p:sldLayoutId id="2147483817" r:id="rId53"/>
    <p:sldLayoutId id="2147483818" r:id="rId54"/>
    <p:sldLayoutId id="2147483819" r:id="rId55"/>
    <p:sldLayoutId id="2147483820" r:id="rId56"/>
    <p:sldLayoutId id="2147483821" r:id="rId57"/>
    <p:sldLayoutId id="2147483822" r:id="rId58"/>
    <p:sldLayoutId id="2147483823" r:id="rId59"/>
    <p:sldLayoutId id="2147483824" r:id="rId60"/>
    <p:sldLayoutId id="2147483825" r:id="rId61"/>
    <p:sldLayoutId id="2147483826" r:id="rId62"/>
    <p:sldLayoutId id="2147483827" r:id="rId63"/>
    <p:sldLayoutId id="2147483828" r:id="rId64"/>
    <p:sldLayoutId id="2147483829" r:id="rId65"/>
    <p:sldLayoutId id="2147483830" r:id="rId66"/>
    <p:sldLayoutId id="2147483831" r:id="rId67"/>
    <p:sldLayoutId id="2147483832" r:id="rId68"/>
    <p:sldLayoutId id="2147483833" r:id="rId69"/>
    <p:sldLayoutId id="2147483834" r:id="rId70"/>
    <p:sldLayoutId id="2147483835" r:id="rId71"/>
    <p:sldLayoutId id="2147483836" r:id="rId72"/>
    <p:sldLayoutId id="2147483837" r:id="rId73"/>
    <p:sldLayoutId id="2147483838" r:id="rId74"/>
    <p:sldLayoutId id="2147483839" r:id="rId75"/>
    <p:sldLayoutId id="2147483841" r:id="rId76"/>
    <p:sldLayoutId id="2147483842" r:id="rId77"/>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p15:clr>
            <a:srgbClr val="F26B43"/>
          </p15:clr>
        </p15:guide>
        <p15:guide id="3" pos="252">
          <p15:clr>
            <a:srgbClr val="F26B43"/>
          </p15:clr>
        </p15:guide>
        <p15:guide id="4" pos="7434">
          <p15:clr>
            <a:srgbClr val="F26B43"/>
          </p15:clr>
        </p15:guide>
        <p15:guide id="11" orient="horz" pos="4065">
          <p15:clr>
            <a:srgbClr val="F26B43"/>
          </p15:clr>
        </p15:guide>
        <p15:guide id="12" pos="786">
          <p15:clr>
            <a:srgbClr val="F26B43"/>
          </p15:clr>
        </p15:guide>
        <p15:guide id="13" pos="858">
          <p15:clr>
            <a:srgbClr val="F26B43"/>
          </p15:clr>
        </p15:guide>
        <p15:guide id="14" pos="1391">
          <p15:clr>
            <a:srgbClr val="F26B43"/>
          </p15:clr>
        </p15:guide>
        <p15:guide id="15" pos="1461">
          <p15:clr>
            <a:srgbClr val="F26B43"/>
          </p15:clr>
        </p15:guide>
        <p15:guide id="16" pos="1994">
          <p15:clr>
            <a:srgbClr val="F26B43"/>
          </p15:clr>
        </p15:guide>
        <p15:guide id="17" pos="2067">
          <p15:clr>
            <a:srgbClr val="F26B43"/>
          </p15:clr>
        </p15:guide>
        <p15:guide id="18" pos="2600">
          <p15:clr>
            <a:srgbClr val="F26B43"/>
          </p15:clr>
        </p15:guide>
        <p15:guide id="19" pos="2670">
          <p15:clr>
            <a:srgbClr val="F26B43"/>
          </p15:clr>
        </p15:guide>
        <p15:guide id="20" pos="3204">
          <p15:clr>
            <a:srgbClr val="F26B43"/>
          </p15:clr>
        </p15:guide>
        <p15:guide id="21" pos="3275">
          <p15:clr>
            <a:srgbClr val="F26B43"/>
          </p15:clr>
        </p15:guide>
        <p15:guide id="22" pos="3807">
          <p15:clr>
            <a:srgbClr val="F26B43"/>
          </p15:clr>
        </p15:guide>
        <p15:guide id="23" pos="3879">
          <p15:clr>
            <a:srgbClr val="F26B43"/>
          </p15:clr>
        </p15:guide>
        <p15:guide id="24" pos="4412">
          <p15:clr>
            <a:srgbClr val="F26B43"/>
          </p15:clr>
        </p15:guide>
        <p15:guide id="25" pos="5016">
          <p15:clr>
            <a:srgbClr val="F26B43"/>
          </p15:clr>
        </p15:guide>
        <p15:guide id="26" pos="4484">
          <p15:clr>
            <a:srgbClr val="F26B43"/>
          </p15:clr>
        </p15:guide>
        <p15:guide id="27" pos="5088">
          <p15:clr>
            <a:srgbClr val="F26B43"/>
          </p15:clr>
        </p15:guide>
        <p15:guide id="28" pos="5621">
          <p15:clr>
            <a:srgbClr val="F26B43"/>
          </p15:clr>
        </p15:guide>
        <p15:guide id="29" pos="5693">
          <p15:clr>
            <a:srgbClr val="F26B43"/>
          </p15:clr>
        </p15:guide>
        <p15:guide id="30" pos="6224">
          <p15:clr>
            <a:srgbClr val="F26B43"/>
          </p15:clr>
        </p15:guide>
        <p15:guide id="31" pos="6297">
          <p15:clr>
            <a:srgbClr val="F26B43"/>
          </p15:clr>
        </p15:guide>
        <p15:guide id="32" pos="6828">
          <p15:clr>
            <a:srgbClr val="F26B43"/>
          </p15:clr>
        </p15:guide>
        <p15:guide id="33" pos="6900">
          <p15:clr>
            <a:srgbClr val="F26B43"/>
          </p15:clr>
        </p15:guide>
        <p15:guide id="34" orient="horz" pos="506">
          <p15:clr>
            <a:srgbClr val="F26B43"/>
          </p15:clr>
        </p15:guide>
        <p15:guide id="35" orient="horz" pos="578">
          <p15:clr>
            <a:srgbClr val="F26B43"/>
          </p15:clr>
        </p15:guide>
        <p15:guide id="36" orient="horz" pos="830">
          <p15:clr>
            <a:srgbClr val="F26B43"/>
          </p15:clr>
        </p15:guide>
        <p15:guide id="37" orient="horz" pos="900">
          <p15:clr>
            <a:srgbClr val="F26B43"/>
          </p15:clr>
        </p15:guide>
        <p15:guide id="38" orient="horz" pos="1152">
          <p15:clr>
            <a:srgbClr val="F26B43"/>
          </p15:clr>
        </p15:guide>
        <p15:guide id="39" orient="horz" pos="1226">
          <p15:clr>
            <a:srgbClr val="F26B43"/>
          </p15:clr>
        </p15:guide>
        <p15:guide id="40" orient="horz" pos="1476">
          <p15:clr>
            <a:srgbClr val="F26B43"/>
          </p15:clr>
        </p15:guide>
        <p15:guide id="41" orient="horz" pos="1800">
          <p15:clr>
            <a:srgbClr val="F26B43"/>
          </p15:clr>
        </p15:guide>
        <p15:guide id="42" orient="horz" pos="1872">
          <p15:clr>
            <a:srgbClr val="F26B43"/>
          </p15:clr>
        </p15:guide>
        <p15:guide id="43" orient="horz" pos="2123">
          <p15:clr>
            <a:srgbClr val="F26B43"/>
          </p15:clr>
        </p15:guide>
        <p15:guide id="44" orient="horz" pos="2195">
          <p15:clr>
            <a:srgbClr val="F26B43"/>
          </p15:clr>
        </p15:guide>
        <p15:guide id="45" orient="horz" pos="2447">
          <p15:clr>
            <a:srgbClr val="F26B43"/>
          </p15:clr>
        </p15:guide>
        <p15:guide id="46" orient="horz" pos="2519">
          <p15:clr>
            <a:srgbClr val="F26B43"/>
          </p15:clr>
        </p15:guide>
        <p15:guide id="47" orient="horz" pos="2771">
          <p15:clr>
            <a:srgbClr val="F26B43"/>
          </p15:clr>
        </p15:guide>
        <p15:guide id="48" orient="horz" pos="2843">
          <p15:clr>
            <a:srgbClr val="F26B43"/>
          </p15:clr>
        </p15:guide>
        <p15:guide id="49" orient="horz" pos="3095">
          <p15:clr>
            <a:srgbClr val="F26B43"/>
          </p15:clr>
        </p15:guide>
        <p15:guide id="50" orient="horz" pos="3167">
          <p15:clr>
            <a:srgbClr val="F26B43"/>
          </p15:clr>
        </p15:guide>
        <p15:guide id="51" orient="horz" pos="3417">
          <p15:clr>
            <a:srgbClr val="F26B43"/>
          </p15:clr>
        </p15:guide>
        <p15:guide id="52" orient="horz" pos="3489">
          <p15:clr>
            <a:srgbClr val="F26B43"/>
          </p15:clr>
        </p15:guide>
        <p15:guide id="53" orient="horz" pos="3741">
          <p15:clr>
            <a:srgbClr val="F26B43"/>
          </p15:clr>
        </p15:guide>
        <p15:guide id="54" orient="horz" pos="3813">
          <p15:clr>
            <a:srgbClr val="F26B43"/>
          </p15:clr>
        </p15:guide>
        <p15:guide id="55" orient="horz" pos="15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109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dirty="0"/>
              <a:t>Presentation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1091"/>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94440505"/>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 id="2147483861"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82" r:id="rId39"/>
    <p:sldLayoutId id="2147483883" r:id="rId40"/>
    <p:sldLayoutId id="2147483884" r:id="rId41"/>
    <p:sldLayoutId id="2147483885" r:id="rId42"/>
    <p:sldLayoutId id="2147483886" r:id="rId43"/>
    <p:sldLayoutId id="2147483887" r:id="rId44"/>
    <p:sldLayoutId id="2147483888" r:id="rId45"/>
    <p:sldLayoutId id="2147483889" r:id="rId46"/>
    <p:sldLayoutId id="2147483890" r:id="rId47"/>
    <p:sldLayoutId id="2147483891" r:id="rId48"/>
    <p:sldLayoutId id="2147483892" r:id="rId49"/>
    <p:sldLayoutId id="2147483893" r:id="rId50"/>
    <p:sldLayoutId id="2147483894" r:id="rId51"/>
    <p:sldLayoutId id="2147483895" r:id="rId52"/>
    <p:sldLayoutId id="2147483896" r:id="rId53"/>
    <p:sldLayoutId id="2147483897" r:id="rId54"/>
    <p:sldLayoutId id="2147483898" r:id="rId55"/>
    <p:sldLayoutId id="2147483899" r:id="rId56"/>
    <p:sldLayoutId id="2147483900" r:id="rId57"/>
    <p:sldLayoutId id="2147483901" r:id="rId58"/>
    <p:sldLayoutId id="2147483902" r:id="rId59"/>
    <p:sldLayoutId id="2147483903" r:id="rId60"/>
    <p:sldLayoutId id="2147483904" r:id="rId61"/>
    <p:sldLayoutId id="2147483905" r:id="rId62"/>
    <p:sldLayoutId id="2147483906" r:id="rId63"/>
    <p:sldLayoutId id="2147483907" r:id="rId64"/>
    <p:sldLayoutId id="2147483908" r:id="rId65"/>
    <p:sldLayoutId id="2147483909" r:id="rId66"/>
    <p:sldLayoutId id="2147483910" r:id="rId67"/>
    <p:sldLayoutId id="2147483911" r:id="rId68"/>
    <p:sldLayoutId id="2147483912" r:id="rId69"/>
    <p:sldLayoutId id="2147483913" r:id="rId70"/>
    <p:sldLayoutId id="2147483914" r:id="rId71"/>
    <p:sldLayoutId id="2147483915" r:id="rId72"/>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3" pos="232">
          <p15:clr>
            <a:srgbClr val="F26B43"/>
          </p15:clr>
        </p15:guide>
        <p15:guide id="4" pos="7448">
          <p15:clr>
            <a:srgbClr val="F26B43"/>
          </p15:clr>
        </p15:guide>
        <p15:guide id="11" orient="horz" pos="4088">
          <p15:clr>
            <a:srgbClr val="F26B43"/>
          </p15:clr>
        </p15:guide>
        <p15:guide id="12" pos="778">
          <p15:clr>
            <a:srgbClr val="F26B43"/>
          </p15:clr>
        </p15:guide>
        <p15:guide id="13" pos="840">
          <p15:clr>
            <a:srgbClr val="F26B43"/>
          </p15:clr>
        </p15:guide>
        <p15:guide id="14" pos="1378">
          <p15:clr>
            <a:srgbClr val="F26B43"/>
          </p15:clr>
        </p15:guide>
        <p15:guide id="15" pos="1446">
          <p15:clr>
            <a:srgbClr val="F26B43"/>
          </p15:clr>
        </p15:guide>
        <p15:guide id="16" pos="1986">
          <p15:clr>
            <a:srgbClr val="F26B43"/>
          </p15:clr>
        </p15:guide>
        <p15:guide id="17" pos="2052">
          <p15:clr>
            <a:srgbClr val="F26B43"/>
          </p15:clr>
        </p15:guide>
        <p15:guide id="18" pos="2592">
          <p15:clr>
            <a:srgbClr val="F26B43"/>
          </p15:clr>
        </p15:guide>
        <p15:guide id="19" pos="2662">
          <p15:clr>
            <a:srgbClr val="F26B43"/>
          </p15:clr>
        </p15:guide>
        <p15:guide id="20" pos="3200">
          <p15:clr>
            <a:srgbClr val="F26B43"/>
          </p15:clr>
        </p15:guide>
        <p15:guide id="21" pos="3266">
          <p15:clr>
            <a:srgbClr val="F26B43"/>
          </p15:clr>
        </p15:guide>
        <p15:guide id="22" pos="3806">
          <p15:clr>
            <a:srgbClr val="F26B43"/>
          </p15:clr>
        </p15:guide>
        <p15:guide id="23" pos="3874">
          <p15:clr>
            <a:srgbClr val="F26B43"/>
          </p15:clr>
        </p15:guide>
        <p15:guide id="24" pos="4414">
          <p15:clr>
            <a:srgbClr val="F26B43"/>
          </p15:clr>
        </p15:guide>
        <p15:guide id="25" pos="5018">
          <p15:clr>
            <a:srgbClr val="F26B43"/>
          </p15:clr>
        </p15:guide>
        <p15:guide id="26" pos="4480">
          <p15:clr>
            <a:srgbClr val="F26B43"/>
          </p15:clr>
        </p15:guide>
        <p15:guide id="27" pos="5086">
          <p15:clr>
            <a:srgbClr val="F26B43"/>
          </p15:clr>
        </p15:guide>
        <p15:guide id="28" pos="5626">
          <p15:clr>
            <a:srgbClr val="F26B43"/>
          </p15:clr>
        </p15:guide>
        <p15:guide id="29" pos="5694">
          <p15:clr>
            <a:srgbClr val="F26B43"/>
          </p15:clr>
        </p15:guide>
        <p15:guide id="30" pos="6232">
          <p15:clr>
            <a:srgbClr val="F26B43"/>
          </p15:clr>
        </p15:guide>
        <p15:guide id="31" pos="6300">
          <p15:clr>
            <a:srgbClr val="F26B43"/>
          </p15:clr>
        </p15:guide>
        <p15:guide id="32" pos="6840">
          <p15:clr>
            <a:srgbClr val="F26B43"/>
          </p15:clr>
        </p15:guide>
        <p15:guide id="33" pos="6908">
          <p15:clr>
            <a:srgbClr val="F26B43"/>
          </p15:clr>
        </p15:guide>
        <p15:guide id="34" orient="horz" pos="488">
          <p15:clr>
            <a:srgbClr val="F26B43"/>
          </p15:clr>
        </p15:guide>
        <p15:guide id="35" orient="horz" pos="560">
          <p15:clr>
            <a:srgbClr val="F26B43"/>
          </p15:clr>
        </p15:guide>
        <p15:guide id="36" orient="horz" pos="816">
          <p15:clr>
            <a:srgbClr val="F26B43"/>
          </p15:clr>
        </p15:guide>
        <p15:guide id="37" orient="horz" pos="886">
          <p15:clr>
            <a:srgbClr val="F26B43"/>
          </p15:clr>
        </p15:guide>
        <p15:guide id="38" orient="horz" pos="1144">
          <p15:clr>
            <a:srgbClr val="F26B43"/>
          </p15:clr>
        </p15:guide>
        <p15:guide id="39" orient="horz" pos="1212">
          <p15:clr>
            <a:srgbClr val="F26B43"/>
          </p15:clr>
        </p15:guide>
        <p15:guide id="40" orient="horz" pos="1472">
          <p15:clr>
            <a:srgbClr val="F26B43"/>
          </p15:clr>
        </p15:guide>
        <p15:guide id="41" orient="horz" pos="1798">
          <p15:clr>
            <a:srgbClr val="F26B43"/>
          </p15:clr>
        </p15:guide>
        <p15:guide id="42" orient="horz" pos="1864">
          <p15:clr>
            <a:srgbClr val="F26B43"/>
          </p15:clr>
        </p15:guide>
        <p15:guide id="43" orient="horz" pos="2124">
          <p15:clr>
            <a:srgbClr val="F26B43"/>
          </p15:clr>
        </p15:guide>
        <p15:guide id="44" orient="horz" pos="2194">
          <p15:clr>
            <a:srgbClr val="F26B43"/>
          </p15:clr>
        </p15:guide>
        <p15:guide id="45" orient="horz" pos="2450">
          <p15:clr>
            <a:srgbClr val="F26B43"/>
          </p15:clr>
        </p15:guide>
        <p15:guide id="46" orient="horz" pos="2520">
          <p15:clr>
            <a:srgbClr val="F26B43"/>
          </p15:clr>
        </p15:guide>
        <p15:guide id="47" orient="horz" pos="2778">
          <p15:clr>
            <a:srgbClr val="F26B43"/>
          </p15:clr>
        </p15:guide>
        <p15:guide id="48" orient="horz" pos="2846">
          <p15:clr>
            <a:srgbClr val="F26B43"/>
          </p15:clr>
        </p15:guide>
        <p15:guide id="49" orient="horz" pos="3104">
          <p15:clr>
            <a:srgbClr val="F26B43"/>
          </p15:clr>
        </p15:guide>
        <p15:guide id="50" orient="horz" pos="3174">
          <p15:clr>
            <a:srgbClr val="F26B43"/>
          </p15:clr>
        </p15:guide>
        <p15:guide id="51" orient="horz" pos="3432">
          <p15:clr>
            <a:srgbClr val="F26B43"/>
          </p15:clr>
        </p15:guide>
        <p15:guide id="52" orient="horz" pos="3498">
          <p15:clr>
            <a:srgbClr val="F26B43"/>
          </p15:clr>
        </p15:guide>
        <p15:guide id="53" orient="horz" pos="3762">
          <p15:clr>
            <a:srgbClr val="F26B43"/>
          </p15:clr>
        </p15:guide>
        <p15:guide id="54" orient="horz" pos="3830">
          <p15:clr>
            <a:srgbClr val="F26B43"/>
          </p15:clr>
        </p15:guide>
        <p15:guide id="55" orient="horz" pos="1538">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05_6F36AF5E.xml"/><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68.xml"/><Relationship Id="rId6" Type="http://schemas.openxmlformats.org/officeDocument/2006/relationships/image" Target="../media/image7.jpg"/><Relationship Id="rId5" Type="http://schemas.openxmlformats.org/officeDocument/2006/relationships/hyperlink" Target="http://www.pwc.com/sk" TargetMode="Externa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F0E7_655FD01C.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2" Type="http://schemas.microsoft.com/office/2018/10/relationships/comments" Target="../comments/modernComment_7FFFF0E8_7CB47E9A.xml"/><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68.xml"/><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microsoft.com/office/2018/10/relationships/comments" Target="../comments/modernComment_7FFFF0E5_59886717.xml"/><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8.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23.sv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7FFFF0EA_3EF3BD67.xml"/><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68.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3.svg"/><Relationship Id="rId7" Type="http://schemas.openxmlformats.org/officeDocument/2006/relationships/image" Target="../media/image33.svg"/><Relationship Id="rId2" Type="http://schemas.openxmlformats.org/officeDocument/2006/relationships/image" Target="../media/image22.png"/><Relationship Id="rId1" Type="http://schemas.openxmlformats.org/officeDocument/2006/relationships/slideLayout" Target="../slideLayouts/slideLayout68.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3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6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BF121-4939-9A21-A839-230CC776A674}"/>
              </a:ext>
            </a:extLst>
          </p:cNvPr>
          <p:cNvSpPr>
            <a:spLocks noGrp="1"/>
          </p:cNvSpPr>
          <p:nvPr>
            <p:ph type="ctrTitle"/>
          </p:nvPr>
        </p:nvSpPr>
        <p:spPr>
          <a:xfrm>
            <a:off x="377470" y="1935032"/>
            <a:ext cx="7309205" cy="1828800"/>
          </a:xfrm>
        </p:spPr>
        <p:txBody>
          <a:bodyPr/>
          <a:lstStyle/>
          <a:p>
            <a:r>
              <a:rPr lang="en-GB" dirty="0"/>
              <a:t>Global Payments </a:t>
            </a:r>
            <a:br>
              <a:rPr lang="en-GB" dirty="0"/>
            </a:br>
            <a:r>
              <a:rPr lang="en-GB" dirty="0"/>
              <a:t>Shared Service </a:t>
            </a:r>
            <a:r>
              <a:rPr lang="en-GB" dirty="0" err="1"/>
              <a:t>Center</a:t>
            </a:r>
            <a:r>
              <a:rPr lang="en-GB" dirty="0"/>
              <a:t> Transformation</a:t>
            </a:r>
            <a:endParaRPr lang="en-GB" noProof="0" dirty="0"/>
          </a:p>
        </p:txBody>
      </p:sp>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en-GB" b="1" dirty="0"/>
              <a:t>PwC Slovakia</a:t>
            </a:r>
          </a:p>
          <a:p>
            <a:r>
              <a:rPr lang="en-GB" dirty="0"/>
              <a:t>22. April 2026</a:t>
            </a:r>
          </a:p>
          <a:p>
            <a:endParaRPr lang="en-US" dirty="0"/>
          </a:p>
        </p:txBody>
      </p:sp>
    </p:spTree>
    <p:extLst>
      <p:ext uri="{BB962C8B-B14F-4D97-AF65-F5344CB8AC3E}">
        <p14:creationId xmlns:p14="http://schemas.microsoft.com/office/powerpoint/2010/main" val="1865854814"/>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Shape 407"/>
        <p:cNvGrpSpPr/>
        <p:nvPr/>
      </p:nvGrpSpPr>
      <p:grpSpPr>
        <a:xfrm>
          <a:off x="0" y="0"/>
          <a:ext cx="0" cy="0"/>
          <a:chOff x="0" y="0"/>
          <a:chExt cx="0" cy="0"/>
        </a:xfrm>
      </p:grpSpPr>
      <p:pic>
        <p:nvPicPr>
          <p:cNvPr id="409" name="Google Shape;409;p1"/>
          <p:cNvPicPr preferRelativeResize="0">
            <a:picLocks noChangeAspect="1"/>
          </p:cNvPicPr>
          <p:nvPr/>
        </p:nvPicPr>
        <p:blipFill rotWithShape="1">
          <a:blip r:embed="rId4">
            <a:alphaModFix/>
          </a:blip>
          <a:srcRect l="8739" t="4310" r="8731" b="32588"/>
          <a:stretch>
            <a:fillRect/>
          </a:stretch>
        </p:blipFill>
        <p:spPr>
          <a:xfrm>
            <a:off x="443250" y="601617"/>
            <a:ext cx="1260000" cy="1439341"/>
          </a:xfrm>
          <a:prstGeom prst="rect">
            <a:avLst/>
          </a:prstGeom>
          <a:noFill/>
          <a:ln>
            <a:noFill/>
          </a:ln>
        </p:spPr>
      </p:pic>
      <p:sp>
        <p:nvSpPr>
          <p:cNvPr id="410" name="Google Shape;410;p1"/>
          <p:cNvSpPr/>
          <p:nvPr/>
        </p:nvSpPr>
        <p:spPr>
          <a:xfrm>
            <a:off x="1814446" y="727770"/>
            <a:ext cx="1593546" cy="627300"/>
          </a:xfrm>
          <a:prstGeom prst="rect">
            <a:avLst/>
          </a:prstGeom>
          <a:noFill/>
          <a:ln>
            <a:noFill/>
          </a:ln>
        </p:spPr>
        <p:txBody>
          <a:bodyPr spcFirstLastPara="1" wrap="square" lIns="0" tIns="72000" rIns="72000" bIns="7200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dirty="0">
                <a:solidFill>
                  <a:schemeClr val="tx1"/>
                </a:solidFill>
                <a:latin typeface="Arial"/>
                <a:ea typeface="Arial"/>
                <a:cs typeface="Arial"/>
                <a:sym typeface="Arial"/>
              </a:rPr>
              <a:t>Dagmar </a:t>
            </a:r>
            <a:r>
              <a:rPr lang="en-GB" sz="1500" b="1" i="0" u="none" strike="noStrike" cap="none" dirty="0" err="1">
                <a:solidFill>
                  <a:schemeClr val="tx1"/>
                </a:solidFill>
                <a:latin typeface="Arial"/>
                <a:ea typeface="Arial"/>
                <a:cs typeface="Arial"/>
                <a:sym typeface="Arial"/>
              </a:rPr>
              <a:t>Haklová</a:t>
            </a:r>
            <a:r>
              <a:rPr lang="en-GB" sz="1500" b="1" i="0" u="none" strike="noStrike" cap="none" dirty="0">
                <a:solidFill>
                  <a:schemeClr val="tx1"/>
                </a:solidFill>
                <a:latin typeface="Arial"/>
                <a:ea typeface="Arial"/>
                <a:cs typeface="Arial"/>
                <a:sym typeface="Arial"/>
              </a:rPr>
              <a:t> </a:t>
            </a:r>
            <a:endParaRPr sz="15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GB" sz="1200" b="1" i="0" u="none" strike="noStrike" cap="none" dirty="0">
                <a:solidFill>
                  <a:schemeClr val="dk2"/>
                </a:solidFill>
                <a:latin typeface="+mn-lt"/>
                <a:sym typeface="Arial"/>
              </a:rPr>
              <a:t>Partner</a:t>
            </a:r>
            <a:endParaRPr sz="1200" b="1" i="0" u="none" strike="noStrike" cap="none" dirty="0">
              <a:solidFill>
                <a:schemeClr val="dk2"/>
              </a:solidFill>
              <a:latin typeface="+mn-lt"/>
              <a:sym typeface="Arial"/>
            </a:endParaRPr>
          </a:p>
        </p:txBody>
      </p:sp>
      <p:sp>
        <p:nvSpPr>
          <p:cNvPr id="411" name="Google Shape;411;p1"/>
          <p:cNvSpPr txBox="1"/>
          <p:nvPr/>
        </p:nvSpPr>
        <p:spPr>
          <a:xfrm>
            <a:off x="443250" y="2136387"/>
            <a:ext cx="2299498" cy="806789"/>
          </a:xfrm>
          <a:prstGeom prst="rect">
            <a:avLst/>
          </a:prstGeom>
          <a:noFill/>
          <a:ln>
            <a:noFill/>
          </a:ln>
        </p:spPr>
        <p:txBody>
          <a:bodyPr spcFirstLastPara="1" wrap="square" lIns="0" tIns="91425" rIns="0" bIns="91425" anchor="t" anchorCtr="0">
            <a:noAutofit/>
          </a:bodyPr>
          <a:lstStyle/>
          <a:p>
            <a:pPr marL="0" marR="127000" lvl="0" indent="0" algn="l" rtl="0">
              <a:lnSpc>
                <a:spcPct val="100000"/>
              </a:lnSpc>
              <a:spcBef>
                <a:spcPts val="0"/>
              </a:spcBef>
              <a:spcAft>
                <a:spcPts val="0"/>
              </a:spcAft>
              <a:buClr>
                <a:schemeClr val="dk1"/>
              </a:buClr>
              <a:buSzPts val="900"/>
              <a:buFont typeface="Arial"/>
              <a:buNone/>
            </a:pPr>
            <a:r>
              <a:rPr lang="en-GB" sz="1000" b="1" i="0" u="none" strike="noStrike" cap="none" dirty="0">
                <a:solidFill>
                  <a:schemeClr val="dk1"/>
                </a:solidFill>
                <a:sym typeface="Arial"/>
              </a:rPr>
              <a:t>PricewaterhouseCoopers Tax, </a:t>
            </a:r>
            <a:r>
              <a:rPr lang="en-GB" sz="1000" b="1" i="0" u="none" strike="noStrike" cap="none" dirty="0" err="1">
                <a:solidFill>
                  <a:schemeClr val="dk1"/>
                </a:solidFill>
                <a:sym typeface="Arial"/>
              </a:rPr>
              <a:t>k.s.</a:t>
            </a:r>
            <a:endParaRPr lang="en-GB" sz="1000" b="1" i="0" u="none" strike="noStrike" cap="none" dirty="0">
              <a:solidFill>
                <a:schemeClr val="dk1"/>
              </a:solidFill>
              <a:sym typeface="Arial"/>
            </a:endParaRPr>
          </a:p>
          <a:p>
            <a:pPr marL="0" marR="127000" lvl="0" indent="0" algn="l" rtl="0">
              <a:lnSpc>
                <a:spcPct val="100000"/>
              </a:lnSpc>
              <a:spcBef>
                <a:spcPts val="0"/>
              </a:spcBef>
              <a:spcAft>
                <a:spcPts val="600"/>
              </a:spcAft>
              <a:buClr>
                <a:schemeClr val="dk1"/>
              </a:buClr>
              <a:buSzPts val="900"/>
              <a:buFont typeface="Arial"/>
              <a:buNone/>
            </a:pPr>
            <a:r>
              <a:rPr lang="en-GB" sz="1000" b="0" i="0" u="none" strike="noStrike" cap="none" dirty="0">
                <a:solidFill>
                  <a:schemeClr val="dk1"/>
                </a:solidFill>
                <a:latin typeface="Arial" panose="020B0604020202020204" pitchFamily="34" charset="0"/>
                <a:cs typeface="Arial" panose="020B0604020202020204" pitchFamily="34" charset="0"/>
                <a:sym typeface="Arial"/>
              </a:rPr>
              <a:t>Bratislava</a:t>
            </a:r>
            <a:endParaRPr lang="en-GB" sz="1600" b="0" i="0" u="none" strike="noStrike" cap="none" dirty="0">
              <a:solidFill>
                <a:schemeClr val="dk1"/>
              </a:solidFill>
              <a:latin typeface="Arial" panose="020B0604020202020204" pitchFamily="34" charset="0"/>
              <a:cs typeface="Arial" panose="020B0604020202020204" pitchFamily="34" charset="0"/>
            </a:endParaRPr>
          </a:p>
          <a:p>
            <a:pPr marL="0" marR="127000" lvl="0" indent="0" algn="l" rtl="0">
              <a:lnSpc>
                <a:spcPct val="100000"/>
              </a:lnSpc>
              <a:spcBef>
                <a:spcPts val="0"/>
              </a:spcBef>
              <a:spcAft>
                <a:spcPts val="0"/>
              </a:spcAft>
              <a:buClr>
                <a:schemeClr val="dk1"/>
              </a:buClr>
              <a:buSzPts val="900"/>
              <a:buFont typeface="Arial"/>
              <a:buNone/>
            </a:pPr>
            <a:r>
              <a:rPr lang="en-GB" sz="1000" b="0" i="0" u="none" strike="noStrike" cap="none" dirty="0">
                <a:solidFill>
                  <a:schemeClr val="dk1"/>
                </a:solidFill>
                <a:latin typeface="Arial" panose="020B0604020202020204" pitchFamily="34" charset="0"/>
                <a:cs typeface="Arial" panose="020B0604020202020204" pitchFamily="34" charset="0"/>
                <a:sym typeface="Arial"/>
              </a:rPr>
              <a:t>T: +421 259 350 111 </a:t>
            </a:r>
          </a:p>
          <a:p>
            <a:pPr marL="0" marR="127000" lvl="0" indent="0" algn="l" rtl="0">
              <a:lnSpc>
                <a:spcPct val="100000"/>
              </a:lnSpc>
              <a:spcBef>
                <a:spcPts val="0"/>
              </a:spcBef>
              <a:spcAft>
                <a:spcPts val="0"/>
              </a:spcAft>
              <a:buClr>
                <a:schemeClr val="dk1"/>
              </a:buClr>
              <a:buSzPts val="900"/>
              <a:buFont typeface="Arial"/>
              <a:buNone/>
            </a:pPr>
            <a:r>
              <a:rPr lang="en-GB" sz="1000" b="0" i="0" u="none" strike="noStrike" cap="none" dirty="0">
                <a:solidFill>
                  <a:schemeClr val="dk1"/>
                </a:solidFill>
                <a:latin typeface="Arial" panose="020B0604020202020204" pitchFamily="34" charset="0"/>
                <a:cs typeface="Arial" panose="020B0604020202020204" pitchFamily="34" charset="0"/>
                <a:sym typeface="Arial"/>
                <a:hlinkClick r:id="rId5">
                  <a:extLst>
                    <a:ext uri="{A12FA001-AC4F-418D-AE19-62706E023703}">
                      <ahyp:hlinkClr xmlns:ahyp="http://schemas.microsoft.com/office/drawing/2018/hyperlinkcolor" val="tx"/>
                    </a:ext>
                  </a:extLst>
                </a:hlinkClick>
              </a:rPr>
              <a:t>www.pwc.com/sk</a:t>
            </a:r>
            <a:endParaRPr lang="en-GB" sz="1800" b="0" i="0" u="none" strike="noStrike" cap="none" dirty="0">
              <a:solidFill>
                <a:schemeClr val="dk1"/>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endParaRPr>
          </a:p>
        </p:txBody>
      </p:sp>
      <p:sp>
        <p:nvSpPr>
          <p:cNvPr id="419" name="Google Shape;419;p1"/>
          <p:cNvSpPr txBox="1"/>
          <p:nvPr/>
        </p:nvSpPr>
        <p:spPr>
          <a:xfrm>
            <a:off x="4073235" y="601618"/>
            <a:ext cx="7728791" cy="5810801"/>
          </a:xfrm>
          <a:prstGeom prst="rect">
            <a:avLst/>
          </a:prstGeom>
          <a:noFill/>
          <a:ln>
            <a:noFill/>
          </a:ln>
        </p:spPr>
        <p:txBody>
          <a:bodyPr spcFirstLastPara="1" wrap="square" lIns="0" tIns="0" rIns="121900" bIns="121900" anchor="t" anchorCtr="0">
            <a:spAutoFit/>
          </a:bodyPr>
          <a:lstStyle/>
          <a:p>
            <a:pPr lvl="0">
              <a:lnSpc>
                <a:spcPct val="150000"/>
              </a:lnSpc>
              <a:buSzPts val="1100"/>
            </a:pP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Dear Mrs. </a:t>
            </a:r>
            <a:r>
              <a:rPr lang="en-GB" sz="1200" i="0" u="none" strike="noStrike" cap="none" dirty="0" err="1">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Rohrhofer</a:t>
            </a: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a:t>
            </a:r>
          </a:p>
          <a:p>
            <a:pPr lvl="0">
              <a:lnSpc>
                <a:spcPct val="150000"/>
              </a:lnSpc>
              <a:buSzPts val="1100"/>
            </a:pPr>
            <a:endPar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endParaRPr>
          </a:p>
          <a:p>
            <a:pPr lvl="0">
              <a:lnSpc>
                <a:spcPct val="150000"/>
              </a:lnSpc>
              <a:buSzPts val="1100"/>
            </a:pP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Thank you for the opportunity to discuss the transformation of Global Payments' Prague Shared Service </a:t>
            </a:r>
            <a:r>
              <a:rPr lang="en-GB" sz="1200" i="0" u="none" strike="noStrike" cap="none" dirty="0" err="1">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Center</a:t>
            </a: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 Your SSC Concept — "From Silo to Service Excellence" — provides a compelling vision, and our proposal is built directly on your blueprint .</a:t>
            </a:r>
          </a:p>
          <a:p>
            <a:pPr lvl="0">
              <a:lnSpc>
                <a:spcPct val="150000"/>
              </a:lnSpc>
              <a:buSzPts val="1100"/>
            </a:pPr>
            <a:endPar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endParaRPr>
          </a:p>
          <a:p>
            <a:pPr lvl="0">
              <a:lnSpc>
                <a:spcPct val="150000"/>
              </a:lnSpc>
              <a:buSzPts val="1100"/>
            </a:pPr>
            <a:r>
              <a:rPr lang="en-GB" sz="1200" b="1"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PwC will operationalize your Target Operating Model</a:t>
            </a: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 through six integrated workstreams: RACI &amp; Governance, Business Partnering &amp; PMO, Intake &amp; Case Management, Post-Acquisition Transition, Subcontractor Governance, and Transfer Pricing — each mapped to your TOM pillars and the challenges you have identified . At the core sits a three-dimensional RACI framework across your structural groups (PDLC, SSC Ops &amp; RM, Customer/JV), sustained through a Governance Forum, Business Partners, and a PMO gating every new initiative . Alongside, we help design the fact base — SLA dashboards, pricing catalogue, dispute analytics — enabling the evidence-based customer conversations needed to earn trust and attract new workloads to Prague.</a:t>
            </a:r>
          </a:p>
          <a:p>
            <a:pPr lvl="0">
              <a:lnSpc>
                <a:spcPct val="150000"/>
              </a:lnSpc>
              <a:buSzPts val="1100"/>
            </a:pPr>
            <a:endPar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endParaRPr>
          </a:p>
          <a:p>
            <a:pPr lvl="0">
              <a:lnSpc>
                <a:spcPct val="150000"/>
              </a:lnSpc>
              <a:buSzPts val="1100"/>
            </a:pP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We look forward to starting the road to </a:t>
            </a:r>
            <a:r>
              <a:rPr lang="en-GB" sz="1200" i="0" u="none" strike="noStrike" cap="none" dirty="0" err="1">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SSCuccess</a:t>
            </a:r>
            <a:r>
              <a:rPr lang="en-GB"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 together — "turning complexity into a competitive advantage for the whole group" .</a:t>
            </a:r>
          </a:p>
          <a:p>
            <a:pPr lvl="0">
              <a:lnSpc>
                <a:spcPct val="150000"/>
              </a:lnSpc>
              <a:buSzPts val="1100"/>
            </a:pPr>
            <a:endParaRPr lang="en-US"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endParaRPr>
          </a:p>
          <a:p>
            <a:pPr lvl="0">
              <a:lnSpc>
                <a:spcPct val="150000"/>
              </a:lnSpc>
              <a:buSzPts val="1100"/>
            </a:pPr>
            <a:r>
              <a:rPr lang="en-US"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Yours sincerely,</a:t>
            </a:r>
          </a:p>
          <a:p>
            <a:pPr lvl="0">
              <a:lnSpc>
                <a:spcPct val="115000"/>
              </a:lnSpc>
              <a:buSzPts val="1100"/>
            </a:pPr>
            <a:endParaRPr lang="en-US"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endParaRPr>
          </a:p>
          <a:p>
            <a:pPr>
              <a:lnSpc>
                <a:spcPct val="115000"/>
              </a:lnSpc>
              <a:buSzPts val="1100"/>
            </a:pPr>
            <a:r>
              <a:rPr lang="en-US"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Dagmar </a:t>
            </a:r>
            <a:r>
              <a:rPr lang="en-US" sz="1200" i="0" u="none" strike="noStrike" cap="none" dirty="0" err="1">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rPr>
              <a:t>Haklov</a:t>
            </a:r>
            <a:r>
              <a:rPr lang="sk-SK" sz="1200" i="0" u="none" strike="noStrike" cap="none" dirty="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á</a:t>
            </a:r>
            <a:endParaRPr lang="sk-SK" sz="1200" i="0" u="none" strike="noStrike" cap="none"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0"/>
                </a:ext>
              </a:extLst>
            </a:endParaRPr>
          </a:p>
        </p:txBody>
      </p:sp>
      <p:cxnSp>
        <p:nvCxnSpPr>
          <p:cNvPr id="7" name="Straight Connector 6">
            <a:extLst>
              <a:ext uri="{FF2B5EF4-FFF2-40B4-BE49-F238E27FC236}">
                <a16:creationId xmlns:a16="http://schemas.microsoft.com/office/drawing/2014/main" id="{935A1CFA-EC78-5AF3-AB0A-DB74462AEE34}"/>
              </a:ext>
            </a:extLst>
          </p:cNvPr>
          <p:cNvCxnSpPr/>
          <p:nvPr/>
        </p:nvCxnSpPr>
        <p:spPr>
          <a:xfrm>
            <a:off x="443250" y="433832"/>
            <a:ext cx="285413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D5241DA-B35D-A094-D391-E3DE5F7D3EA2}"/>
              </a:ext>
            </a:extLst>
          </p:cNvPr>
          <p:cNvCxnSpPr>
            <a:cxnSpLocks/>
          </p:cNvCxnSpPr>
          <p:nvPr/>
        </p:nvCxnSpPr>
        <p:spPr>
          <a:xfrm>
            <a:off x="4045432" y="433832"/>
            <a:ext cx="775659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Footer Placeholder 1">
            <a:extLst>
              <a:ext uri="{FF2B5EF4-FFF2-40B4-BE49-F238E27FC236}">
                <a16:creationId xmlns:a16="http://schemas.microsoft.com/office/drawing/2014/main" id="{580CA04E-1870-7378-EBF0-AC61C2627B5C}"/>
              </a:ext>
            </a:extLst>
          </p:cNvPr>
          <p:cNvSpPr>
            <a:spLocks noGrp="1"/>
          </p:cNvSpPr>
          <p:nvPr>
            <p:ph type="ftr" sz="quarter" idx="3"/>
          </p:nvPr>
        </p:nvSpPr>
        <p:spPr>
          <a:xfrm>
            <a:off x="1066800" y="6497441"/>
            <a:ext cx="8814816" cy="161583"/>
          </a:xfrm>
        </p:spPr>
        <p:txBody>
          <a:bodyPr/>
          <a:lstStyle/>
          <a:p>
            <a:r>
              <a:rPr lang="en-US" dirty="0"/>
              <a:t>Proposal for Global Payments Prague Shared Service Center Transformation</a:t>
            </a:r>
          </a:p>
        </p:txBody>
      </p:sp>
      <p:sp>
        <p:nvSpPr>
          <p:cNvPr id="12" name="Slide Number Placeholder 2">
            <a:extLst>
              <a:ext uri="{FF2B5EF4-FFF2-40B4-BE49-F238E27FC236}">
                <a16:creationId xmlns:a16="http://schemas.microsoft.com/office/drawing/2014/main" id="{81268120-BD6E-9172-A2C8-A3D81D96096D}"/>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2</a:t>
            </a:fld>
            <a:endParaRPr lang="en-US" dirty="0"/>
          </a:p>
        </p:txBody>
      </p:sp>
      <p:sp>
        <p:nvSpPr>
          <p:cNvPr id="4" name="Google Shape;587;p96">
            <a:extLst>
              <a:ext uri="{FF2B5EF4-FFF2-40B4-BE49-F238E27FC236}">
                <a16:creationId xmlns:a16="http://schemas.microsoft.com/office/drawing/2014/main" id="{5FF0B453-5318-7F47-1EEC-3EBD41EA6FB4}"/>
              </a:ext>
            </a:extLst>
          </p:cNvPr>
          <p:cNvSpPr txBox="1"/>
          <p:nvPr/>
        </p:nvSpPr>
        <p:spPr>
          <a:xfrm>
            <a:off x="1791384" y="3230670"/>
            <a:ext cx="171712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52"/>
              <a:buFont typeface="Arial"/>
              <a:buNone/>
            </a:pPr>
            <a:r>
              <a:rPr lang="sk-SK" sz="1500" b="1" i="0" u="none" strike="noStrike" cap="none" dirty="0">
                <a:solidFill>
                  <a:schemeClr val="tx1"/>
                </a:solidFill>
                <a:latin typeface="Arial"/>
                <a:ea typeface="Arial"/>
                <a:cs typeface="Arial"/>
                <a:sym typeface="Arial"/>
              </a:rPr>
              <a:t>Tomáš </a:t>
            </a:r>
            <a:r>
              <a:rPr lang="sk-SK" sz="1500" b="1" i="0" u="none" strike="noStrike" cap="none" dirty="0" err="1">
                <a:solidFill>
                  <a:schemeClr val="tx1"/>
                </a:solidFill>
                <a:latin typeface="Arial"/>
                <a:ea typeface="Arial"/>
                <a:cs typeface="Arial"/>
                <a:sym typeface="Arial"/>
              </a:rPr>
              <a:t>Kubányi</a:t>
            </a:r>
            <a:endParaRPr sz="1500" b="1"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89"/>
              <a:buFont typeface="Arial"/>
              <a:buNone/>
            </a:pPr>
            <a:r>
              <a:rPr lang="sk" sz="1200" b="1" i="0" u="none" strike="noStrike" cap="none" dirty="0">
                <a:solidFill>
                  <a:schemeClr val="tx1"/>
                </a:solidFill>
                <a:latin typeface="Arial"/>
                <a:ea typeface="Arial"/>
                <a:cs typeface="Arial"/>
                <a:sym typeface="Arial"/>
              </a:rPr>
              <a:t>Direct</a:t>
            </a:r>
            <a:r>
              <a:rPr lang="sk" sz="1200" b="1" i="0" u="none" strike="noStrike" cap="none" dirty="0">
                <a:solidFill>
                  <a:srgbClr val="434343"/>
                </a:solidFill>
                <a:latin typeface="Arial"/>
                <a:ea typeface="Arial"/>
                <a:cs typeface="Arial"/>
                <a:sym typeface="Arial"/>
              </a:rPr>
              <a:t>or</a:t>
            </a:r>
            <a:endParaRPr sz="1000" b="1" i="0" u="none" strike="noStrike" cap="none" dirty="0">
              <a:solidFill>
                <a:srgbClr val="434343"/>
              </a:solidFill>
              <a:latin typeface="Arial"/>
              <a:ea typeface="Arial"/>
              <a:cs typeface="Arial"/>
              <a:sym typeface="Arial"/>
            </a:endParaRPr>
          </a:p>
        </p:txBody>
      </p:sp>
      <p:pic>
        <p:nvPicPr>
          <p:cNvPr id="5" name="Picture 4">
            <a:extLst>
              <a:ext uri="{FF2B5EF4-FFF2-40B4-BE49-F238E27FC236}">
                <a16:creationId xmlns:a16="http://schemas.microsoft.com/office/drawing/2014/main" id="{B258A6BC-2BE1-EDDE-B71B-A73F2D609B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602" y="3237896"/>
            <a:ext cx="1280648" cy="1280648"/>
          </a:xfrm>
          <a:prstGeom prst="rect">
            <a:avLst/>
          </a:prstGeom>
        </p:spPr>
      </p:pic>
      <p:sp>
        <p:nvSpPr>
          <p:cNvPr id="9" name="TextBox 8">
            <a:extLst>
              <a:ext uri="{FF2B5EF4-FFF2-40B4-BE49-F238E27FC236}">
                <a16:creationId xmlns:a16="http://schemas.microsoft.com/office/drawing/2014/main" id="{E2F72409-29E3-D3F1-CE28-3228A765C4F5}"/>
              </a:ext>
            </a:extLst>
          </p:cNvPr>
          <p:cNvSpPr txBox="1"/>
          <p:nvPr/>
        </p:nvSpPr>
        <p:spPr>
          <a:xfrm>
            <a:off x="359164" y="4627038"/>
            <a:ext cx="6097656" cy="800219"/>
          </a:xfrm>
          <a:prstGeom prst="rect">
            <a:avLst/>
          </a:prstGeom>
          <a:noFill/>
        </p:spPr>
        <p:txBody>
          <a:bodyPr wrap="square">
            <a:spAutoFit/>
          </a:bodyPr>
          <a:lstStyle/>
          <a:p>
            <a:pPr marL="0" marR="127000" lvl="0" indent="0" algn="l" rtl="0">
              <a:lnSpc>
                <a:spcPct val="100000"/>
              </a:lnSpc>
              <a:spcBef>
                <a:spcPts val="0"/>
              </a:spcBef>
              <a:spcAft>
                <a:spcPts val="0"/>
              </a:spcAft>
              <a:buClr>
                <a:schemeClr val="dk1"/>
              </a:buClr>
              <a:buSzPts val="900"/>
              <a:buFont typeface="Arial"/>
              <a:buNone/>
            </a:pPr>
            <a:r>
              <a:rPr lang="en-GB" sz="1000" b="1" i="0" u="none" strike="noStrike" cap="none" dirty="0">
                <a:solidFill>
                  <a:schemeClr val="dk1"/>
                </a:solidFill>
                <a:sym typeface="Arial"/>
              </a:rPr>
              <a:t>PricewaterhouseCoopers Tax, </a:t>
            </a:r>
            <a:r>
              <a:rPr lang="en-GB" sz="1000" b="1" i="0" u="none" strike="noStrike" cap="none" dirty="0" err="1">
                <a:solidFill>
                  <a:schemeClr val="dk1"/>
                </a:solidFill>
                <a:sym typeface="Arial"/>
              </a:rPr>
              <a:t>k.s.</a:t>
            </a:r>
            <a:endParaRPr lang="en-GB" sz="1000" b="1" i="0" u="none" strike="noStrike" cap="none" dirty="0">
              <a:solidFill>
                <a:schemeClr val="dk1"/>
              </a:solidFill>
              <a:sym typeface="Arial"/>
            </a:endParaRPr>
          </a:p>
          <a:p>
            <a:pPr marL="0" marR="127000" lvl="0" indent="0" algn="l" rtl="0">
              <a:lnSpc>
                <a:spcPct val="100000"/>
              </a:lnSpc>
              <a:spcBef>
                <a:spcPts val="0"/>
              </a:spcBef>
              <a:spcAft>
                <a:spcPts val="600"/>
              </a:spcAft>
              <a:buClr>
                <a:schemeClr val="dk1"/>
              </a:buClr>
              <a:buSzPts val="900"/>
              <a:buFont typeface="Arial"/>
              <a:buNone/>
            </a:pPr>
            <a:r>
              <a:rPr lang="en-GB" sz="1000" b="0" i="0" u="none" strike="noStrike" cap="none" dirty="0">
                <a:solidFill>
                  <a:schemeClr val="dk1"/>
                </a:solidFill>
                <a:latin typeface="Arial" panose="020B0604020202020204" pitchFamily="34" charset="0"/>
                <a:cs typeface="Arial" panose="020B0604020202020204" pitchFamily="34" charset="0"/>
                <a:sym typeface="Arial"/>
              </a:rPr>
              <a:t>Bratislava</a:t>
            </a:r>
            <a:endParaRPr lang="en-GB" sz="1600" b="0" i="0" u="none" strike="noStrike" cap="none" dirty="0">
              <a:solidFill>
                <a:schemeClr val="dk1"/>
              </a:solidFill>
              <a:latin typeface="Arial" panose="020B0604020202020204" pitchFamily="34" charset="0"/>
              <a:cs typeface="Arial" panose="020B0604020202020204" pitchFamily="34" charset="0"/>
            </a:endParaRPr>
          </a:p>
          <a:p>
            <a:pPr marL="0" marR="127000" lvl="0" indent="0" algn="l" rtl="0">
              <a:lnSpc>
                <a:spcPct val="100000"/>
              </a:lnSpc>
              <a:spcBef>
                <a:spcPts val="0"/>
              </a:spcBef>
              <a:spcAft>
                <a:spcPts val="0"/>
              </a:spcAft>
              <a:buClr>
                <a:schemeClr val="dk1"/>
              </a:buClr>
              <a:buSzPts val="900"/>
              <a:buFont typeface="Arial"/>
              <a:buNone/>
            </a:pPr>
            <a:r>
              <a:rPr lang="en-GB" sz="1000" b="0" i="0" u="none" strike="noStrike" cap="none" dirty="0">
                <a:solidFill>
                  <a:schemeClr val="dk1"/>
                </a:solidFill>
                <a:latin typeface="Arial" panose="020B0604020202020204" pitchFamily="34" charset="0"/>
                <a:cs typeface="Arial" panose="020B0604020202020204" pitchFamily="34" charset="0"/>
                <a:sym typeface="Arial"/>
              </a:rPr>
              <a:t>T: +421 904 233 423</a:t>
            </a:r>
          </a:p>
          <a:p>
            <a:pPr marL="0" marR="127000" lvl="0" indent="0" algn="l" rtl="0">
              <a:lnSpc>
                <a:spcPct val="100000"/>
              </a:lnSpc>
              <a:spcBef>
                <a:spcPts val="0"/>
              </a:spcBef>
              <a:spcAft>
                <a:spcPts val="0"/>
              </a:spcAft>
              <a:buClr>
                <a:schemeClr val="dk1"/>
              </a:buClr>
              <a:buSzPts val="900"/>
              <a:buFont typeface="Arial"/>
              <a:buNone/>
            </a:pPr>
            <a:r>
              <a:rPr lang="en-GB" sz="1000" b="0" i="0" u="none" strike="noStrike" cap="none" dirty="0">
                <a:solidFill>
                  <a:schemeClr val="dk1"/>
                </a:solidFill>
                <a:latin typeface="Arial" panose="020B0604020202020204" pitchFamily="34" charset="0"/>
                <a:cs typeface="Arial" panose="020B0604020202020204" pitchFamily="34" charset="0"/>
                <a:sym typeface="Arial"/>
                <a:hlinkClick r:id="rId5">
                  <a:extLst>
                    <a:ext uri="{A12FA001-AC4F-418D-AE19-62706E023703}">
                      <ahyp:hlinkClr xmlns:ahyp="http://schemas.microsoft.com/office/drawing/2018/hyperlinkcolor" val="tx"/>
                    </a:ext>
                  </a:extLst>
                </a:hlinkClick>
              </a:rPr>
              <a:t>www.pwc.com/sk</a:t>
            </a:r>
            <a:endParaRPr lang="en-GB" sz="1800" b="0" i="0" u="none" strike="noStrike" cap="none" dirty="0">
              <a:solidFill>
                <a:schemeClr val="dk1"/>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endParaRP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C972-CE22-3736-B49D-44AAE30B43E3}"/>
              </a:ext>
            </a:extLst>
          </p:cNvPr>
          <p:cNvSpPr>
            <a:spLocks noGrp="1"/>
          </p:cNvSpPr>
          <p:nvPr>
            <p:ph type="title"/>
          </p:nvPr>
        </p:nvSpPr>
        <p:spPr/>
        <p:txBody>
          <a:bodyPr/>
          <a:lstStyle/>
          <a:p>
            <a:r>
              <a:rPr lang="en-GB" dirty="0"/>
              <a:t>Vision — We Heard You</a:t>
            </a:r>
            <a:br>
              <a:rPr lang="en-GB" dirty="0"/>
            </a:br>
            <a:r>
              <a:rPr lang="en-GB" sz="1600" dirty="0">
                <a:latin typeface="Arial" panose="020B0604020202020204" pitchFamily="34" charset="0"/>
                <a:cs typeface="Arial" panose="020B0604020202020204" pitchFamily="34" charset="0"/>
              </a:rPr>
              <a:t>PwC's Proposal Is Built on Your Own Blueprint</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FE22B4FD-76D5-9095-D162-023313862514}"/>
              </a:ext>
            </a:extLst>
          </p:cNvPr>
          <p:cNvSpPr>
            <a:spLocks noGrp="1"/>
          </p:cNvSpPr>
          <p:nvPr>
            <p:ph type="ftr" sz="quarter" idx="3"/>
          </p:nvPr>
        </p:nvSpPr>
        <p:spPr/>
        <p:txBody>
          <a:bodyPr/>
          <a:lstStyle/>
          <a:p>
            <a:r>
              <a:rPr lang="en-GB" dirty="0"/>
              <a:t>Proposal for Global Payments Prague Shared Service </a:t>
            </a:r>
            <a:r>
              <a:rPr lang="en-GB" dirty="0" err="1"/>
              <a:t>Center</a:t>
            </a:r>
            <a:r>
              <a:rPr lang="en-GB" dirty="0"/>
              <a:t> Transformation</a:t>
            </a:r>
            <a:endParaRPr lang="en-US" dirty="0"/>
          </a:p>
        </p:txBody>
      </p:sp>
      <p:sp>
        <p:nvSpPr>
          <p:cNvPr id="4" name="Slide Number Placeholder 3">
            <a:extLst>
              <a:ext uri="{FF2B5EF4-FFF2-40B4-BE49-F238E27FC236}">
                <a16:creationId xmlns:a16="http://schemas.microsoft.com/office/drawing/2014/main" id="{04F9B659-9779-6F7C-D935-A7C7CD980D14}"/>
              </a:ext>
            </a:extLst>
          </p:cNvPr>
          <p:cNvSpPr>
            <a:spLocks noGrp="1"/>
          </p:cNvSpPr>
          <p:nvPr>
            <p:ph type="sldNum" sz="quarter" idx="4"/>
          </p:nvPr>
        </p:nvSpPr>
        <p:spPr/>
        <p:txBody>
          <a:bodyPr/>
          <a:lstStyle/>
          <a:p>
            <a:fld id="{3E6AC032-1535-134B-A583-D5E1DDD0D167}" type="slidenum">
              <a:rPr lang="en-US" smtClean="0"/>
              <a:pPr/>
              <a:t>3</a:t>
            </a:fld>
            <a:endParaRPr lang="en-US"/>
          </a:p>
        </p:txBody>
      </p:sp>
      <p:sp>
        <p:nvSpPr>
          <p:cNvPr id="6" name="TextBox 5">
            <a:extLst>
              <a:ext uri="{FF2B5EF4-FFF2-40B4-BE49-F238E27FC236}">
                <a16:creationId xmlns:a16="http://schemas.microsoft.com/office/drawing/2014/main" id="{11C8055C-82D6-DB3F-586E-EF8BD5DD3D9F}"/>
              </a:ext>
            </a:extLst>
          </p:cNvPr>
          <p:cNvSpPr txBox="1"/>
          <p:nvPr/>
        </p:nvSpPr>
        <p:spPr>
          <a:xfrm>
            <a:off x="385110" y="1511054"/>
            <a:ext cx="11399691" cy="646331"/>
          </a:xfrm>
          <a:prstGeom prst="rect">
            <a:avLst/>
          </a:prstGeom>
          <a:noFill/>
        </p:spPr>
        <p:txBody>
          <a:bodyPr wrap="square" lIns="0" tIns="0" rIns="0" bIns="0">
            <a:spAutoFit/>
          </a:bodyPr>
          <a:lstStyle/>
          <a:p>
            <a:r>
              <a:rPr lang="en-GB" dirty="0"/>
              <a:t>This proposal directly responds to the SSC Concept by Global Payments. The client's vision, defines the SSC as a "centralized organizational unit/own entity providing services across multiple entities" that "operates as an internal service provider with defined services and performance levels" and "evolves into a centre of excellence over time."</a:t>
            </a:r>
          </a:p>
        </p:txBody>
      </p:sp>
      <p:sp>
        <p:nvSpPr>
          <p:cNvPr id="8" name="TextBox 7">
            <a:extLst>
              <a:ext uri="{FF2B5EF4-FFF2-40B4-BE49-F238E27FC236}">
                <a16:creationId xmlns:a16="http://schemas.microsoft.com/office/drawing/2014/main" id="{4FE9B396-1FCF-060A-1358-1079DDC1DE7C}"/>
              </a:ext>
            </a:extLst>
          </p:cNvPr>
          <p:cNvSpPr txBox="1"/>
          <p:nvPr/>
        </p:nvSpPr>
        <p:spPr>
          <a:xfrm>
            <a:off x="349596" y="5665841"/>
            <a:ext cx="11492808" cy="523220"/>
          </a:xfrm>
          <a:prstGeom prst="rect">
            <a:avLst/>
          </a:prstGeom>
          <a:noFill/>
        </p:spPr>
        <p:txBody>
          <a:bodyPr wrap="square">
            <a:spAutoFit/>
          </a:bodyPr>
          <a:lstStyle/>
          <a:p>
            <a:r>
              <a:rPr lang="en-GB" b="1" dirty="0"/>
              <a:t>PwC's Role: </a:t>
            </a:r>
            <a:r>
              <a:rPr lang="en-GB" dirty="0"/>
              <a:t>We are here to operationalize this vision — to take the "what" and "why" and deliver the "how" through structured workstreams, proven methodologies, industry benchmarks, and hands-on implementation support.</a:t>
            </a:r>
          </a:p>
        </p:txBody>
      </p:sp>
      <p:graphicFrame>
        <p:nvGraphicFramePr>
          <p:cNvPr id="9" name="Table 8">
            <a:extLst>
              <a:ext uri="{FF2B5EF4-FFF2-40B4-BE49-F238E27FC236}">
                <a16:creationId xmlns:a16="http://schemas.microsoft.com/office/drawing/2014/main" id="{D9F75988-67E2-03F9-4FFB-0F366D281B3A}"/>
              </a:ext>
            </a:extLst>
          </p:cNvPr>
          <p:cNvGraphicFramePr>
            <a:graphicFrameLocks noGrp="1"/>
          </p:cNvGraphicFramePr>
          <p:nvPr>
            <p:extLst>
              <p:ext uri="{D42A27DB-BD31-4B8C-83A1-F6EECF244321}">
                <p14:modId xmlns:p14="http://schemas.microsoft.com/office/powerpoint/2010/main" val="621080780"/>
              </p:ext>
            </p:extLst>
          </p:nvPr>
        </p:nvGraphicFramePr>
        <p:xfrm>
          <a:off x="402335" y="2493291"/>
          <a:ext cx="11399691" cy="2883611"/>
        </p:xfrm>
        <a:graphic>
          <a:graphicData uri="http://schemas.openxmlformats.org/drawingml/2006/table">
            <a:tbl>
              <a:tblPr/>
              <a:tblGrid>
                <a:gridCol w="5288924">
                  <a:extLst>
                    <a:ext uri="{9D8B030D-6E8A-4147-A177-3AD203B41FA5}">
                      <a16:colId xmlns:a16="http://schemas.microsoft.com/office/drawing/2014/main" val="354675630"/>
                    </a:ext>
                  </a:extLst>
                </a:gridCol>
                <a:gridCol w="6110767">
                  <a:extLst>
                    <a:ext uri="{9D8B030D-6E8A-4147-A177-3AD203B41FA5}">
                      <a16:colId xmlns:a16="http://schemas.microsoft.com/office/drawing/2014/main" val="3304284731"/>
                    </a:ext>
                  </a:extLst>
                </a:gridCol>
              </a:tblGrid>
              <a:tr h="377583">
                <a:tc>
                  <a:txBody>
                    <a:bodyPr/>
                    <a:lstStyle/>
                    <a:p>
                      <a:pPr fontAlgn="b">
                        <a:buNone/>
                      </a:pPr>
                      <a:r>
                        <a:rPr lang="en-GB" sz="1400" b="1" dirty="0">
                          <a:solidFill>
                            <a:srgbClr val="111827"/>
                          </a:solidFill>
                          <a:effectLst/>
                        </a:rPr>
                        <a:t>Client's Framework</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b">
                        <a:buNone/>
                      </a:pPr>
                      <a:r>
                        <a:rPr lang="en-GB" sz="1400" b="1" dirty="0">
                          <a:solidFill>
                            <a:srgbClr val="111827"/>
                          </a:solidFill>
                          <a:effectLst/>
                        </a:rPr>
                        <a:t>PwC's Response</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115735436"/>
                  </a:ext>
                </a:extLst>
              </a:tr>
              <a:tr h="490950">
                <a:tc>
                  <a:txBody>
                    <a:bodyPr/>
                    <a:lstStyle/>
                    <a:p>
                      <a:pPr fontAlgn="base">
                        <a:buNone/>
                      </a:pPr>
                      <a:r>
                        <a:rPr lang="en-GB" sz="1200" dirty="0">
                          <a:effectLst/>
                        </a:rPr>
                        <a:t>01 — WHAT is an SSC</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a:buNone/>
                      </a:pPr>
                      <a:r>
                        <a:rPr lang="en-GB" sz="1200" dirty="0">
                          <a:effectLst/>
                        </a:rPr>
                        <a:t>✅  Validated — we align to the GP SSC definition</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52979030"/>
                  </a:ext>
                </a:extLst>
              </a:tr>
              <a:tr h="490950">
                <a:tc>
                  <a:txBody>
                    <a:bodyPr/>
                    <a:lstStyle/>
                    <a:p>
                      <a:pPr fontAlgn="base">
                        <a:buNone/>
                      </a:pPr>
                      <a:r>
                        <a:rPr lang="en-GB" sz="1200" dirty="0">
                          <a:effectLst/>
                        </a:rPr>
                        <a:t>02 — WHY do we need an SSC</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a:buNone/>
                      </a:pPr>
                      <a:r>
                        <a:rPr lang="en-GB" sz="1200" dirty="0">
                          <a:effectLst/>
                        </a:rPr>
                        <a:t>✅  </a:t>
                      </a:r>
                      <a:r>
                        <a:rPr lang="en-GB" sz="1200" b="1" dirty="0">
                          <a:effectLst/>
                        </a:rPr>
                        <a:t>Challenges mapped</a:t>
                      </a:r>
                      <a:r>
                        <a:rPr lang="en-GB" sz="1200" dirty="0">
                          <a:effectLst/>
                        </a:rPr>
                        <a:t> — our workstreams address each one</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23315980"/>
                  </a:ext>
                </a:extLst>
              </a:tr>
              <a:tr h="490950">
                <a:tc>
                  <a:txBody>
                    <a:bodyPr/>
                    <a:lstStyle/>
                    <a:p>
                      <a:pPr fontAlgn="base">
                        <a:buNone/>
                      </a:pPr>
                      <a:r>
                        <a:rPr lang="en-GB" sz="1200" dirty="0">
                          <a:effectLst/>
                        </a:rPr>
                        <a:t>03 — BENEFITS for JVs &amp; Enterprise</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a:buNone/>
                      </a:pPr>
                      <a:r>
                        <a:rPr lang="en-GB" sz="1200" dirty="0">
                          <a:effectLst/>
                        </a:rPr>
                        <a:t>✅  </a:t>
                      </a:r>
                      <a:r>
                        <a:rPr lang="en-GB" sz="1200" b="1" dirty="0">
                          <a:effectLst/>
                        </a:rPr>
                        <a:t>Benefits realization </a:t>
                      </a:r>
                      <a:r>
                        <a:rPr lang="en-GB" sz="1200" dirty="0">
                          <a:effectLst/>
                        </a:rPr>
                        <a:t>framework embedded in our approach</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64131154"/>
                  </a:ext>
                </a:extLst>
              </a:tr>
              <a:tr h="542228">
                <a:tc>
                  <a:txBody>
                    <a:bodyPr/>
                    <a:lstStyle/>
                    <a:p>
                      <a:pPr fontAlgn="base">
                        <a:buNone/>
                      </a:pPr>
                      <a:r>
                        <a:rPr lang="en-GB" sz="1200">
                          <a:effectLst/>
                        </a:rPr>
                        <a:t>04 — TOM &amp; Governance</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a:buNone/>
                      </a:pPr>
                      <a:r>
                        <a:rPr lang="en-GB" sz="1200" dirty="0">
                          <a:effectLst/>
                        </a:rPr>
                        <a:t>✅  </a:t>
                      </a:r>
                      <a:r>
                        <a:rPr lang="en-GB" sz="1200" b="1" dirty="0">
                          <a:solidFill>
                            <a:srgbClr val="111827"/>
                          </a:solidFill>
                          <a:effectLst/>
                        </a:rPr>
                        <a:t>Core of our proposal</a:t>
                      </a:r>
                      <a:r>
                        <a:rPr lang="en-GB" sz="1200" dirty="0">
                          <a:effectLst/>
                        </a:rPr>
                        <a:t> — RACI, Business Partnering, PMO, Intake</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20433222"/>
                  </a:ext>
                </a:extLst>
              </a:tr>
              <a:tr h="490950">
                <a:tc>
                  <a:txBody>
                    <a:bodyPr/>
                    <a:lstStyle/>
                    <a:p>
                      <a:pPr fontAlgn="base">
                        <a:buNone/>
                      </a:pPr>
                      <a:r>
                        <a:rPr lang="en-GB" sz="1200" dirty="0">
                          <a:effectLst/>
                        </a:rPr>
                        <a:t>05 — The Road to </a:t>
                      </a:r>
                      <a:r>
                        <a:rPr lang="en-GB" sz="1200" dirty="0" err="1">
                          <a:effectLst/>
                        </a:rPr>
                        <a:t>SSCuccess</a:t>
                      </a:r>
                      <a:endParaRPr lang="en-GB" sz="1200" dirty="0">
                        <a:effectLst/>
                      </a:endParaRP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base">
                        <a:buNone/>
                      </a:pPr>
                      <a:r>
                        <a:rPr lang="en-GB" sz="1200" dirty="0">
                          <a:effectLst/>
                        </a:rPr>
                        <a:t>✅  </a:t>
                      </a:r>
                      <a:r>
                        <a:rPr lang="en-GB" sz="1200" b="1" dirty="0">
                          <a:effectLst/>
                        </a:rPr>
                        <a:t>Detailed phased roadmap with timelines</a:t>
                      </a:r>
                    </a:p>
                  </a:txBody>
                  <a:tcPr marT="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71781658"/>
                  </a:ext>
                </a:extLst>
              </a:tr>
            </a:tbl>
          </a:graphicData>
        </a:graphic>
      </p:graphicFrame>
    </p:spTree>
    <p:extLst>
      <p:ext uri="{BB962C8B-B14F-4D97-AF65-F5344CB8AC3E}">
        <p14:creationId xmlns:p14="http://schemas.microsoft.com/office/powerpoint/2010/main" val="170077801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91CE-24D2-570F-3E04-834C3BF93753}"/>
              </a:ext>
            </a:extLst>
          </p:cNvPr>
          <p:cNvSpPr>
            <a:spLocks noGrp="1"/>
          </p:cNvSpPr>
          <p:nvPr>
            <p:ph type="title"/>
          </p:nvPr>
        </p:nvSpPr>
        <p:spPr/>
        <p:txBody>
          <a:bodyPr/>
          <a:lstStyle/>
          <a:p>
            <a:r>
              <a:rPr lang="en-GB" dirty="0"/>
              <a:t>The Combined Governance Model — How It All Fits Together</a:t>
            </a:r>
            <a:br>
              <a:rPr lang="en-GB" dirty="0"/>
            </a:br>
            <a:r>
              <a:rPr lang="en-GB" sz="1600" dirty="0">
                <a:latin typeface="Arial" panose="020B0604020202020204" pitchFamily="34" charset="0"/>
                <a:cs typeface="Arial" panose="020B0604020202020204" pitchFamily="34" charset="0"/>
              </a:rPr>
              <a:t>An Integrated Operating Model — "ONE Organization Delivering Services Efficiently for MANY"</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516782F2-0310-9A78-154E-AEF8AC30179F}"/>
              </a:ext>
            </a:extLst>
          </p:cNvPr>
          <p:cNvSpPr>
            <a:spLocks noGrp="1"/>
          </p:cNvSpPr>
          <p:nvPr>
            <p:ph type="ftr" sz="quarter" idx="3"/>
          </p:nvPr>
        </p:nvSpPr>
        <p:spPr/>
        <p:txBody>
          <a:bodyPr/>
          <a:lstStyle/>
          <a:p>
            <a:r>
              <a:rPr lang="en-GB">
                <a:solidFill>
                  <a:schemeClr val="tx1"/>
                </a:solidFill>
              </a:rPr>
              <a:t>Proposal for Global Payments Prague Shared Service Center Transformation</a:t>
            </a:r>
            <a:endParaRPr lang="en-US">
              <a:solidFill>
                <a:schemeClr val="tx1"/>
              </a:solidFill>
            </a:endParaRPr>
          </a:p>
        </p:txBody>
      </p:sp>
      <p:sp>
        <p:nvSpPr>
          <p:cNvPr id="4" name="Slide Number Placeholder 3">
            <a:extLst>
              <a:ext uri="{FF2B5EF4-FFF2-40B4-BE49-F238E27FC236}">
                <a16:creationId xmlns:a16="http://schemas.microsoft.com/office/drawing/2014/main" id="{E0F0F5AD-BB59-123F-DF39-6460219160FE}"/>
              </a:ext>
            </a:extLst>
          </p:cNvPr>
          <p:cNvSpPr>
            <a:spLocks noGrp="1"/>
          </p:cNvSpPr>
          <p:nvPr>
            <p:ph type="sldNum" sz="quarter" idx="4"/>
          </p:nvPr>
        </p:nvSpPr>
        <p:spPr/>
        <p:txBody>
          <a:bodyPr/>
          <a:lstStyle/>
          <a:p>
            <a:fld id="{3E6AC032-1535-134B-A583-D5E1DDD0D167}" type="slidenum">
              <a:rPr lang="en-US" smtClean="0"/>
              <a:pPr/>
              <a:t>4</a:t>
            </a:fld>
            <a:endParaRPr lang="en-US"/>
          </a:p>
        </p:txBody>
      </p:sp>
      <p:grpSp>
        <p:nvGrpSpPr>
          <p:cNvPr id="15" name="Group 14">
            <a:extLst>
              <a:ext uri="{FF2B5EF4-FFF2-40B4-BE49-F238E27FC236}">
                <a16:creationId xmlns:a16="http://schemas.microsoft.com/office/drawing/2014/main" id="{921355EB-CE38-7833-B23E-356086920A5B}"/>
              </a:ext>
            </a:extLst>
          </p:cNvPr>
          <p:cNvGrpSpPr/>
          <p:nvPr/>
        </p:nvGrpSpPr>
        <p:grpSpPr>
          <a:xfrm>
            <a:off x="402335" y="1239540"/>
            <a:ext cx="11399690" cy="4417340"/>
            <a:chOff x="1495423" y="1162050"/>
            <a:chExt cx="8814818" cy="4782246"/>
          </a:xfrm>
        </p:grpSpPr>
        <p:sp>
          <p:nvSpPr>
            <p:cNvPr id="5" name="Rectangle 4">
              <a:extLst>
                <a:ext uri="{FF2B5EF4-FFF2-40B4-BE49-F238E27FC236}">
                  <a16:creationId xmlns:a16="http://schemas.microsoft.com/office/drawing/2014/main" id="{8119F69B-8607-490E-A4E2-699EEE29A323}"/>
                </a:ext>
              </a:extLst>
            </p:cNvPr>
            <p:cNvSpPr/>
            <p:nvPr/>
          </p:nvSpPr>
          <p:spPr>
            <a:xfrm>
              <a:off x="1495425" y="1162050"/>
              <a:ext cx="8814816" cy="609600"/>
            </a:xfrm>
            <a:prstGeom prst="rect">
              <a:avLst/>
            </a:prstGeom>
            <a:solidFill>
              <a:srgbClr val="FD51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Governance Forum</a:t>
              </a:r>
            </a:p>
            <a:p>
              <a:pPr algn="ctr"/>
              <a:r>
                <a:rPr lang="en-US" sz="1200" dirty="0">
                  <a:solidFill>
                    <a:schemeClr val="tx1"/>
                  </a:solidFill>
                </a:rPr>
                <a:t>(Quarterly; SSC Head + PDLC Leads + JV/Enterprise Leads)</a:t>
              </a:r>
            </a:p>
            <a:p>
              <a:pPr algn="ctr"/>
              <a:r>
                <a:rPr lang="en-US" sz="1200" dirty="0">
                  <a:solidFill>
                    <a:schemeClr val="tx1"/>
                  </a:solidFill>
                </a:rPr>
                <a:t>Reviews: RACI | KPIs | Portfolio | Escalations | Benchmarks</a:t>
              </a:r>
              <a:endParaRPr lang="en-GB" sz="1200" dirty="0">
                <a:solidFill>
                  <a:schemeClr val="tx1"/>
                </a:solidFill>
              </a:endParaRPr>
            </a:p>
          </p:txBody>
        </p:sp>
        <p:sp>
          <p:nvSpPr>
            <p:cNvPr id="6" name="Flowchart: Off-page Connector 5">
              <a:extLst>
                <a:ext uri="{FF2B5EF4-FFF2-40B4-BE49-F238E27FC236}">
                  <a16:creationId xmlns:a16="http://schemas.microsoft.com/office/drawing/2014/main" id="{8CB1DAE9-9386-3E1D-2082-EDC2ADE899F8}"/>
                </a:ext>
              </a:extLst>
            </p:cNvPr>
            <p:cNvSpPr/>
            <p:nvPr/>
          </p:nvSpPr>
          <p:spPr>
            <a:xfrm>
              <a:off x="1495425" y="1943100"/>
              <a:ext cx="2790825" cy="885825"/>
            </a:xfrm>
            <a:prstGeom prst="flowChartOffpageConnector">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Business Partners </a:t>
              </a:r>
              <a:br>
                <a:rPr lang="en-US" sz="1200" dirty="0">
                  <a:solidFill>
                    <a:schemeClr val="tx1"/>
                  </a:solidFill>
                </a:rPr>
              </a:br>
              <a:r>
                <a:rPr lang="en-US" sz="1200" dirty="0">
                  <a:solidFill>
                    <a:schemeClr val="tx1"/>
                  </a:solidFill>
                </a:rPr>
                <a:t>(Dedicated Relationship Management)</a:t>
              </a:r>
              <a:endParaRPr lang="en-GB" sz="1200" dirty="0">
                <a:solidFill>
                  <a:schemeClr val="tx1"/>
                </a:solidFill>
              </a:endParaRPr>
            </a:p>
          </p:txBody>
        </p:sp>
        <p:sp>
          <p:nvSpPr>
            <p:cNvPr id="7" name="Flowchart: Off-page Connector 6">
              <a:extLst>
                <a:ext uri="{FF2B5EF4-FFF2-40B4-BE49-F238E27FC236}">
                  <a16:creationId xmlns:a16="http://schemas.microsoft.com/office/drawing/2014/main" id="{3045959A-1D50-0F75-897E-9B2314D06485}"/>
                </a:ext>
              </a:extLst>
            </p:cNvPr>
            <p:cNvSpPr/>
            <p:nvPr/>
          </p:nvSpPr>
          <p:spPr>
            <a:xfrm>
              <a:off x="4507420" y="1943099"/>
              <a:ext cx="2790825" cy="885825"/>
            </a:xfrm>
            <a:prstGeom prst="flowChartOffpageConnector">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PMO </a:t>
              </a:r>
              <a:br>
                <a:rPr lang="en-US" sz="1200" dirty="0">
                  <a:solidFill>
                    <a:schemeClr val="tx1"/>
                  </a:solidFill>
                </a:rPr>
              </a:br>
              <a:r>
                <a:rPr lang="en-US" sz="1200" dirty="0">
                  <a:solidFill>
                    <a:schemeClr val="tx1"/>
                  </a:solidFill>
                </a:rPr>
                <a:t>(Portfolio Steering)</a:t>
              </a:r>
              <a:endParaRPr lang="en-GB" sz="1200" dirty="0">
                <a:solidFill>
                  <a:schemeClr val="tx1"/>
                </a:solidFill>
              </a:endParaRPr>
            </a:p>
          </p:txBody>
        </p:sp>
        <p:sp>
          <p:nvSpPr>
            <p:cNvPr id="8" name="Flowchart: Off-page Connector 7">
              <a:extLst>
                <a:ext uri="{FF2B5EF4-FFF2-40B4-BE49-F238E27FC236}">
                  <a16:creationId xmlns:a16="http://schemas.microsoft.com/office/drawing/2014/main" id="{4B81A098-D4AA-197D-C7F3-3CDE9F200683}"/>
                </a:ext>
              </a:extLst>
            </p:cNvPr>
            <p:cNvSpPr/>
            <p:nvPr/>
          </p:nvSpPr>
          <p:spPr>
            <a:xfrm>
              <a:off x="7519415" y="1943098"/>
              <a:ext cx="2790825" cy="885825"/>
            </a:xfrm>
            <a:prstGeom prst="flowChartOffpageConnector">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Vendor Management Office</a:t>
              </a:r>
              <a:endParaRPr lang="en-GB" sz="1200" b="1" dirty="0">
                <a:solidFill>
                  <a:schemeClr val="tx1"/>
                </a:solidFill>
              </a:endParaRPr>
            </a:p>
          </p:txBody>
        </p:sp>
        <p:sp>
          <p:nvSpPr>
            <p:cNvPr id="9" name="Rectangle 8">
              <a:extLst>
                <a:ext uri="{FF2B5EF4-FFF2-40B4-BE49-F238E27FC236}">
                  <a16:creationId xmlns:a16="http://schemas.microsoft.com/office/drawing/2014/main" id="{191B9FB4-C32A-56CA-7F23-2581EB9676D6}"/>
                </a:ext>
              </a:extLst>
            </p:cNvPr>
            <p:cNvSpPr/>
            <p:nvPr/>
          </p:nvSpPr>
          <p:spPr>
            <a:xfrm>
              <a:off x="1495424" y="2993133"/>
              <a:ext cx="8814816" cy="609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1200" dirty="0">
                  <a:solidFill>
                    <a:schemeClr val="tx1"/>
                  </a:solidFill>
                </a:rPr>
                <a:t>Unified Intake &amp; Case Management</a:t>
              </a:r>
            </a:p>
            <a:p>
              <a:pPr algn="ctr"/>
              <a:r>
                <a:rPr lang="en-US" sz="1200" kern="1200" dirty="0">
                  <a:solidFill>
                    <a:schemeClr val="tx1"/>
                  </a:solidFill>
                </a:rPr>
                <a:t>(ServiceNow or equivalent)</a:t>
              </a:r>
            </a:p>
            <a:p>
              <a:pPr algn="ctr"/>
              <a:r>
                <a:rPr lang="en-US" sz="1200" kern="1200" dirty="0">
                  <a:solidFill>
                    <a:schemeClr val="tx1"/>
                  </a:solidFill>
                </a:rPr>
                <a:t>Disputes | Incidents | Projects | Workarounds</a:t>
              </a:r>
              <a:endParaRPr lang="en-GB" sz="1200" kern="1200" dirty="0">
                <a:solidFill>
                  <a:schemeClr val="tx1"/>
                </a:solidFill>
              </a:endParaRPr>
            </a:p>
          </p:txBody>
        </p:sp>
        <p:sp>
          <p:nvSpPr>
            <p:cNvPr id="10" name="Rectangle 9">
              <a:extLst>
                <a:ext uri="{FF2B5EF4-FFF2-40B4-BE49-F238E27FC236}">
                  <a16:creationId xmlns:a16="http://schemas.microsoft.com/office/drawing/2014/main" id="{04D9401E-B7E2-4C7D-A0BA-8ABC6A1DC220}"/>
                </a:ext>
              </a:extLst>
            </p:cNvPr>
            <p:cNvSpPr/>
            <p:nvPr/>
          </p:nvSpPr>
          <p:spPr>
            <a:xfrm>
              <a:off x="1495424" y="4050405"/>
              <a:ext cx="8814816" cy="935735"/>
            </a:xfrm>
            <a:prstGeom prst="rect">
              <a:avLst/>
            </a:prstGeom>
            <a:solidFill>
              <a:schemeClr val="accent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1200" dirty="0">
                  <a:solidFill>
                    <a:schemeClr val="tx1"/>
                  </a:solidFill>
                </a:rPr>
                <a:t>Master RACI Matrix</a:t>
              </a:r>
            </a:p>
            <a:p>
              <a:pPr algn="ctr"/>
              <a:r>
                <a:rPr lang="en-US" sz="1200" kern="1200" dirty="0">
                  <a:solidFill>
                    <a:schemeClr val="tx1"/>
                  </a:solidFill>
                </a:rPr>
                <a:t>PDLC (Product &amp; Tech) x SSC Ops/RM x Customer/JV</a:t>
              </a:r>
            </a:p>
            <a:p>
              <a:pPr algn="ctr"/>
              <a:r>
                <a:rPr lang="en-US" sz="1200" kern="1200" dirty="0">
                  <a:solidFill>
                    <a:schemeClr val="tx1"/>
                  </a:solidFill>
                </a:rPr>
                <a:t>People x Process x Technology</a:t>
              </a:r>
            </a:p>
            <a:p>
              <a:pPr algn="ctr"/>
              <a:r>
                <a:rPr lang="en-US" sz="1200" kern="1200" dirty="0">
                  <a:solidFill>
                    <a:schemeClr val="tx1"/>
                  </a:solidFill>
                </a:rPr>
                <a:t>(Living artifact; quarterly review; PMO-gated)</a:t>
              </a:r>
              <a:endParaRPr lang="en-GB" sz="1200" kern="1200" dirty="0">
                <a:solidFill>
                  <a:schemeClr val="tx1"/>
                </a:solidFill>
              </a:endParaRPr>
            </a:p>
          </p:txBody>
        </p:sp>
        <p:cxnSp>
          <p:nvCxnSpPr>
            <p:cNvPr id="11" name="Straight Arrow Connector 10" descr="Up arrow">
              <a:extLst>
                <a:ext uri="{FF2B5EF4-FFF2-40B4-BE49-F238E27FC236}">
                  <a16:creationId xmlns:a16="http://schemas.microsoft.com/office/drawing/2014/main" id="{959883D0-5A12-1E52-7F9C-897937F6F786}"/>
                </a:ext>
              </a:extLst>
            </p:cNvPr>
            <p:cNvCxnSpPr>
              <a:cxnSpLocks/>
            </p:cNvCxnSpPr>
            <p:nvPr/>
          </p:nvCxnSpPr>
          <p:spPr>
            <a:xfrm rot="5400000">
              <a:off x="2626013" y="3813726"/>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descr="Up arrow">
              <a:extLst>
                <a:ext uri="{FF2B5EF4-FFF2-40B4-BE49-F238E27FC236}">
                  <a16:creationId xmlns:a16="http://schemas.microsoft.com/office/drawing/2014/main" id="{5A8098CB-0041-FBC8-01B6-022DCAFEE39B}"/>
                </a:ext>
              </a:extLst>
            </p:cNvPr>
            <p:cNvCxnSpPr>
              <a:cxnSpLocks/>
            </p:cNvCxnSpPr>
            <p:nvPr/>
          </p:nvCxnSpPr>
          <p:spPr>
            <a:xfrm rot="5400000">
              <a:off x="5740690" y="3813727"/>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descr="Up arrow">
              <a:extLst>
                <a:ext uri="{FF2B5EF4-FFF2-40B4-BE49-F238E27FC236}">
                  <a16:creationId xmlns:a16="http://schemas.microsoft.com/office/drawing/2014/main" id="{1046F0E7-5A03-7D13-F795-A5E04CFE822E}"/>
                </a:ext>
              </a:extLst>
            </p:cNvPr>
            <p:cNvCxnSpPr>
              <a:cxnSpLocks/>
            </p:cNvCxnSpPr>
            <p:nvPr/>
          </p:nvCxnSpPr>
          <p:spPr>
            <a:xfrm rot="5400000">
              <a:off x="8788690" y="3813727"/>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sp>
          <p:nvSpPr>
            <p:cNvPr id="14" name="Callout: Up Arrow 13">
              <a:extLst>
                <a:ext uri="{FF2B5EF4-FFF2-40B4-BE49-F238E27FC236}">
                  <a16:creationId xmlns:a16="http://schemas.microsoft.com/office/drawing/2014/main" id="{A4AE19A8-1B7F-4520-A92D-C08D9C6327E1}"/>
                </a:ext>
              </a:extLst>
            </p:cNvPr>
            <p:cNvSpPr/>
            <p:nvPr/>
          </p:nvSpPr>
          <p:spPr>
            <a:xfrm>
              <a:off x="1495423" y="5008561"/>
              <a:ext cx="2457451" cy="935735"/>
            </a:xfrm>
            <a:prstGeom prst="upArrowCallou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1200" dirty="0">
                  <a:solidFill>
                    <a:schemeClr val="tx1"/>
                  </a:solidFill>
                </a:rPr>
                <a:t>SLA &amp; KPI Dashboard </a:t>
              </a:r>
              <a:br>
                <a:rPr lang="en-US" sz="1200" b="1" kern="1200" dirty="0">
                  <a:solidFill>
                    <a:schemeClr val="tx1"/>
                  </a:solidFill>
                </a:rPr>
              </a:br>
              <a:r>
                <a:rPr lang="en-US" sz="1200" kern="1200" dirty="0">
                  <a:solidFill>
                    <a:schemeClr val="tx1"/>
                  </a:solidFill>
                </a:rPr>
                <a:t>(Service availability, Processing quality)</a:t>
              </a:r>
              <a:endParaRPr lang="en-GB" sz="1200" kern="1200" dirty="0">
                <a:solidFill>
                  <a:schemeClr val="tx1"/>
                </a:solidFill>
              </a:endParaRPr>
            </a:p>
          </p:txBody>
        </p:sp>
        <p:sp>
          <p:nvSpPr>
            <p:cNvPr id="16" name="Callout: Up Arrow 15">
              <a:extLst>
                <a:ext uri="{FF2B5EF4-FFF2-40B4-BE49-F238E27FC236}">
                  <a16:creationId xmlns:a16="http://schemas.microsoft.com/office/drawing/2014/main" id="{EAC6C8B7-1742-660F-3EBB-6EA1CEDA265D}"/>
                </a:ext>
              </a:extLst>
            </p:cNvPr>
            <p:cNvSpPr/>
            <p:nvPr/>
          </p:nvSpPr>
          <p:spPr>
            <a:xfrm>
              <a:off x="4652263" y="5008561"/>
              <a:ext cx="2457451" cy="935735"/>
            </a:xfrm>
            <a:prstGeom prst="upArrowCallou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1200" dirty="0">
                  <a:solidFill>
                    <a:schemeClr val="tx1"/>
                  </a:solidFill>
                </a:rPr>
                <a:t>Transfer pricing cube </a:t>
              </a:r>
              <a:br>
                <a:rPr lang="en-US" sz="1200" b="1" kern="1200" dirty="0">
                  <a:solidFill>
                    <a:schemeClr val="tx1"/>
                  </a:solidFill>
                </a:rPr>
              </a:br>
              <a:r>
                <a:rPr lang="en-US" sz="1200" kern="1200" dirty="0">
                  <a:solidFill>
                    <a:schemeClr val="tx1"/>
                  </a:solidFill>
                </a:rPr>
                <a:t>(Volume &amp; Activity based)</a:t>
              </a:r>
              <a:endParaRPr lang="en-GB" sz="1200" kern="1200" dirty="0">
                <a:solidFill>
                  <a:schemeClr val="tx1"/>
                </a:solidFill>
              </a:endParaRPr>
            </a:p>
          </p:txBody>
        </p:sp>
        <p:sp>
          <p:nvSpPr>
            <p:cNvPr id="17" name="Callout: Up Arrow 16">
              <a:extLst>
                <a:ext uri="{FF2B5EF4-FFF2-40B4-BE49-F238E27FC236}">
                  <a16:creationId xmlns:a16="http://schemas.microsoft.com/office/drawing/2014/main" id="{29E86F92-AD23-6451-1F2B-BC8B8D6F669B}"/>
                </a:ext>
              </a:extLst>
            </p:cNvPr>
            <p:cNvSpPr/>
            <p:nvPr/>
          </p:nvSpPr>
          <p:spPr>
            <a:xfrm>
              <a:off x="7852789" y="5008561"/>
              <a:ext cx="2457451" cy="935735"/>
            </a:xfrm>
            <a:prstGeom prst="upArrowCallou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kern="1200" dirty="0">
                  <a:solidFill>
                    <a:schemeClr val="tx1"/>
                  </a:solidFill>
                </a:rPr>
                <a:t>Subcontractor scorecard</a:t>
              </a:r>
              <a:endParaRPr lang="en-GB" sz="1200" b="1" kern="1200" dirty="0">
                <a:solidFill>
                  <a:schemeClr val="tx1"/>
                </a:solidFill>
              </a:endParaRPr>
            </a:p>
          </p:txBody>
        </p:sp>
      </p:grpSp>
      <p:sp>
        <p:nvSpPr>
          <p:cNvPr id="19" name="TextBox 18">
            <a:extLst>
              <a:ext uri="{FF2B5EF4-FFF2-40B4-BE49-F238E27FC236}">
                <a16:creationId xmlns:a16="http://schemas.microsoft.com/office/drawing/2014/main" id="{AB07CCBB-5CA0-8E55-2173-9E0AFE1C7B3E}"/>
              </a:ext>
            </a:extLst>
          </p:cNvPr>
          <p:cNvSpPr txBox="1"/>
          <p:nvPr/>
        </p:nvSpPr>
        <p:spPr>
          <a:xfrm>
            <a:off x="402335" y="5944296"/>
            <a:ext cx="11399687" cy="430887"/>
          </a:xfrm>
          <a:prstGeom prst="rect">
            <a:avLst/>
          </a:prstGeom>
          <a:noFill/>
        </p:spPr>
        <p:txBody>
          <a:bodyPr wrap="square" lIns="0" tIns="0" rIns="0" bIns="0">
            <a:spAutoFit/>
          </a:bodyPr>
          <a:lstStyle/>
          <a:p>
            <a:r>
              <a:rPr lang="en-GB" b="1" dirty="0">
                <a:solidFill>
                  <a:schemeClr val="tx1"/>
                </a:solidFill>
              </a:rPr>
              <a:t>Key Message: </a:t>
            </a:r>
            <a:r>
              <a:rPr lang="en-GB" dirty="0">
                <a:solidFill>
                  <a:schemeClr val="tx1"/>
                </a:solidFill>
              </a:rPr>
              <a:t>This model delivers all five pillars of Global Payments TOM simultaneously. The RACI is the backbone; the intake system is the nervous system; Business Partners are the customer interface; the PMO is the brain; reporting and benchmarking are the eyes.</a:t>
            </a:r>
          </a:p>
        </p:txBody>
      </p:sp>
    </p:spTree>
    <p:extLst>
      <p:ext uri="{BB962C8B-B14F-4D97-AF65-F5344CB8AC3E}">
        <p14:creationId xmlns:p14="http://schemas.microsoft.com/office/powerpoint/2010/main" val="332582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DF2E7-6617-CF68-F71C-6E411A5F817B}"/>
              </a:ext>
            </a:extLst>
          </p:cNvPr>
          <p:cNvSpPr>
            <a:spLocks noGrp="1"/>
          </p:cNvSpPr>
          <p:nvPr>
            <p:ph type="title"/>
          </p:nvPr>
        </p:nvSpPr>
        <p:spPr/>
        <p:txBody>
          <a:bodyPr/>
          <a:lstStyle/>
          <a:p>
            <a:r>
              <a:rPr lang="en-GB" dirty="0"/>
              <a:t>From Today's Challenges to Tomorrow's Targets — Aligned View</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926C4EA6-C2B1-6165-B331-D27F3822BE93}"/>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33" name="Slide Number Placeholder 32">
            <a:extLst>
              <a:ext uri="{FF2B5EF4-FFF2-40B4-BE49-F238E27FC236}">
                <a16:creationId xmlns:a16="http://schemas.microsoft.com/office/drawing/2014/main" id="{88CAA057-C67C-AC9B-CD46-2E2B184612A9}"/>
              </a:ext>
            </a:extLst>
          </p:cNvPr>
          <p:cNvSpPr>
            <a:spLocks noGrp="1"/>
          </p:cNvSpPr>
          <p:nvPr>
            <p:ph type="sldNum" sz="quarter" idx="4"/>
          </p:nvPr>
        </p:nvSpPr>
        <p:spPr/>
        <p:txBody>
          <a:bodyPr/>
          <a:lstStyle/>
          <a:p>
            <a:fld id="{3E6AC032-1535-134B-A583-D5E1DDD0D167}" type="slidenum">
              <a:rPr lang="en-US" smtClean="0"/>
              <a:pPr/>
              <a:t>5</a:t>
            </a:fld>
            <a:endParaRPr lang="en-US"/>
          </a:p>
        </p:txBody>
      </p:sp>
      <p:graphicFrame>
        <p:nvGraphicFramePr>
          <p:cNvPr id="6" name="Table 5">
            <a:extLst>
              <a:ext uri="{FF2B5EF4-FFF2-40B4-BE49-F238E27FC236}">
                <a16:creationId xmlns:a16="http://schemas.microsoft.com/office/drawing/2014/main" id="{FF73EBA0-3FA3-05BC-17C4-0C2E7E5D1ED4}"/>
              </a:ext>
            </a:extLst>
          </p:cNvPr>
          <p:cNvGraphicFramePr>
            <a:graphicFrameLocks noGrp="1"/>
          </p:cNvGraphicFramePr>
          <p:nvPr>
            <p:extLst>
              <p:ext uri="{D42A27DB-BD31-4B8C-83A1-F6EECF244321}">
                <p14:modId xmlns:p14="http://schemas.microsoft.com/office/powerpoint/2010/main" val="313470060"/>
              </p:ext>
            </p:extLst>
          </p:nvPr>
        </p:nvGraphicFramePr>
        <p:xfrm>
          <a:off x="402335" y="1794440"/>
          <a:ext cx="11432916" cy="4263689"/>
        </p:xfrm>
        <a:graphic>
          <a:graphicData uri="http://schemas.openxmlformats.org/drawingml/2006/table">
            <a:tbl>
              <a:tblPr firstRow="1" bandRow="1">
                <a:tableStyleId>{EC741567-8280-421E-8F88-9B89CA1CAF18}</a:tableStyleId>
              </a:tblPr>
              <a:tblGrid>
                <a:gridCol w="3810972">
                  <a:extLst>
                    <a:ext uri="{9D8B030D-6E8A-4147-A177-3AD203B41FA5}">
                      <a16:colId xmlns:a16="http://schemas.microsoft.com/office/drawing/2014/main" val="4198909760"/>
                    </a:ext>
                  </a:extLst>
                </a:gridCol>
                <a:gridCol w="3810972">
                  <a:extLst>
                    <a:ext uri="{9D8B030D-6E8A-4147-A177-3AD203B41FA5}">
                      <a16:colId xmlns:a16="http://schemas.microsoft.com/office/drawing/2014/main" val="2518726710"/>
                    </a:ext>
                  </a:extLst>
                </a:gridCol>
                <a:gridCol w="3810972">
                  <a:extLst>
                    <a:ext uri="{9D8B030D-6E8A-4147-A177-3AD203B41FA5}">
                      <a16:colId xmlns:a16="http://schemas.microsoft.com/office/drawing/2014/main" val="2179908464"/>
                    </a:ext>
                  </a:extLst>
                </a:gridCol>
              </a:tblGrid>
              <a:tr h="399108">
                <a:tc>
                  <a:txBody>
                    <a:bodyPr/>
                    <a:lstStyle/>
                    <a:p>
                      <a:r>
                        <a:rPr lang="en-GB" sz="1400" b="1">
                          <a:solidFill>
                            <a:schemeClr val="tx1"/>
                          </a:solidFill>
                        </a:rPr>
                        <a:t>TODAY (Client's Definition)</a:t>
                      </a:r>
                      <a:endParaRPr lang="en-SK" sz="1400" b="1">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GB" sz="1400" b="1" dirty="0">
                          <a:solidFill>
                            <a:schemeClr val="tx1"/>
                          </a:solidFill>
                        </a:rPr>
                        <a:t>TARGET (Client’s Definition)</a:t>
                      </a:r>
                      <a:endParaRPr lang="en-SK" sz="1400" b="1"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GB" sz="1400" b="1" dirty="0">
                          <a:solidFill>
                            <a:schemeClr val="tx1"/>
                          </a:solidFill>
                        </a:rPr>
                        <a:t>PwC Workstream </a:t>
                      </a:r>
                      <a:endParaRPr lang="en-SK" sz="1400" b="1"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060468334"/>
                  </a:ext>
                </a:extLst>
              </a:tr>
              <a:tr h="552083">
                <a:tc>
                  <a:txBody>
                    <a:bodyPr/>
                    <a:lstStyle/>
                    <a:p>
                      <a:r>
                        <a:rPr lang="en-GB" sz="1200" b="1" dirty="0">
                          <a:solidFill>
                            <a:schemeClr val="tx1"/>
                          </a:solidFill>
                        </a:rPr>
                        <a:t>Unstructured INTAKE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Structured demand intake &amp; prioritization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1" dirty="0">
                          <a:solidFill>
                            <a:schemeClr val="tx1"/>
                          </a:solidFill>
                        </a:rPr>
                        <a:t>WS3: Intake Mechanism &amp; Case Management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9277969"/>
                  </a:ext>
                </a:extLst>
              </a:tr>
              <a:tr h="552083">
                <a:tc>
                  <a:txBody>
                    <a:bodyPr/>
                    <a:lstStyle/>
                    <a:p>
                      <a:r>
                        <a:rPr lang="en-GB" sz="1200" b="1" dirty="0">
                          <a:solidFill>
                            <a:schemeClr val="tx1"/>
                          </a:solidFill>
                        </a:rPr>
                        <a:t>Limited transparency in prioritization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Transparent, centralized portfolio steering</a:t>
                      </a:r>
                      <a:endParaRPr lang="en-SK" sz="12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1" dirty="0">
                          <a:solidFill>
                            <a:schemeClr val="tx1"/>
                          </a:solidFill>
                        </a:rPr>
                        <a:t>WS2: PMO Function Design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442254"/>
                  </a:ext>
                </a:extLst>
              </a:tr>
              <a:tr h="552083">
                <a:tc>
                  <a:txBody>
                    <a:bodyPr/>
                    <a:lstStyle/>
                    <a:p>
                      <a:r>
                        <a:rPr lang="en-GB" sz="1200" b="1" dirty="0">
                          <a:solidFill>
                            <a:schemeClr val="tx1"/>
                          </a:solidFill>
                        </a:rPr>
                        <a:t>Unclear operating model and accountability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Clear operating model and defined ownership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1" dirty="0">
                          <a:solidFill>
                            <a:schemeClr val="tx1"/>
                          </a:solidFill>
                        </a:rPr>
                        <a:t>WS1: RACI Matrix &amp; Governance Model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8276561"/>
                  </a:ext>
                </a:extLst>
              </a:tr>
              <a:tr h="552083">
                <a:tc>
                  <a:txBody>
                    <a:bodyPr/>
                    <a:lstStyle/>
                    <a:p>
                      <a:r>
                        <a:rPr lang="en-GB" sz="1200" b="1">
                          <a:solidFill>
                            <a:schemeClr val="tx1"/>
                          </a:solidFill>
                        </a:rPr>
                        <a:t>Inconsistent transfer pricing &amp; intercompany </a:t>
                      </a:r>
                      <a:br>
                        <a:rPr lang="en-GB" sz="1200" b="1">
                          <a:solidFill>
                            <a:srgbClr val="000000"/>
                          </a:solidFill>
                        </a:rPr>
                      </a:br>
                      <a:r>
                        <a:rPr lang="en-GB" sz="1200" b="1">
                          <a:solidFill>
                            <a:schemeClr val="tx1"/>
                          </a:solidFill>
                        </a:rPr>
                        <a:t>set up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Standardized commercial framework (pricing &amp; agreements)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1" dirty="0">
                          <a:solidFill>
                            <a:schemeClr val="tx1"/>
                          </a:solidFill>
                        </a:rPr>
                        <a:t>WS6: Transfer Pricing Mechanism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14282"/>
                  </a:ext>
                </a:extLst>
              </a:tr>
              <a:tr h="552083">
                <a:tc>
                  <a:txBody>
                    <a:bodyPr/>
                    <a:lstStyle/>
                    <a:p>
                      <a:r>
                        <a:rPr lang="en-GB" sz="1200" b="1" dirty="0">
                          <a:solidFill>
                            <a:schemeClr val="tx1"/>
                          </a:solidFill>
                        </a:rPr>
                        <a:t>Fragmented product ownership and strategy alignment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Standardized processes and clear end-to-end accountability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1" dirty="0">
                          <a:solidFill>
                            <a:schemeClr val="tx1"/>
                          </a:solidFill>
                        </a:rPr>
                        <a:t>WS1 + WS2: RACI + Business Partnering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9095656"/>
                  </a:ext>
                </a:extLst>
              </a:tr>
              <a:tr h="552083">
                <a:tc>
                  <a:txBody>
                    <a:bodyPr/>
                    <a:lstStyle/>
                    <a:p>
                      <a:r>
                        <a:rPr lang="en-GB" sz="1200" b="1" dirty="0">
                          <a:solidFill>
                            <a:schemeClr val="tx1"/>
                          </a:solidFill>
                        </a:rPr>
                        <a:t>(Implied) </a:t>
                      </a:r>
                      <a:r>
                        <a:rPr lang="en-GB" sz="1200" b="0" dirty="0">
                          <a:solidFill>
                            <a:schemeClr val="tx1"/>
                          </a:solidFill>
                        </a:rPr>
                        <a:t>Post-acquisition workarounds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Strong governance and performance management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1" dirty="0">
                          <a:solidFill>
                            <a:schemeClr val="tx1"/>
                          </a:solidFill>
                        </a:rPr>
                        <a:t>WS4: Post-Acquisition Transition Framework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6569082"/>
                  </a:ext>
                </a:extLst>
              </a:tr>
              <a:tr h="552083">
                <a:tc>
                  <a:txBody>
                    <a:bodyPr/>
                    <a:lstStyle/>
                    <a:p>
                      <a:r>
                        <a:rPr lang="en-GB" sz="1200" b="1" dirty="0">
                          <a:solidFill>
                            <a:schemeClr val="tx1"/>
                          </a:solidFill>
                        </a:rPr>
                        <a:t>(Implied) </a:t>
                      </a:r>
                      <a:r>
                        <a:rPr lang="en-GB" sz="1200" b="0" dirty="0">
                          <a:solidFill>
                            <a:schemeClr val="tx1"/>
                          </a:solidFill>
                        </a:rPr>
                        <a:t>Subcontractor inconsistency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rgbClr val="F5F7F8"/>
                    </a:solidFill>
                  </a:tcPr>
                </a:tc>
                <a:tc>
                  <a:txBody>
                    <a:bodyPr/>
                    <a:lstStyle/>
                    <a:p>
                      <a:r>
                        <a:rPr lang="en-GB" sz="1200" dirty="0">
                          <a:solidFill>
                            <a:schemeClr val="tx1"/>
                          </a:solidFill>
                        </a:rPr>
                        <a:t>Customer-oriented service delivery model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GB" sz="1200" b="1" dirty="0">
                          <a:solidFill>
                            <a:schemeClr val="tx1"/>
                          </a:solidFill>
                        </a:rPr>
                        <a:t>WS5: Subcontractor Governance Model</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41974766"/>
                  </a:ext>
                </a:extLst>
              </a:tr>
            </a:tbl>
          </a:graphicData>
        </a:graphic>
      </p:graphicFrame>
    </p:spTree>
    <p:extLst>
      <p:ext uri="{BB962C8B-B14F-4D97-AF65-F5344CB8AC3E}">
        <p14:creationId xmlns:p14="http://schemas.microsoft.com/office/powerpoint/2010/main" val="209220367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22AA-1080-AB8B-954C-841888600CFB}"/>
              </a:ext>
            </a:extLst>
          </p:cNvPr>
          <p:cNvSpPr>
            <a:spLocks noGrp="1"/>
          </p:cNvSpPr>
          <p:nvPr>
            <p:ph type="title"/>
          </p:nvPr>
        </p:nvSpPr>
        <p:spPr/>
        <p:txBody>
          <a:bodyPr/>
          <a:lstStyle/>
          <a:p>
            <a:r>
              <a:rPr lang="en-GB" dirty="0"/>
              <a:t>Benefits Realization: JV Customers &amp; Enterprise</a:t>
            </a:r>
            <a:br>
              <a:rPr lang="en-GB" dirty="0"/>
            </a:br>
            <a:r>
              <a:rPr lang="en-GB" sz="1600" dirty="0">
                <a:latin typeface="Arial" panose="020B0604020202020204" pitchFamily="34" charset="0"/>
                <a:cs typeface="Arial" panose="020B0604020202020204" pitchFamily="34" charset="0"/>
              </a:rPr>
              <a:t>Making the Benefits Tangible and Measurable</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E4886F8B-2364-E76C-9CFC-65FE644D1E76}"/>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64C5C672-A958-594B-2D58-73E6A56970FA}"/>
              </a:ext>
            </a:extLst>
          </p:cNvPr>
          <p:cNvSpPr>
            <a:spLocks noGrp="1"/>
          </p:cNvSpPr>
          <p:nvPr>
            <p:ph type="sldNum" sz="quarter" idx="4"/>
          </p:nvPr>
        </p:nvSpPr>
        <p:spPr/>
        <p:txBody>
          <a:bodyPr/>
          <a:lstStyle/>
          <a:p>
            <a:fld id="{3E6AC032-1535-134B-A583-D5E1DDD0D167}" type="slidenum">
              <a:rPr lang="en-US" smtClean="0"/>
              <a:pPr/>
              <a:t>6</a:t>
            </a:fld>
            <a:endParaRPr lang="en-US"/>
          </a:p>
        </p:txBody>
      </p:sp>
      <p:sp>
        <p:nvSpPr>
          <p:cNvPr id="7" name="TextBox 6">
            <a:extLst>
              <a:ext uri="{FF2B5EF4-FFF2-40B4-BE49-F238E27FC236}">
                <a16:creationId xmlns:a16="http://schemas.microsoft.com/office/drawing/2014/main" id="{46BECEA3-A908-2BA7-42EF-73070A0B6586}"/>
              </a:ext>
            </a:extLst>
          </p:cNvPr>
          <p:cNvSpPr txBox="1"/>
          <p:nvPr/>
        </p:nvSpPr>
        <p:spPr>
          <a:xfrm>
            <a:off x="380691" y="1317625"/>
            <a:ext cx="5643697" cy="4990185"/>
          </a:xfrm>
          <a:prstGeom prst="rect">
            <a:avLst/>
          </a:prstGeom>
          <a:solidFill>
            <a:srgbClr val="F5F7F8"/>
          </a:solidFill>
        </p:spPr>
        <p:txBody>
          <a:bodyPr wrap="square" lIns="108000" tIns="108000" rIns="0" bIns="0" rtlCol="0">
            <a:noAutofit/>
          </a:bodyPr>
          <a:lstStyle/>
          <a:p>
            <a:pPr>
              <a:spcAft>
                <a:spcPts val="300"/>
              </a:spcAft>
            </a:pPr>
            <a:r>
              <a:rPr lang="en-GB" sz="1500" b="1" dirty="0"/>
              <a:t>For the CUSTOMER (JVs)</a:t>
            </a:r>
          </a:p>
          <a:p>
            <a:pPr marL="171450" indent="-171450">
              <a:spcAft>
                <a:spcPts val="300"/>
              </a:spcAft>
              <a:buFont typeface="Arial" panose="020B0604020202020204" pitchFamily="34" charset="0"/>
              <a:buChar char="•"/>
            </a:pPr>
            <a:r>
              <a:rPr lang="en-GB" sz="1200" dirty="0"/>
              <a:t>Higher service quality &amp; reliability (SLAs)</a:t>
            </a:r>
          </a:p>
          <a:p>
            <a:pPr marL="171450" indent="-171450">
              <a:spcAft>
                <a:spcPts val="300"/>
              </a:spcAft>
              <a:buFont typeface="Arial" panose="020B0604020202020204" pitchFamily="34" charset="0"/>
              <a:buChar char="•"/>
            </a:pPr>
            <a:r>
              <a:rPr lang="en-GB" sz="1200" dirty="0"/>
              <a:t>Faster time-to-market</a:t>
            </a:r>
          </a:p>
          <a:p>
            <a:pPr marL="171450" indent="-171450">
              <a:spcAft>
                <a:spcPts val="300"/>
              </a:spcAft>
              <a:buFont typeface="Arial" panose="020B0604020202020204" pitchFamily="34" charset="0"/>
              <a:buChar char="•"/>
            </a:pPr>
            <a:r>
              <a:rPr lang="en-GB" sz="1200" dirty="0"/>
              <a:t>Clear transparency on services and costs</a:t>
            </a:r>
          </a:p>
          <a:p>
            <a:pPr marL="171450" indent="-171450">
              <a:spcAft>
                <a:spcPts val="300"/>
              </a:spcAft>
              <a:buFont typeface="Arial" panose="020B0604020202020204" pitchFamily="34" charset="0"/>
              <a:buChar char="•"/>
            </a:pPr>
            <a:r>
              <a:rPr lang="en-GB" sz="1200" dirty="0"/>
              <a:t>Ability to focus on clients and growth</a:t>
            </a:r>
          </a:p>
        </p:txBody>
      </p:sp>
      <p:sp>
        <p:nvSpPr>
          <p:cNvPr id="8" name="Rectangle 7">
            <a:extLst>
              <a:ext uri="{FF2B5EF4-FFF2-40B4-BE49-F238E27FC236}">
                <a16:creationId xmlns:a16="http://schemas.microsoft.com/office/drawing/2014/main" id="{F4848E1F-1ACE-9817-DFE5-E9624DCD40A0}"/>
              </a:ext>
            </a:extLst>
          </p:cNvPr>
          <p:cNvSpPr/>
          <p:nvPr/>
        </p:nvSpPr>
        <p:spPr>
          <a:xfrm>
            <a:off x="514633" y="2898184"/>
            <a:ext cx="5375812" cy="1640888"/>
          </a:xfrm>
          <a:prstGeom prst="rect">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en-GB" b="1" dirty="0">
                <a:solidFill>
                  <a:schemeClr val="tx1"/>
                </a:solidFill>
              </a:rPr>
              <a:t>PwC Enabler</a:t>
            </a:r>
          </a:p>
          <a:p>
            <a:pPr marL="171450" indent="-171450">
              <a:spcAft>
                <a:spcPts val="300"/>
              </a:spcAft>
              <a:buFont typeface="Arial" panose="020B0604020202020204" pitchFamily="34" charset="0"/>
              <a:buChar char="•"/>
            </a:pPr>
            <a:r>
              <a:rPr lang="en-GB" sz="1200" dirty="0">
                <a:solidFill>
                  <a:schemeClr val="tx1"/>
                </a:solidFill>
              </a:rPr>
              <a:t>WS1: RACI clarity → right owner, right response; WS3: Intake with SLA clock</a:t>
            </a:r>
          </a:p>
          <a:p>
            <a:pPr marL="171450" indent="-171450">
              <a:spcAft>
                <a:spcPts val="300"/>
              </a:spcAft>
              <a:buFont typeface="Arial" panose="020B0604020202020204" pitchFamily="34" charset="0"/>
              <a:buChar char="•"/>
            </a:pPr>
            <a:r>
              <a:rPr lang="en-GB" sz="1200" dirty="0">
                <a:solidFill>
                  <a:schemeClr val="tx1"/>
                </a:solidFill>
              </a:rPr>
              <a:t>WS2: PMO intake gating + portfolio prioritization; WS4: Structured acquisition integration</a:t>
            </a:r>
          </a:p>
          <a:p>
            <a:pPr marL="171450" indent="-171450">
              <a:spcAft>
                <a:spcPts val="300"/>
              </a:spcAft>
              <a:buFont typeface="Arial" panose="020B0604020202020204" pitchFamily="34" charset="0"/>
              <a:buChar char="•"/>
            </a:pPr>
            <a:r>
              <a:rPr lang="en-GB" sz="1200" dirty="0">
                <a:solidFill>
                  <a:schemeClr val="tx1"/>
                </a:solidFill>
              </a:rPr>
              <a:t>WS6: Pricing catalogue; WS cross-cutting: SLA/Pricing dashboard</a:t>
            </a:r>
          </a:p>
          <a:p>
            <a:pPr marL="171450" indent="-171450">
              <a:spcAft>
                <a:spcPts val="300"/>
              </a:spcAft>
              <a:buFont typeface="Arial" panose="020B0604020202020204" pitchFamily="34" charset="0"/>
              <a:buChar char="•"/>
            </a:pPr>
            <a:r>
              <a:rPr lang="en-GB" sz="1200" dirty="0">
                <a:solidFill>
                  <a:schemeClr val="tx1"/>
                </a:solidFill>
              </a:rPr>
              <a:t>WS2: Business Partnering takes the complexity away from JVs</a:t>
            </a:r>
          </a:p>
          <a:p>
            <a:pPr>
              <a:spcAft>
                <a:spcPts val="300"/>
              </a:spcAft>
            </a:pPr>
            <a:endParaRPr lang="en-GB" dirty="0">
              <a:solidFill>
                <a:schemeClr val="tx1"/>
              </a:solidFill>
            </a:endParaRPr>
          </a:p>
          <a:p>
            <a:pPr>
              <a:spcAft>
                <a:spcPts val="300"/>
              </a:spcAft>
            </a:pPr>
            <a:endParaRPr lang="en-SK" dirty="0">
              <a:solidFill>
                <a:schemeClr val="tx1"/>
              </a:solidFill>
            </a:endParaRPr>
          </a:p>
        </p:txBody>
      </p:sp>
      <p:sp>
        <p:nvSpPr>
          <p:cNvPr id="33" name="Rectangle 32">
            <a:extLst>
              <a:ext uri="{FF2B5EF4-FFF2-40B4-BE49-F238E27FC236}">
                <a16:creationId xmlns:a16="http://schemas.microsoft.com/office/drawing/2014/main" id="{38F66C5A-6437-C362-24FF-584CCEBFAA68}"/>
              </a:ext>
            </a:extLst>
          </p:cNvPr>
          <p:cNvSpPr/>
          <p:nvPr/>
        </p:nvSpPr>
        <p:spPr>
          <a:xfrm>
            <a:off x="514633" y="4677564"/>
            <a:ext cx="5375812" cy="1468664"/>
          </a:xfrm>
          <a:prstGeom prst="rect">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en-GB" b="1" dirty="0">
                <a:solidFill>
                  <a:schemeClr val="tx1"/>
                </a:solidFill>
              </a:rPr>
              <a:t>Measurement</a:t>
            </a:r>
          </a:p>
          <a:p>
            <a:pPr marL="171450" indent="-171450">
              <a:spcAft>
                <a:spcPts val="300"/>
              </a:spcAft>
              <a:buFont typeface="Arial" panose="020B0604020202020204" pitchFamily="34" charset="0"/>
              <a:buChar char="•"/>
            </a:pPr>
            <a:r>
              <a:rPr lang="en-GB" sz="1200" dirty="0">
                <a:solidFill>
                  <a:schemeClr val="tx1"/>
                </a:solidFill>
              </a:rPr>
              <a:t>SLA attainment rate (target: &gt;95%)</a:t>
            </a:r>
          </a:p>
          <a:p>
            <a:pPr marL="171450" indent="-171450">
              <a:spcAft>
                <a:spcPts val="300"/>
              </a:spcAft>
              <a:buFont typeface="Arial" panose="020B0604020202020204" pitchFamily="34" charset="0"/>
              <a:buChar char="•"/>
            </a:pPr>
            <a:r>
              <a:rPr lang="en-GB" sz="1200" dirty="0">
                <a:solidFill>
                  <a:schemeClr val="tx1"/>
                </a:solidFill>
              </a:rPr>
              <a:t>Average time from request to delivery (target: 30% reduction in 12 months)</a:t>
            </a:r>
          </a:p>
          <a:p>
            <a:pPr marL="171450" indent="-171450">
              <a:spcAft>
                <a:spcPts val="300"/>
              </a:spcAft>
              <a:buFont typeface="Arial" panose="020B0604020202020204" pitchFamily="34" charset="0"/>
              <a:buChar char="•"/>
            </a:pPr>
            <a:r>
              <a:rPr lang="en-GB" sz="1200" dirty="0">
                <a:solidFill>
                  <a:schemeClr val="tx1"/>
                </a:solidFill>
              </a:rPr>
              <a:t>Customer satisfaction score; pricing dispute reduction</a:t>
            </a:r>
          </a:p>
          <a:p>
            <a:pPr marL="171450" indent="-171450">
              <a:spcAft>
                <a:spcPts val="300"/>
              </a:spcAft>
              <a:buFont typeface="Arial" panose="020B0604020202020204" pitchFamily="34" charset="0"/>
              <a:buChar char="•"/>
            </a:pPr>
            <a:r>
              <a:rPr lang="en-GB" sz="1200" dirty="0">
                <a:solidFill>
                  <a:schemeClr val="tx1"/>
                </a:solidFill>
              </a:rPr>
              <a:t>NPS from JV customers</a:t>
            </a:r>
          </a:p>
        </p:txBody>
      </p:sp>
      <p:sp>
        <p:nvSpPr>
          <p:cNvPr id="34" name="TextBox 33">
            <a:extLst>
              <a:ext uri="{FF2B5EF4-FFF2-40B4-BE49-F238E27FC236}">
                <a16:creationId xmlns:a16="http://schemas.microsoft.com/office/drawing/2014/main" id="{13F9F11F-6E27-A3B0-F1F2-A30123214495}"/>
              </a:ext>
            </a:extLst>
          </p:cNvPr>
          <p:cNvSpPr txBox="1"/>
          <p:nvPr/>
        </p:nvSpPr>
        <p:spPr>
          <a:xfrm>
            <a:off x="6158329" y="1317625"/>
            <a:ext cx="5643697" cy="4990185"/>
          </a:xfrm>
          <a:prstGeom prst="rect">
            <a:avLst/>
          </a:prstGeom>
          <a:solidFill>
            <a:srgbClr val="F5F7F8"/>
          </a:solidFill>
        </p:spPr>
        <p:txBody>
          <a:bodyPr wrap="square" lIns="108000" tIns="108000" rIns="0" bIns="0" rtlCol="0">
            <a:noAutofit/>
          </a:bodyPr>
          <a:lstStyle/>
          <a:p>
            <a:pPr>
              <a:spcAft>
                <a:spcPts val="300"/>
              </a:spcAft>
            </a:pPr>
            <a:r>
              <a:rPr lang="en-GB" sz="1500" b="1" dirty="0"/>
              <a:t>For the ENTERPRISE</a:t>
            </a:r>
          </a:p>
          <a:p>
            <a:pPr marL="171450" indent="-171450">
              <a:spcAft>
                <a:spcPts val="300"/>
              </a:spcAft>
              <a:buFont typeface="Arial" panose="020B0604020202020204" pitchFamily="34" charset="0"/>
              <a:buChar char="•"/>
            </a:pPr>
            <a:r>
              <a:rPr lang="en-GB" sz="1200" dirty="0"/>
              <a:t>Sustainable cost efficiency and scalability</a:t>
            </a:r>
          </a:p>
          <a:p>
            <a:pPr marL="171450" indent="-171450">
              <a:spcAft>
                <a:spcPts val="300"/>
              </a:spcAft>
              <a:buFont typeface="Arial" panose="020B0604020202020204" pitchFamily="34" charset="0"/>
              <a:buChar char="•"/>
            </a:pPr>
            <a:r>
              <a:rPr lang="en-GB" sz="1200" dirty="0"/>
              <a:t>Stronger governance &amp; control</a:t>
            </a:r>
          </a:p>
          <a:p>
            <a:pPr marL="171450" indent="-171450">
              <a:spcAft>
                <a:spcPts val="300"/>
              </a:spcAft>
              <a:buFont typeface="Arial" panose="020B0604020202020204" pitchFamily="34" charset="0"/>
              <a:buChar char="•"/>
            </a:pPr>
            <a:r>
              <a:rPr lang="en-GB" sz="1200" dirty="0"/>
              <a:t>Full transparency on costs and performance</a:t>
            </a:r>
          </a:p>
          <a:p>
            <a:pPr marL="171450" indent="-171450">
              <a:spcAft>
                <a:spcPts val="300"/>
              </a:spcAft>
              <a:buFont typeface="Arial" panose="020B0604020202020204" pitchFamily="34" charset="0"/>
              <a:buChar char="•"/>
            </a:pPr>
            <a:r>
              <a:rPr lang="en-GB" sz="1200" dirty="0"/>
              <a:t>Standardization and reduced complexity</a:t>
            </a:r>
          </a:p>
          <a:p>
            <a:pPr marL="171450" indent="-171450">
              <a:spcAft>
                <a:spcPts val="300"/>
              </a:spcAft>
              <a:buFont typeface="Arial" panose="020B0604020202020204" pitchFamily="34" charset="0"/>
              <a:buChar char="•"/>
            </a:pPr>
            <a:r>
              <a:rPr lang="en-GB" sz="1200" dirty="0"/>
              <a:t>Platform for scalable growth and innovation</a:t>
            </a:r>
          </a:p>
          <a:p>
            <a:pPr marL="171450" indent="-171450">
              <a:spcAft>
                <a:spcPts val="300"/>
              </a:spcAft>
              <a:buFont typeface="Arial" panose="020B0604020202020204" pitchFamily="34" charset="0"/>
              <a:buChar char="•"/>
            </a:pPr>
            <a:endParaRPr lang="en-GB" sz="1200" dirty="0"/>
          </a:p>
        </p:txBody>
      </p:sp>
      <p:sp>
        <p:nvSpPr>
          <p:cNvPr id="35" name="Rectangle 34">
            <a:extLst>
              <a:ext uri="{FF2B5EF4-FFF2-40B4-BE49-F238E27FC236}">
                <a16:creationId xmlns:a16="http://schemas.microsoft.com/office/drawing/2014/main" id="{7A48B963-DA1B-4FA4-9EDF-4200403C8F05}"/>
              </a:ext>
            </a:extLst>
          </p:cNvPr>
          <p:cNvSpPr/>
          <p:nvPr/>
        </p:nvSpPr>
        <p:spPr>
          <a:xfrm>
            <a:off x="6292271" y="2898184"/>
            <a:ext cx="5375812" cy="1640888"/>
          </a:xfrm>
          <a:prstGeom prst="rect">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en-GB" b="1" dirty="0">
                <a:solidFill>
                  <a:schemeClr val="tx1"/>
                </a:solidFill>
              </a:rPr>
              <a:t>PwC Enabler</a:t>
            </a:r>
          </a:p>
          <a:p>
            <a:pPr marL="171450" indent="-171450">
              <a:spcAft>
                <a:spcPts val="300"/>
              </a:spcAft>
              <a:buFont typeface="Arial" panose="020B0604020202020204" pitchFamily="34" charset="0"/>
              <a:buChar char="•"/>
            </a:pPr>
            <a:r>
              <a:rPr lang="en-GB" sz="1200" dirty="0">
                <a:solidFill>
                  <a:schemeClr val="tx1"/>
                </a:solidFill>
              </a:rPr>
              <a:t>WS6: TP model; WS5: Subcontractor governance; WS3: Automated intake</a:t>
            </a:r>
          </a:p>
          <a:p>
            <a:pPr marL="171450" indent="-171450">
              <a:spcAft>
                <a:spcPts val="300"/>
              </a:spcAft>
              <a:buFont typeface="Arial" panose="020B0604020202020204" pitchFamily="34" charset="0"/>
              <a:buChar char="•"/>
            </a:pPr>
            <a:r>
              <a:rPr lang="en-GB" sz="1200" dirty="0">
                <a:solidFill>
                  <a:schemeClr val="tx1"/>
                </a:solidFill>
              </a:rPr>
              <a:t>WS1: RACI; WS governance forum; WS2: PMO</a:t>
            </a:r>
          </a:p>
          <a:p>
            <a:pPr marL="171450" indent="-171450">
              <a:spcAft>
                <a:spcPts val="300"/>
              </a:spcAft>
              <a:buFont typeface="Arial" panose="020B0604020202020204" pitchFamily="34" charset="0"/>
              <a:buChar char="•"/>
            </a:pPr>
            <a:r>
              <a:rPr lang="en-GB" sz="1200" dirty="0">
                <a:solidFill>
                  <a:schemeClr val="tx1"/>
                </a:solidFill>
              </a:rPr>
              <a:t>Cross-cutting: Real-time dashboards (Power BI)</a:t>
            </a:r>
          </a:p>
          <a:p>
            <a:pPr marL="171450" indent="-171450">
              <a:spcAft>
                <a:spcPts val="300"/>
              </a:spcAft>
              <a:buFont typeface="Arial" panose="020B0604020202020204" pitchFamily="34" charset="0"/>
              <a:buChar char="•"/>
            </a:pPr>
            <a:r>
              <a:rPr lang="en-GB" sz="1200" dirty="0">
                <a:solidFill>
                  <a:schemeClr val="tx1"/>
                </a:solidFill>
              </a:rPr>
              <a:t>WS1: Process RACI; WS3: Single intake portal</a:t>
            </a:r>
          </a:p>
          <a:p>
            <a:pPr marL="171450" indent="-171450">
              <a:spcAft>
                <a:spcPts val="300"/>
              </a:spcAft>
              <a:buFont typeface="Arial" panose="020B0604020202020204" pitchFamily="34" charset="0"/>
              <a:buChar char="•"/>
            </a:pPr>
            <a:r>
              <a:rPr lang="en-GB" sz="1200" dirty="0">
                <a:solidFill>
                  <a:schemeClr val="tx1"/>
                </a:solidFill>
              </a:rPr>
              <a:t>WS4: A→B→C→D framework; WS2: PMO capacity planning</a:t>
            </a:r>
          </a:p>
          <a:p>
            <a:pPr marL="171450" indent="-171450">
              <a:spcAft>
                <a:spcPts val="300"/>
              </a:spcAft>
              <a:buFont typeface="Arial" panose="020B0604020202020204" pitchFamily="34" charset="0"/>
              <a:buChar char="•"/>
            </a:pPr>
            <a:endParaRPr lang="en-GB" sz="1200" dirty="0">
              <a:solidFill>
                <a:schemeClr val="tx1"/>
              </a:solidFill>
            </a:endParaRPr>
          </a:p>
          <a:p>
            <a:pPr>
              <a:spcAft>
                <a:spcPts val="300"/>
              </a:spcAft>
            </a:pPr>
            <a:endParaRPr lang="en-SK" dirty="0">
              <a:solidFill>
                <a:schemeClr val="tx1"/>
              </a:solidFill>
            </a:endParaRPr>
          </a:p>
        </p:txBody>
      </p:sp>
      <p:sp>
        <p:nvSpPr>
          <p:cNvPr id="36" name="Rectangle 35">
            <a:extLst>
              <a:ext uri="{FF2B5EF4-FFF2-40B4-BE49-F238E27FC236}">
                <a16:creationId xmlns:a16="http://schemas.microsoft.com/office/drawing/2014/main" id="{6942049B-D25E-EB24-1A63-4EF216568A5B}"/>
              </a:ext>
            </a:extLst>
          </p:cNvPr>
          <p:cNvSpPr/>
          <p:nvPr/>
        </p:nvSpPr>
        <p:spPr>
          <a:xfrm>
            <a:off x="6292271" y="4677564"/>
            <a:ext cx="5375812" cy="1468664"/>
          </a:xfrm>
          <a:prstGeom prst="rect">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en-GB" b="1" dirty="0">
                <a:solidFill>
                  <a:schemeClr val="tx1"/>
                </a:solidFill>
              </a:rPr>
              <a:t>Measurement</a:t>
            </a:r>
          </a:p>
          <a:p>
            <a:pPr marL="171450" indent="-171450">
              <a:spcAft>
                <a:spcPts val="300"/>
              </a:spcAft>
              <a:buFont typeface="Arial" panose="020B0604020202020204" pitchFamily="34" charset="0"/>
              <a:buChar char="•"/>
            </a:pPr>
            <a:r>
              <a:rPr lang="en-GB" sz="1200" dirty="0">
                <a:solidFill>
                  <a:schemeClr val="tx1"/>
                </a:solidFill>
              </a:rPr>
              <a:t>Cost per transaction; cost-to-serve ratio</a:t>
            </a:r>
          </a:p>
          <a:p>
            <a:pPr marL="171450" indent="-171450">
              <a:spcAft>
                <a:spcPts val="300"/>
              </a:spcAft>
              <a:buFont typeface="Arial" panose="020B0604020202020204" pitchFamily="34" charset="0"/>
              <a:buChar char="•"/>
            </a:pPr>
            <a:r>
              <a:rPr lang="en-GB" sz="1200" dirty="0">
                <a:solidFill>
                  <a:schemeClr val="tx1"/>
                </a:solidFill>
              </a:rPr>
              <a:t>Governance maturity score (PwC assessment)</a:t>
            </a:r>
          </a:p>
          <a:p>
            <a:pPr marL="171450" indent="-171450">
              <a:spcAft>
                <a:spcPts val="300"/>
              </a:spcAft>
              <a:buFont typeface="Arial" panose="020B0604020202020204" pitchFamily="34" charset="0"/>
              <a:buChar char="•"/>
            </a:pPr>
            <a:r>
              <a:rPr lang="en-GB" sz="1200" dirty="0">
                <a:solidFill>
                  <a:schemeClr val="tx1"/>
                </a:solidFill>
              </a:rPr>
              <a:t>Dashboard adoption; data accuracy rate</a:t>
            </a:r>
          </a:p>
          <a:p>
            <a:pPr marL="171450" indent="-171450">
              <a:spcAft>
                <a:spcPts val="300"/>
              </a:spcAft>
              <a:buFont typeface="Arial" panose="020B0604020202020204" pitchFamily="34" charset="0"/>
              <a:buChar char="•"/>
            </a:pPr>
            <a:r>
              <a:rPr lang="en-GB" sz="1200" dirty="0">
                <a:solidFill>
                  <a:schemeClr val="tx1"/>
                </a:solidFill>
              </a:rPr>
              <a:t>Process variation index; number of workarounds active</a:t>
            </a:r>
          </a:p>
          <a:p>
            <a:pPr marL="171450" indent="-171450">
              <a:spcAft>
                <a:spcPts val="300"/>
              </a:spcAft>
              <a:buFont typeface="Arial" panose="020B0604020202020204" pitchFamily="34" charset="0"/>
              <a:buChar char="•"/>
            </a:pPr>
            <a:r>
              <a:rPr lang="en-GB" sz="1200" dirty="0">
                <a:solidFill>
                  <a:schemeClr val="tx1"/>
                </a:solidFill>
              </a:rPr>
              <a:t>New workloads onboarded per quarter</a:t>
            </a:r>
          </a:p>
          <a:p>
            <a:pPr marL="171450" indent="-171450">
              <a:spcAft>
                <a:spcPts val="300"/>
              </a:spcAft>
              <a:buFont typeface="Arial" panose="020B0604020202020204" pitchFamily="34" charset="0"/>
              <a:buChar char="•"/>
            </a:pPr>
            <a:endParaRPr lang="en-GB" sz="1200" dirty="0">
              <a:solidFill>
                <a:schemeClr val="tx1"/>
              </a:solidFill>
            </a:endParaRPr>
          </a:p>
        </p:txBody>
      </p:sp>
      <p:pic>
        <p:nvPicPr>
          <p:cNvPr id="5" name="Graphic 4">
            <a:extLst>
              <a:ext uri="{FF2B5EF4-FFF2-40B4-BE49-F238E27FC236}">
                <a16:creationId xmlns:a16="http://schemas.microsoft.com/office/drawing/2014/main" id="{50AECD26-362A-757A-7351-D5A1A09987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53683" y="1625994"/>
            <a:ext cx="914400" cy="914400"/>
          </a:xfrm>
          <a:prstGeom prst="rect">
            <a:avLst/>
          </a:prstGeom>
        </p:spPr>
      </p:pic>
      <p:pic>
        <p:nvPicPr>
          <p:cNvPr id="6" name="Graphic 5">
            <a:extLst>
              <a:ext uri="{FF2B5EF4-FFF2-40B4-BE49-F238E27FC236}">
                <a16:creationId xmlns:a16="http://schemas.microsoft.com/office/drawing/2014/main" id="{94711455-5A7A-DAE8-2962-AD8332B5FA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76045" y="1625994"/>
            <a:ext cx="914400" cy="914400"/>
          </a:xfrm>
          <a:prstGeom prst="rect">
            <a:avLst/>
          </a:prstGeom>
        </p:spPr>
      </p:pic>
    </p:spTree>
    <p:extLst>
      <p:ext uri="{BB962C8B-B14F-4D97-AF65-F5344CB8AC3E}">
        <p14:creationId xmlns:p14="http://schemas.microsoft.com/office/powerpoint/2010/main" val="1488694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6B49D-5F1F-173A-EE79-02E47B7F6932}"/>
              </a:ext>
            </a:extLst>
          </p:cNvPr>
          <p:cNvSpPr>
            <a:spLocks noGrp="1"/>
          </p:cNvSpPr>
          <p:nvPr>
            <p:ph type="title"/>
          </p:nvPr>
        </p:nvSpPr>
        <p:spPr/>
        <p:txBody>
          <a:bodyPr/>
          <a:lstStyle/>
          <a:p>
            <a:r>
              <a:rPr lang="en-GB" dirty="0"/>
              <a:t>PwC Capabilities Matching Your target operating model (TOM)</a:t>
            </a:r>
            <a:br>
              <a:rPr lang="en-GB" dirty="0"/>
            </a:br>
            <a:r>
              <a:rPr lang="en-GB" sz="1600" dirty="0">
                <a:latin typeface="Arial" panose="020B0604020202020204" pitchFamily="34" charset="0"/>
                <a:cs typeface="Arial" panose="020B0604020202020204" pitchFamily="34" charset="0"/>
              </a:rPr>
              <a:t>Your Target Operating Model — Our Proven Capabilities</a:t>
            </a:r>
            <a:endParaRPr lang="sk-SK" sz="3600"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40078F26-1780-BB89-0388-B3F837344DA1}"/>
              </a:ext>
            </a:extLst>
          </p:cNvPr>
          <p:cNvSpPr>
            <a:spLocks noGrp="1"/>
          </p:cNvSpPr>
          <p:nvPr>
            <p:ph type="ftr" sz="quarter" idx="3"/>
          </p:nvPr>
        </p:nvSpPr>
        <p:spPr>
          <a:xfrm>
            <a:off x="1067626" y="6476734"/>
            <a:ext cx="8814816" cy="161583"/>
          </a:xfrm>
        </p:spPr>
        <p:txBody>
          <a:bodyPr/>
          <a:lstStyle/>
          <a:p>
            <a:r>
              <a:rPr lang="en-GB"/>
              <a:t>Proposal for Global Payments Prague Shared Service Center Transformation</a:t>
            </a:r>
            <a:endParaRPr lang="en-US" dirty="0"/>
          </a:p>
        </p:txBody>
      </p:sp>
      <p:sp>
        <p:nvSpPr>
          <p:cNvPr id="7" name="TextBox 6">
            <a:extLst>
              <a:ext uri="{FF2B5EF4-FFF2-40B4-BE49-F238E27FC236}">
                <a16:creationId xmlns:a16="http://schemas.microsoft.com/office/drawing/2014/main" id="{2DB7C430-B669-EB01-1B60-22E4B43E1B28}"/>
              </a:ext>
            </a:extLst>
          </p:cNvPr>
          <p:cNvSpPr txBox="1"/>
          <p:nvPr/>
        </p:nvSpPr>
        <p:spPr>
          <a:xfrm>
            <a:off x="4946707" y="2287344"/>
            <a:ext cx="2214551" cy="4062522"/>
          </a:xfrm>
          <a:prstGeom prst="rect">
            <a:avLst/>
          </a:prstGeom>
          <a:noFill/>
        </p:spPr>
        <p:txBody>
          <a:bodyPr wrap="square" lIns="0" rIns="108000">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1500" b="1" i="0" u="none" strike="noStrike" kern="1200" cap="none" spc="0" normalizeH="0" baseline="0" noProof="0" dirty="0">
                <a:ln>
                  <a:noFill/>
                </a:ln>
                <a:solidFill>
                  <a:srgbClr val="000000"/>
                </a:solidFill>
                <a:effectLst/>
                <a:uLnTx/>
                <a:uFillTx/>
                <a:latin typeface="Arial"/>
                <a:ea typeface="+mn-ea"/>
                <a:cs typeface="+mn-cs"/>
              </a:rPr>
              <a:t>Customer-Provider Model — How Teams Interact: </a:t>
            </a:r>
          </a:p>
          <a:p>
            <a:pPr lvl="0">
              <a:lnSpc>
                <a:spcPct val="114000"/>
              </a:lnSpc>
              <a:spcAft>
                <a:spcPts val="1200"/>
              </a:spcAft>
              <a:buClrTx/>
              <a:defRPr/>
            </a:pPr>
            <a:r>
              <a:rPr lang="en-GB" sz="1200" b="1" kern="1200" dirty="0"/>
              <a:t>Client’s description: </a:t>
            </a:r>
            <a:r>
              <a:rPr lang="en-GB" sz="1200" kern="1200" dirty="0"/>
              <a:t>Demand intake &amp; prioritization; Capacity &amp; resource allocation; Regular service reviews &amp; feedback loops; Dedicated Relationship Management</a:t>
            </a:r>
          </a:p>
          <a:p>
            <a:pPr lvl="0">
              <a:lnSpc>
                <a:spcPct val="114000"/>
              </a:lnSpc>
              <a:spcAft>
                <a:spcPts val="1200"/>
              </a:spcAft>
              <a:buClrTx/>
              <a:defRPr/>
            </a:pPr>
            <a:endParaRPr lang="en-GB" sz="1200" b="1" dirty="0"/>
          </a:p>
          <a:p>
            <a:pPr lvl="0">
              <a:lnSpc>
                <a:spcPct val="114000"/>
              </a:lnSpc>
              <a:spcAft>
                <a:spcPts val="1200"/>
              </a:spcAft>
              <a:buClrTx/>
              <a:defRPr/>
            </a:pPr>
            <a:r>
              <a:rPr lang="en-GB" sz="1200" b="1" dirty="0"/>
              <a:t>Business Partnering Design</a:t>
            </a:r>
            <a:r>
              <a:rPr lang="en-GB" sz="1200" dirty="0"/>
              <a:t> — Deployed at 50+ GBS </a:t>
            </a:r>
            <a:r>
              <a:rPr lang="en-GB" sz="1200" dirty="0" err="1"/>
              <a:t>centers</a:t>
            </a:r>
            <a:r>
              <a:rPr lang="en-GB" sz="1200" dirty="0"/>
              <a:t>; </a:t>
            </a:r>
            <a:r>
              <a:rPr lang="en-GB" sz="1200" b="1" dirty="0"/>
              <a:t>PMO Design</a:t>
            </a:r>
            <a:r>
              <a:rPr lang="en-GB" sz="1200" dirty="0"/>
              <a:t>; </a:t>
            </a:r>
            <a:r>
              <a:rPr lang="en-GB" sz="1200" b="1" dirty="0"/>
              <a:t>ServiceNow/Salesforce implementation</a:t>
            </a:r>
            <a:r>
              <a:rPr lang="en-GB" sz="1200" dirty="0"/>
              <a:t> for intake and case management.</a:t>
            </a:r>
            <a:endParaRPr lang="en-GB" sz="1050" kern="1200" dirty="0"/>
          </a:p>
        </p:txBody>
      </p:sp>
      <p:sp>
        <p:nvSpPr>
          <p:cNvPr id="8" name="TextBox 7">
            <a:extLst>
              <a:ext uri="{FF2B5EF4-FFF2-40B4-BE49-F238E27FC236}">
                <a16:creationId xmlns:a16="http://schemas.microsoft.com/office/drawing/2014/main" id="{90E950E2-2296-77C7-C6D3-7FC22697717F}"/>
              </a:ext>
            </a:extLst>
          </p:cNvPr>
          <p:cNvSpPr txBox="1"/>
          <p:nvPr/>
        </p:nvSpPr>
        <p:spPr>
          <a:xfrm>
            <a:off x="2680410" y="2287344"/>
            <a:ext cx="2214552" cy="4216411"/>
          </a:xfrm>
          <a:prstGeom prst="rect">
            <a:avLst/>
          </a:prstGeom>
          <a:noFill/>
        </p:spPr>
        <p:txBody>
          <a:bodyPr wrap="square" lIns="0" rIns="108000">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1500" b="1" i="0" u="none" strike="noStrike" kern="1200" cap="none" spc="0" normalizeH="0" baseline="0" noProof="0" dirty="0">
                <a:ln>
                  <a:noFill/>
                </a:ln>
                <a:solidFill>
                  <a:srgbClr val="000000"/>
                </a:solidFill>
                <a:effectLst/>
                <a:uLnTx/>
                <a:uFillTx/>
                <a:latin typeface="Arial"/>
                <a:ea typeface="+mn-ea"/>
                <a:cs typeface="+mn-cs"/>
              </a:rPr>
              <a:t>Service Delivery — How Services Are Delivered:</a:t>
            </a:r>
          </a:p>
          <a:p>
            <a:pPr marL="0" marR="0" lvl="0" indent="0" algn="l" defTabSz="914400" rtl="0" eaLnBrk="1" fontAlgn="auto" latinLnBrk="0" hangingPunct="1">
              <a:lnSpc>
                <a:spcPct val="114000"/>
              </a:lnSpc>
              <a:spcBef>
                <a:spcPts val="0"/>
              </a:spcBef>
              <a:spcAft>
                <a:spcPts val="1200"/>
              </a:spcAft>
              <a:buClrTx/>
              <a:buSzTx/>
              <a:buFontTx/>
              <a:buNone/>
              <a:tabLst/>
              <a:defRPr/>
            </a:pPr>
            <a:r>
              <a:rPr lang="en-GB" sz="1200" b="1" kern="1200" dirty="0">
                <a:ea typeface="+mn-ea"/>
                <a:cs typeface="+mn-cs"/>
              </a:rPr>
              <a:t>Client’s description: </a:t>
            </a:r>
            <a:r>
              <a:rPr lang="en-GB" sz="1200" kern="1200" dirty="0">
                <a:ea typeface="+mn-ea"/>
                <a:cs typeface="+mn-cs"/>
              </a:rPr>
              <a:t>Standardized &amp; defined processes; Defined Product &amp; Service Catalogue</a:t>
            </a:r>
            <a:endParaRPr kumimoji="0" lang="en-GB" sz="1200" i="0" u="none" strike="noStrike" kern="1200" cap="none" spc="0" normalizeH="0" baseline="0" noProof="0" dirty="0">
              <a:ln>
                <a:noFill/>
              </a:ln>
              <a:solidFill>
                <a:srgbClr val="000000"/>
              </a:solidFill>
              <a:effectLst/>
              <a:uLnTx/>
              <a:uFillTx/>
              <a:latin typeface="Arial"/>
              <a:ea typeface="+mn-ea"/>
              <a:cs typeface="+mn-cs"/>
            </a:endParaRPr>
          </a:p>
          <a:p>
            <a:pPr lvl="0">
              <a:lnSpc>
                <a:spcPct val="114000"/>
              </a:lnSpc>
              <a:spcAft>
                <a:spcPts val="1200"/>
              </a:spcAft>
              <a:buClrTx/>
              <a:defRPr/>
            </a:pPr>
            <a:endParaRPr lang="en-GB" sz="1200" b="1" dirty="0"/>
          </a:p>
          <a:p>
            <a:pPr lvl="0">
              <a:lnSpc>
                <a:spcPct val="114000"/>
              </a:lnSpc>
              <a:spcAft>
                <a:spcPts val="1200"/>
              </a:spcAft>
              <a:buClrTx/>
              <a:defRPr/>
            </a:pPr>
            <a:endParaRPr lang="en-GB" sz="1200" b="1" dirty="0"/>
          </a:p>
          <a:p>
            <a:pPr lvl="0">
              <a:lnSpc>
                <a:spcPct val="114000"/>
              </a:lnSpc>
              <a:spcAft>
                <a:spcPts val="1200"/>
              </a:spcAft>
              <a:buClrTx/>
              <a:defRPr/>
            </a:pPr>
            <a:r>
              <a:rPr lang="en-GB" sz="1200" b="1" dirty="0"/>
              <a:t>Process Excellence &amp; GBS Advisory</a:t>
            </a:r>
            <a:r>
              <a:rPr lang="en-GB" sz="1200" dirty="0"/>
              <a:t> — 20+ years designing service catalogues and standardizing SSC processes; proprietary database of 1,600+ SSC benchmarks.</a:t>
            </a:r>
            <a:endParaRPr kumimoji="0" lang="en-GB" sz="11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TextBox 8">
            <a:extLst>
              <a:ext uri="{FF2B5EF4-FFF2-40B4-BE49-F238E27FC236}">
                <a16:creationId xmlns:a16="http://schemas.microsoft.com/office/drawing/2014/main" id="{AA2C79AE-F340-5C80-1697-32E0DC88E452}"/>
              </a:ext>
            </a:extLst>
          </p:cNvPr>
          <p:cNvSpPr txBox="1"/>
          <p:nvPr/>
        </p:nvSpPr>
        <p:spPr>
          <a:xfrm>
            <a:off x="402336" y="2287344"/>
            <a:ext cx="2214548" cy="4163769"/>
          </a:xfrm>
          <a:prstGeom prst="rect">
            <a:avLst/>
          </a:prstGeom>
          <a:noFill/>
        </p:spPr>
        <p:txBody>
          <a:bodyPr wrap="square" lIns="0" rIns="108000">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1500" b="1" i="0" u="none" strike="noStrike" kern="1200" cap="none" spc="0" normalizeH="0" baseline="0" noProof="0" dirty="0">
                <a:ln>
                  <a:noFill/>
                </a:ln>
                <a:solidFill>
                  <a:srgbClr val="000000"/>
                </a:solidFill>
                <a:effectLst/>
                <a:uLnTx/>
                <a:uFillTx/>
                <a:latin typeface="Arial"/>
                <a:ea typeface="+mn-ea"/>
                <a:cs typeface="+mn-cs"/>
              </a:rPr>
              <a:t>Clear Structure — </a:t>
            </a:r>
            <a:br>
              <a:rPr kumimoji="0" lang="en-GB" sz="1500" b="1" i="0" u="none" strike="noStrike" kern="1200" cap="none" spc="0" normalizeH="0" baseline="0" noProof="0" dirty="0">
                <a:ln>
                  <a:noFill/>
                </a:ln>
                <a:solidFill>
                  <a:srgbClr val="000000"/>
                </a:solidFill>
                <a:effectLst/>
                <a:uLnTx/>
                <a:uFillTx/>
                <a:latin typeface="Arial"/>
                <a:ea typeface="+mn-ea"/>
                <a:cs typeface="+mn-cs"/>
              </a:rPr>
            </a:br>
            <a:r>
              <a:rPr kumimoji="0" lang="en-GB" sz="1500" b="1" i="0" u="none" strike="noStrike" kern="1200" cap="none" spc="0" normalizeH="0" baseline="0" noProof="0" dirty="0">
                <a:ln>
                  <a:noFill/>
                </a:ln>
                <a:solidFill>
                  <a:srgbClr val="000000"/>
                </a:solidFill>
                <a:effectLst/>
                <a:uLnTx/>
                <a:uFillTx/>
                <a:latin typeface="Arial"/>
                <a:ea typeface="+mn-ea"/>
                <a:cs typeface="+mn-cs"/>
              </a:rPr>
              <a:t>Who Does What: </a:t>
            </a:r>
          </a:p>
          <a:p>
            <a:pPr>
              <a:lnSpc>
                <a:spcPct val="114000"/>
              </a:lnSpc>
              <a:spcAft>
                <a:spcPts val="1200"/>
              </a:spcAft>
              <a:buClrTx/>
              <a:defRPr/>
            </a:pPr>
            <a:r>
              <a:rPr lang="en-GB" sz="1200" b="1" kern="1200" dirty="0"/>
              <a:t>Client’s description: </a:t>
            </a:r>
            <a:r>
              <a:rPr lang="en-GB" sz="1200" kern="1200" dirty="0"/>
              <a:t>PDLC (Products &amp; Tech); SSC Operations &amp; SSC RM for JVs; Customer/JV</a:t>
            </a:r>
          </a:p>
          <a:p>
            <a:pPr>
              <a:lnSpc>
                <a:spcPct val="114000"/>
              </a:lnSpc>
              <a:spcAft>
                <a:spcPts val="1200"/>
              </a:spcAft>
              <a:buClrTx/>
              <a:defRPr/>
            </a:pPr>
            <a:endParaRPr lang="en-GB" sz="1200" b="1" dirty="0"/>
          </a:p>
          <a:p>
            <a:pPr>
              <a:lnSpc>
                <a:spcPct val="114000"/>
              </a:lnSpc>
              <a:spcAft>
                <a:spcPts val="1200"/>
              </a:spcAft>
              <a:buClrTx/>
              <a:defRPr/>
            </a:pPr>
            <a:endParaRPr lang="en-GB" sz="1200" b="1" dirty="0"/>
          </a:p>
          <a:p>
            <a:pPr>
              <a:lnSpc>
                <a:spcPct val="114000"/>
              </a:lnSpc>
              <a:spcAft>
                <a:spcPts val="1200"/>
              </a:spcAft>
              <a:buClrTx/>
              <a:defRPr/>
            </a:pPr>
            <a:r>
              <a:rPr lang="en-GB" sz="1200" b="1" dirty="0"/>
              <a:t>Operating Model Effectiveness (OME)</a:t>
            </a:r>
            <a:r>
              <a:rPr lang="en-GB" sz="1200" dirty="0"/>
              <a:t> — PwC's proprietary framework for designing roles, decision rights, and reporting structures across complex multi-entity organizations. </a:t>
            </a:r>
            <a:r>
              <a:rPr lang="en-GB" sz="1200" b="1" dirty="0"/>
              <a:t>Org Design</a:t>
            </a:r>
            <a:r>
              <a:rPr lang="en-GB" sz="1200" dirty="0"/>
              <a:t> practice.</a:t>
            </a:r>
            <a:endParaRPr kumimoji="0" lang="en-GB" sz="1100" b="0" i="0" u="none" strike="noStrike" kern="1200" cap="none" spc="0" normalizeH="0" baseline="0" noProof="0" dirty="0">
              <a:ln>
                <a:noFill/>
              </a:ln>
              <a:solidFill>
                <a:srgbClr val="000000"/>
              </a:solidFill>
              <a:effectLst/>
              <a:uLnTx/>
              <a:uFillTx/>
              <a:latin typeface="Arial"/>
              <a:ea typeface="+mn-ea"/>
              <a:cs typeface="+mn-cs"/>
            </a:endParaRPr>
          </a:p>
        </p:txBody>
      </p:sp>
      <p:cxnSp>
        <p:nvCxnSpPr>
          <p:cNvPr id="10" name="Straight Connector 9">
            <a:extLst>
              <a:ext uri="{FF2B5EF4-FFF2-40B4-BE49-F238E27FC236}">
                <a16:creationId xmlns:a16="http://schemas.microsoft.com/office/drawing/2014/main" id="{6DD055BB-B948-8DCC-EECA-8DF4C9A80C7E}"/>
              </a:ext>
            </a:extLst>
          </p:cNvPr>
          <p:cNvCxnSpPr>
            <a:cxnSpLocks/>
          </p:cNvCxnSpPr>
          <p:nvPr/>
        </p:nvCxnSpPr>
        <p:spPr>
          <a:xfrm>
            <a:off x="402334" y="2143118"/>
            <a:ext cx="222213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E5796AAC-FCEC-4139-66A7-7CFAF9F64E95}"/>
              </a:ext>
            </a:extLst>
          </p:cNvPr>
          <p:cNvCxnSpPr>
            <a:cxnSpLocks/>
          </p:cNvCxnSpPr>
          <p:nvPr/>
        </p:nvCxnSpPr>
        <p:spPr>
          <a:xfrm>
            <a:off x="2676620" y="2143118"/>
            <a:ext cx="222213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A1F0072D-5F67-CFC7-AEE6-FC975976962C}"/>
              </a:ext>
            </a:extLst>
          </p:cNvPr>
          <p:cNvCxnSpPr>
            <a:cxnSpLocks/>
          </p:cNvCxnSpPr>
          <p:nvPr/>
        </p:nvCxnSpPr>
        <p:spPr>
          <a:xfrm>
            <a:off x="4954292" y="2143118"/>
            <a:ext cx="222213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4D158DB1-959B-51BF-D716-1D6F18B0B744}"/>
              </a:ext>
            </a:extLst>
          </p:cNvPr>
          <p:cNvSpPr txBox="1"/>
          <p:nvPr/>
        </p:nvSpPr>
        <p:spPr>
          <a:xfrm>
            <a:off x="7224785" y="2287344"/>
            <a:ext cx="2214549" cy="4119076"/>
          </a:xfrm>
          <a:prstGeom prst="rect">
            <a:avLst/>
          </a:prstGeom>
          <a:noFill/>
        </p:spPr>
        <p:txBody>
          <a:bodyPr wrap="square" lIns="0" rIns="108000">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1500" b="1" i="0" u="none" strike="noStrike" kern="1200" cap="none" spc="0" normalizeH="0" baseline="0" noProof="0" dirty="0">
                <a:ln>
                  <a:noFill/>
                </a:ln>
                <a:solidFill>
                  <a:srgbClr val="000000"/>
                </a:solidFill>
                <a:effectLst/>
                <a:uLnTx/>
                <a:uFillTx/>
                <a:latin typeface="Arial"/>
                <a:ea typeface="+mn-ea"/>
                <a:cs typeface="+mn-cs"/>
              </a:rPr>
              <a:t>Commercial Transparency &amp; Performance: </a:t>
            </a:r>
          </a:p>
          <a:p>
            <a:pPr lvl="0">
              <a:lnSpc>
                <a:spcPct val="114000"/>
              </a:lnSpc>
              <a:spcAft>
                <a:spcPts val="1200"/>
              </a:spcAft>
              <a:buClrTx/>
              <a:defRPr/>
            </a:pPr>
            <a:r>
              <a:rPr lang="en-GB" sz="1200" b="1" kern="1200" dirty="0"/>
              <a:t>Client’s description: </a:t>
            </a:r>
            <a:r>
              <a:rPr lang="en-GB" sz="1200" kern="1200" dirty="0"/>
              <a:t>Transparent intercompany charging; Pricing based on volumes &amp; activities; Clear cost allocation; KPI-driven performance (service availability, processing quality)</a:t>
            </a:r>
          </a:p>
          <a:p>
            <a:pPr lvl="0">
              <a:lnSpc>
                <a:spcPct val="114000"/>
              </a:lnSpc>
              <a:spcAft>
                <a:spcPts val="1200"/>
              </a:spcAft>
              <a:buClrTx/>
              <a:defRPr/>
            </a:pPr>
            <a:r>
              <a:rPr lang="en-GB" sz="1200" b="1" dirty="0"/>
              <a:t>Transfer Pricing Advisory</a:t>
            </a:r>
            <a:r>
              <a:rPr lang="en-GB" sz="1200" dirty="0"/>
              <a:t> (#1 globally, International Tax Review); </a:t>
            </a:r>
            <a:r>
              <a:rPr lang="en-GB" sz="1200" b="1" dirty="0"/>
              <a:t>Performance Management &amp; Dashboarding</a:t>
            </a:r>
            <a:r>
              <a:rPr lang="en-GB" sz="1200" dirty="0"/>
              <a:t> (Power BI/Tableau).</a:t>
            </a:r>
            <a:endParaRPr lang="en-GB" sz="1050" kern="1200" dirty="0"/>
          </a:p>
        </p:txBody>
      </p:sp>
      <p:cxnSp>
        <p:nvCxnSpPr>
          <p:cNvPr id="14" name="Straight Connector 13">
            <a:extLst>
              <a:ext uri="{FF2B5EF4-FFF2-40B4-BE49-F238E27FC236}">
                <a16:creationId xmlns:a16="http://schemas.microsoft.com/office/drawing/2014/main" id="{6E633FAF-1CC1-36D1-7513-289EFF1E6011}"/>
              </a:ext>
            </a:extLst>
          </p:cNvPr>
          <p:cNvCxnSpPr>
            <a:cxnSpLocks/>
          </p:cNvCxnSpPr>
          <p:nvPr/>
        </p:nvCxnSpPr>
        <p:spPr>
          <a:xfrm>
            <a:off x="7224785" y="2143118"/>
            <a:ext cx="222213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FA729AEF-7B06-D545-2E18-4DECBF8FDA2B}"/>
              </a:ext>
            </a:extLst>
          </p:cNvPr>
          <p:cNvSpPr txBox="1"/>
          <p:nvPr/>
        </p:nvSpPr>
        <p:spPr>
          <a:xfrm>
            <a:off x="4946707" y="1145303"/>
            <a:ext cx="2319985" cy="960456"/>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5400" i="0" u="none" strike="noStrike" kern="1200" cap="none" spc="0" normalizeH="0" baseline="0" noProof="0" dirty="0">
                <a:ln>
                  <a:noFill/>
                </a:ln>
                <a:solidFill>
                  <a:schemeClr val="accent1"/>
                </a:solidFill>
                <a:effectLst/>
                <a:uLnTx/>
                <a:uFillTx/>
                <a:latin typeface="Arial"/>
                <a:ea typeface="+mn-ea"/>
                <a:cs typeface="+mn-cs"/>
              </a:rPr>
              <a:t>03</a:t>
            </a:r>
            <a:endParaRPr kumimoji="0" lang="en-GB" sz="4800" i="0" u="none" strike="noStrike" kern="1200" cap="none" spc="0" normalizeH="0" baseline="0" noProof="0" dirty="0">
              <a:ln>
                <a:noFill/>
              </a:ln>
              <a:solidFill>
                <a:schemeClr val="accent1"/>
              </a:solidFill>
              <a:effectLst/>
              <a:uLnTx/>
              <a:uFillTx/>
              <a:latin typeface="Arial"/>
              <a:ea typeface="+mn-ea"/>
              <a:cs typeface="+mn-cs"/>
            </a:endParaRPr>
          </a:p>
        </p:txBody>
      </p:sp>
      <p:sp>
        <p:nvSpPr>
          <p:cNvPr id="20" name="TextBox 19">
            <a:extLst>
              <a:ext uri="{FF2B5EF4-FFF2-40B4-BE49-F238E27FC236}">
                <a16:creationId xmlns:a16="http://schemas.microsoft.com/office/drawing/2014/main" id="{4E5BC67F-01BA-1E44-B112-C0449764D6E9}"/>
              </a:ext>
            </a:extLst>
          </p:cNvPr>
          <p:cNvSpPr txBox="1"/>
          <p:nvPr/>
        </p:nvSpPr>
        <p:spPr>
          <a:xfrm>
            <a:off x="2672828" y="1145303"/>
            <a:ext cx="2319985" cy="960456"/>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5400" i="0" u="none" strike="noStrike" kern="1200" cap="none" spc="0" normalizeH="0" baseline="0" noProof="0" dirty="0">
                <a:ln>
                  <a:noFill/>
                </a:ln>
                <a:solidFill>
                  <a:schemeClr val="accent1"/>
                </a:solidFill>
                <a:effectLst/>
                <a:uLnTx/>
                <a:uFillTx/>
                <a:latin typeface="Arial"/>
                <a:ea typeface="+mn-ea"/>
                <a:cs typeface="+mn-cs"/>
              </a:rPr>
              <a:t>02</a:t>
            </a:r>
            <a:endParaRPr kumimoji="0" lang="en-GB" sz="4800" i="0" u="none" strike="noStrike" kern="1200" cap="none" spc="0" normalizeH="0" baseline="0" noProof="0" dirty="0">
              <a:ln>
                <a:noFill/>
              </a:ln>
              <a:solidFill>
                <a:schemeClr val="accent1"/>
              </a:solidFill>
              <a:effectLst/>
              <a:uLnTx/>
              <a:uFillTx/>
              <a:latin typeface="Arial"/>
              <a:ea typeface="+mn-ea"/>
              <a:cs typeface="+mn-cs"/>
            </a:endParaRPr>
          </a:p>
        </p:txBody>
      </p:sp>
      <p:sp>
        <p:nvSpPr>
          <p:cNvPr id="21" name="TextBox 20">
            <a:extLst>
              <a:ext uri="{FF2B5EF4-FFF2-40B4-BE49-F238E27FC236}">
                <a16:creationId xmlns:a16="http://schemas.microsoft.com/office/drawing/2014/main" id="{34A2E71F-DDE1-3750-46DB-7BD713DDA78C}"/>
              </a:ext>
            </a:extLst>
          </p:cNvPr>
          <p:cNvSpPr txBox="1"/>
          <p:nvPr/>
        </p:nvSpPr>
        <p:spPr>
          <a:xfrm>
            <a:off x="402335" y="1145303"/>
            <a:ext cx="2319985" cy="960456"/>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5400" i="0" u="none" strike="noStrike" kern="1200" cap="none" spc="0" normalizeH="0" baseline="0" noProof="0" dirty="0">
                <a:ln>
                  <a:noFill/>
                </a:ln>
                <a:solidFill>
                  <a:schemeClr val="accent1"/>
                </a:solidFill>
                <a:effectLst/>
                <a:uLnTx/>
                <a:uFillTx/>
                <a:latin typeface="Arial"/>
                <a:ea typeface="+mn-ea"/>
                <a:cs typeface="+mn-cs"/>
              </a:rPr>
              <a:t>01</a:t>
            </a:r>
            <a:endParaRPr kumimoji="0" lang="en-GB" sz="4800" i="0" u="none" strike="noStrike" kern="1200" cap="none" spc="0" normalizeH="0" baseline="0" noProof="0" dirty="0">
              <a:ln>
                <a:noFill/>
              </a:ln>
              <a:solidFill>
                <a:schemeClr val="accent1"/>
              </a:solidFill>
              <a:effectLst/>
              <a:uLnTx/>
              <a:uFillTx/>
              <a:latin typeface="Arial"/>
              <a:ea typeface="+mn-ea"/>
              <a:cs typeface="+mn-cs"/>
            </a:endParaRPr>
          </a:p>
        </p:txBody>
      </p:sp>
      <p:sp>
        <p:nvSpPr>
          <p:cNvPr id="22" name="TextBox 21">
            <a:extLst>
              <a:ext uri="{FF2B5EF4-FFF2-40B4-BE49-F238E27FC236}">
                <a16:creationId xmlns:a16="http://schemas.microsoft.com/office/drawing/2014/main" id="{38B13229-B6EE-4032-880B-5712AEE5E58D}"/>
              </a:ext>
            </a:extLst>
          </p:cNvPr>
          <p:cNvSpPr txBox="1"/>
          <p:nvPr/>
        </p:nvSpPr>
        <p:spPr>
          <a:xfrm>
            <a:off x="7217201" y="1145303"/>
            <a:ext cx="2319985" cy="960456"/>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5400" i="0" u="none" strike="noStrike" kern="1200" cap="none" spc="0" normalizeH="0" baseline="0" noProof="0" dirty="0">
                <a:ln>
                  <a:noFill/>
                </a:ln>
                <a:solidFill>
                  <a:schemeClr val="accent1"/>
                </a:solidFill>
                <a:effectLst/>
                <a:uLnTx/>
                <a:uFillTx/>
                <a:latin typeface="Arial"/>
                <a:ea typeface="+mn-ea"/>
                <a:cs typeface="+mn-cs"/>
              </a:rPr>
              <a:t>04</a:t>
            </a:r>
            <a:endParaRPr kumimoji="0" lang="en-GB" sz="4800" i="0" u="none" strike="noStrike" kern="1200" cap="none" spc="0" normalizeH="0" baseline="0" noProof="0" dirty="0">
              <a:ln>
                <a:noFill/>
              </a:ln>
              <a:solidFill>
                <a:schemeClr val="accent1"/>
              </a:solidFill>
              <a:effectLst/>
              <a:uLnTx/>
              <a:uFillTx/>
              <a:latin typeface="Arial"/>
              <a:ea typeface="+mn-ea"/>
              <a:cs typeface="+mn-cs"/>
            </a:endParaRPr>
          </a:p>
        </p:txBody>
      </p:sp>
      <p:sp>
        <p:nvSpPr>
          <p:cNvPr id="17" name="TextBox 16">
            <a:extLst>
              <a:ext uri="{FF2B5EF4-FFF2-40B4-BE49-F238E27FC236}">
                <a16:creationId xmlns:a16="http://schemas.microsoft.com/office/drawing/2014/main" id="{8F73EBEC-D307-ED82-FBE8-4156E59D5885}"/>
              </a:ext>
            </a:extLst>
          </p:cNvPr>
          <p:cNvSpPr txBox="1"/>
          <p:nvPr/>
        </p:nvSpPr>
        <p:spPr>
          <a:xfrm>
            <a:off x="9489623" y="2287344"/>
            <a:ext cx="2319985" cy="4119076"/>
          </a:xfrm>
          <a:prstGeom prst="rect">
            <a:avLst/>
          </a:prstGeom>
          <a:noFill/>
        </p:spPr>
        <p:txBody>
          <a:bodyPr wrap="square" lIns="0" rIns="108000">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1500" b="1" i="0" u="none" strike="noStrike" kern="1200" cap="none" spc="0" normalizeH="0" baseline="0" noProof="0" dirty="0">
                <a:ln>
                  <a:noFill/>
                </a:ln>
                <a:solidFill>
                  <a:srgbClr val="000000"/>
                </a:solidFill>
                <a:effectLst/>
                <a:uLnTx/>
                <a:uFillTx/>
                <a:latin typeface="Arial"/>
                <a:ea typeface="+mn-ea"/>
                <a:cs typeface="+mn-cs"/>
              </a:rPr>
              <a:t>Technology &amp; Continuous Improvement: </a:t>
            </a:r>
          </a:p>
          <a:p>
            <a:pPr lvl="0">
              <a:lnSpc>
                <a:spcPct val="114000"/>
              </a:lnSpc>
              <a:spcAft>
                <a:spcPts val="1200"/>
              </a:spcAft>
              <a:buClrTx/>
              <a:defRPr/>
            </a:pPr>
            <a:r>
              <a:rPr lang="en-GB" sz="1200" b="1" kern="1200" dirty="0"/>
              <a:t>Client’s description: </a:t>
            </a:r>
            <a:r>
              <a:rPr lang="en-GB" sz="1200" kern="1200" dirty="0"/>
              <a:t>Standardization (limit customization); Automation &amp; STP processing first approach; Design for growth, quality and speed; Continuous improvement loops; Benchmarking</a:t>
            </a:r>
          </a:p>
          <a:p>
            <a:pPr lvl="0">
              <a:lnSpc>
                <a:spcPct val="114000"/>
              </a:lnSpc>
              <a:spcAft>
                <a:spcPts val="1200"/>
              </a:spcAft>
              <a:buClrTx/>
              <a:defRPr/>
            </a:pPr>
            <a:r>
              <a:rPr lang="en-GB" sz="1200" b="1" dirty="0"/>
              <a:t>Intelligent Automation</a:t>
            </a:r>
            <a:r>
              <a:rPr lang="en-GB" sz="1200" dirty="0"/>
              <a:t> (RPA, AI); </a:t>
            </a:r>
            <a:r>
              <a:rPr lang="en-GB" sz="1200" b="1" dirty="0"/>
              <a:t>Technology Strategy</a:t>
            </a:r>
            <a:r>
              <a:rPr lang="en-GB" sz="1200" dirty="0"/>
              <a:t>; </a:t>
            </a:r>
            <a:r>
              <a:rPr lang="en-GB" sz="1200" b="1" dirty="0"/>
              <a:t>Benchmarking &amp; Continuous Improvement</a:t>
            </a:r>
            <a:r>
              <a:rPr lang="en-GB" sz="1200" dirty="0"/>
              <a:t> frameworks aligned to Lean Six Sigma and ITIL 4.</a:t>
            </a:r>
            <a:endParaRPr lang="en-GB" sz="1050" kern="1200" dirty="0"/>
          </a:p>
        </p:txBody>
      </p:sp>
      <p:cxnSp>
        <p:nvCxnSpPr>
          <p:cNvPr id="18" name="Straight Connector 17">
            <a:extLst>
              <a:ext uri="{FF2B5EF4-FFF2-40B4-BE49-F238E27FC236}">
                <a16:creationId xmlns:a16="http://schemas.microsoft.com/office/drawing/2014/main" id="{C60EFF52-5DAE-7A0C-2221-2E8D4210B5A4}"/>
              </a:ext>
            </a:extLst>
          </p:cNvPr>
          <p:cNvCxnSpPr>
            <a:cxnSpLocks/>
          </p:cNvCxnSpPr>
          <p:nvPr/>
        </p:nvCxnSpPr>
        <p:spPr>
          <a:xfrm>
            <a:off x="9489623" y="2143118"/>
            <a:ext cx="2222133"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EFC3CBB9-5D83-6A8C-C6B5-7A85E262CCC5}"/>
              </a:ext>
            </a:extLst>
          </p:cNvPr>
          <p:cNvSpPr txBox="1"/>
          <p:nvPr/>
        </p:nvSpPr>
        <p:spPr>
          <a:xfrm>
            <a:off x="9482039" y="1145303"/>
            <a:ext cx="2319985" cy="960456"/>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GB" sz="5400" i="0" u="none" strike="noStrike" kern="1200" cap="none" spc="0" normalizeH="0" baseline="0" noProof="0" dirty="0">
                <a:ln>
                  <a:noFill/>
                </a:ln>
                <a:solidFill>
                  <a:schemeClr val="accent1"/>
                </a:solidFill>
                <a:effectLst/>
                <a:uLnTx/>
                <a:uFillTx/>
                <a:latin typeface="Arial"/>
                <a:ea typeface="+mn-ea"/>
                <a:cs typeface="+mn-cs"/>
              </a:rPr>
              <a:t>05</a:t>
            </a:r>
            <a:endParaRPr kumimoji="0" lang="en-GB" sz="4800" i="0" u="none" strike="noStrike" kern="1200" cap="none" spc="0" normalizeH="0" baseline="0" noProof="0" dirty="0">
              <a:ln>
                <a:noFill/>
              </a:ln>
              <a:solidFill>
                <a:schemeClr val="accent1"/>
              </a:solidFill>
              <a:effectLst/>
              <a:uLnTx/>
              <a:uFillTx/>
              <a:latin typeface="Arial"/>
              <a:ea typeface="+mn-ea"/>
              <a:cs typeface="+mn-cs"/>
            </a:endParaRPr>
          </a:p>
        </p:txBody>
      </p:sp>
      <p:sp>
        <p:nvSpPr>
          <p:cNvPr id="6" name="Slide Number Placeholder 3">
            <a:extLst>
              <a:ext uri="{FF2B5EF4-FFF2-40B4-BE49-F238E27FC236}">
                <a16:creationId xmlns:a16="http://schemas.microsoft.com/office/drawing/2014/main" id="{7E7A9C75-C83A-08B2-A315-C07FB008C8DC}"/>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7</a:t>
            </a:fld>
            <a:endParaRPr lang="en-US"/>
          </a:p>
        </p:txBody>
      </p:sp>
      <p:sp>
        <p:nvSpPr>
          <p:cNvPr id="4" name="Rectangle 3">
            <a:extLst>
              <a:ext uri="{FF2B5EF4-FFF2-40B4-BE49-F238E27FC236}">
                <a16:creationId xmlns:a16="http://schemas.microsoft.com/office/drawing/2014/main" id="{BE9E7421-C4C3-E6C7-53F0-5B39C5EA8234}"/>
              </a:ext>
            </a:extLst>
          </p:cNvPr>
          <p:cNvSpPr/>
          <p:nvPr/>
        </p:nvSpPr>
        <p:spPr>
          <a:xfrm>
            <a:off x="402334" y="4727542"/>
            <a:ext cx="11309422" cy="1723568"/>
          </a:xfrm>
          <a:prstGeom prst="rect">
            <a:avLst/>
          </a:prstGeom>
          <a:solidFill>
            <a:srgbClr val="FFE5D7">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02111511"/>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D7F8D-55A7-079F-DD6A-ED6774C5DAD2}"/>
              </a:ext>
            </a:extLst>
          </p:cNvPr>
          <p:cNvSpPr>
            <a:spLocks noGrp="1"/>
          </p:cNvSpPr>
          <p:nvPr>
            <p:ph type="title"/>
          </p:nvPr>
        </p:nvSpPr>
        <p:spPr/>
        <p:txBody>
          <a:bodyPr/>
          <a:lstStyle/>
          <a:p>
            <a:r>
              <a:rPr lang="en-GB" dirty="0"/>
              <a:t>Industry Benchmarking &amp; Standards Comparison</a:t>
            </a:r>
            <a:br>
              <a:rPr lang="en-GB" dirty="0"/>
            </a:br>
            <a:r>
              <a:rPr lang="en-GB" sz="1600" dirty="0">
                <a:latin typeface="Arial" panose="020B0604020202020204" pitchFamily="34" charset="0"/>
                <a:cs typeface="Arial" panose="020B0604020202020204" pitchFamily="34" charset="0"/>
              </a:rPr>
              <a:t>How Does the To-Be Model Compare to Industry Leaders?</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8FED4A0A-E68A-5DB4-5FED-019F01B65C70}"/>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84CA1655-00D9-C8F6-0C82-A1D2AAA1F912}"/>
              </a:ext>
            </a:extLst>
          </p:cNvPr>
          <p:cNvSpPr>
            <a:spLocks noGrp="1"/>
          </p:cNvSpPr>
          <p:nvPr>
            <p:ph type="sldNum" sz="quarter" idx="4"/>
          </p:nvPr>
        </p:nvSpPr>
        <p:spPr/>
        <p:txBody>
          <a:bodyPr/>
          <a:lstStyle/>
          <a:p>
            <a:fld id="{3E6AC032-1535-134B-A583-D5E1DDD0D167}" type="slidenum">
              <a:rPr lang="en-US" smtClean="0"/>
              <a:pPr/>
              <a:t>8</a:t>
            </a:fld>
            <a:endParaRPr lang="en-US"/>
          </a:p>
        </p:txBody>
      </p:sp>
      <p:graphicFrame>
        <p:nvGraphicFramePr>
          <p:cNvPr id="5" name="Table 4">
            <a:extLst>
              <a:ext uri="{FF2B5EF4-FFF2-40B4-BE49-F238E27FC236}">
                <a16:creationId xmlns:a16="http://schemas.microsoft.com/office/drawing/2014/main" id="{339FA3A1-C1B9-F3A3-D444-4F9D7A6EA1E7}"/>
              </a:ext>
            </a:extLst>
          </p:cNvPr>
          <p:cNvGraphicFramePr>
            <a:graphicFrameLocks noGrp="1"/>
          </p:cNvGraphicFramePr>
          <p:nvPr>
            <p:extLst>
              <p:ext uri="{D42A27DB-BD31-4B8C-83A1-F6EECF244321}">
                <p14:modId xmlns:p14="http://schemas.microsoft.com/office/powerpoint/2010/main" val="3816163062"/>
              </p:ext>
            </p:extLst>
          </p:nvPr>
        </p:nvGraphicFramePr>
        <p:xfrm>
          <a:off x="402335" y="1794440"/>
          <a:ext cx="11432917" cy="4239588"/>
        </p:xfrm>
        <a:graphic>
          <a:graphicData uri="http://schemas.openxmlformats.org/drawingml/2006/table">
            <a:tbl>
              <a:tblPr firstRow="1" bandRow="1">
                <a:tableStyleId>{EC741567-8280-421E-8F88-9B89CA1CAF18}</a:tableStyleId>
              </a:tblPr>
              <a:tblGrid>
                <a:gridCol w="1477265">
                  <a:extLst>
                    <a:ext uri="{9D8B030D-6E8A-4147-A177-3AD203B41FA5}">
                      <a16:colId xmlns:a16="http://schemas.microsoft.com/office/drawing/2014/main" val="4198909760"/>
                    </a:ext>
                  </a:extLst>
                </a:gridCol>
                <a:gridCol w="2082800">
                  <a:extLst>
                    <a:ext uri="{9D8B030D-6E8A-4147-A177-3AD203B41FA5}">
                      <a16:colId xmlns:a16="http://schemas.microsoft.com/office/drawing/2014/main" val="2518726710"/>
                    </a:ext>
                  </a:extLst>
                </a:gridCol>
                <a:gridCol w="2921000">
                  <a:extLst>
                    <a:ext uri="{9D8B030D-6E8A-4147-A177-3AD203B41FA5}">
                      <a16:colId xmlns:a16="http://schemas.microsoft.com/office/drawing/2014/main" val="2179908464"/>
                    </a:ext>
                  </a:extLst>
                </a:gridCol>
                <a:gridCol w="2921000">
                  <a:extLst>
                    <a:ext uri="{9D8B030D-6E8A-4147-A177-3AD203B41FA5}">
                      <a16:colId xmlns:a16="http://schemas.microsoft.com/office/drawing/2014/main" val="1684877124"/>
                    </a:ext>
                  </a:extLst>
                </a:gridCol>
                <a:gridCol w="2030852">
                  <a:extLst>
                    <a:ext uri="{9D8B030D-6E8A-4147-A177-3AD203B41FA5}">
                      <a16:colId xmlns:a16="http://schemas.microsoft.com/office/drawing/2014/main" val="3364989100"/>
                    </a:ext>
                  </a:extLst>
                </a:gridCol>
              </a:tblGrid>
              <a:tr h="399108">
                <a:tc>
                  <a:txBody>
                    <a:bodyPr/>
                    <a:lstStyle/>
                    <a:p>
                      <a:r>
                        <a:rPr lang="en-GB" sz="1400" b="1" dirty="0">
                          <a:solidFill>
                            <a:schemeClr val="tx1"/>
                          </a:solidFill>
                        </a:rPr>
                        <a:t>Dimension</a:t>
                      </a:r>
                      <a:endParaRPr lang="en-SK" sz="1400" b="1"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GB" sz="1400" b="1" dirty="0">
                          <a:solidFill>
                            <a:schemeClr val="tx1"/>
                          </a:solidFill>
                        </a:rPr>
                        <a:t>GP Current State</a:t>
                      </a:r>
                      <a:endParaRPr lang="en-SK" sz="1400" b="1"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GB" sz="1400" b="1" dirty="0">
                          <a:solidFill>
                            <a:schemeClr val="tx1"/>
                          </a:solidFill>
                        </a:rPr>
                        <a:t>GP To-Be (with PwC)</a:t>
                      </a:r>
                      <a:endParaRPr lang="en-SK" sz="1400" b="1"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SK" sz="1400" b="1" dirty="0">
                          <a:solidFill>
                            <a:schemeClr val="tx1"/>
                          </a:solidFill>
                        </a:rPr>
                        <a:t>Industry Leading Practice</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SK" sz="1400" b="1">
                          <a:solidFill>
                            <a:schemeClr val="tx1"/>
                          </a:solidFill>
                        </a:rPr>
                        <a:t>Standard / Source</a:t>
                      </a:r>
                      <a:endParaRPr lang="en-SK" sz="1400" b="1"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060468334"/>
                  </a:ext>
                </a:extLst>
              </a:tr>
              <a:tr h="552083">
                <a:tc>
                  <a:txBody>
                    <a:bodyPr/>
                    <a:lstStyle/>
                    <a:p>
                      <a:r>
                        <a:rPr lang="en-GB" sz="1200" b="1" dirty="0">
                          <a:solidFill>
                            <a:schemeClr val="tx1"/>
                          </a:solidFill>
                        </a:rPr>
                        <a:t>Governance</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b="0" dirty="0">
                          <a:solidFill>
                            <a:schemeClr val="tx1"/>
                          </a:solidFill>
                        </a:rPr>
                        <a:t>Fragmented; no formal RACI; disjointed goals across locations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3D RACI across PDLC / SSC Ops / Customer; quarterly Governance Forum; decision rights at 3 levels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Living RACI integrated with HRIS &amp; org charts; automated alerts on role changes</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a:solidFill>
                            <a:schemeClr val="tx1"/>
                          </a:solidFill>
                        </a:rPr>
                        <a:t> COBIT 2019; </a:t>
                      </a:r>
                      <a:br>
                        <a:rPr lang="en-GB" sz="1200" b="0">
                          <a:solidFill>
                            <a:schemeClr val="tx1"/>
                          </a:solidFill>
                        </a:rPr>
                      </a:br>
                      <a:r>
                        <a:rPr lang="en-GB" sz="1200" b="0">
                          <a:solidFill>
                            <a:schemeClr val="tx1"/>
                          </a:solidFill>
                        </a:rPr>
                        <a:t>ITIL 4</a:t>
                      </a:r>
                      <a:endParaRPr lang="en-GB" sz="1200" b="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9277969"/>
                  </a:ext>
                </a:extLst>
              </a:tr>
              <a:tr h="388503">
                <a:tc>
                  <a:txBody>
                    <a:bodyPr/>
                    <a:lstStyle/>
                    <a:p>
                      <a:r>
                        <a:rPr lang="en-GB" sz="1200" b="1" dirty="0">
                          <a:solidFill>
                            <a:schemeClr val="tx1"/>
                          </a:solidFill>
                        </a:rPr>
                        <a:t>Intake &amp; Ticketing</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b="0">
                          <a:solidFill>
                            <a:schemeClr val="tx1"/>
                          </a:solidFill>
                        </a:rPr>
                        <a:t>Unstructured; email/phone/personal contacts </a:t>
                      </a:r>
                      <a:endParaRPr lang="en-GB" sz="1200" b="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a:solidFill>
                            <a:schemeClr val="tx1"/>
                          </a:solidFill>
                        </a:rPr>
                        <a:t>Unified portal; auto-classification; </a:t>
                      </a:r>
                      <a:br>
                        <a:rPr lang="en-GB" sz="1200" b="0">
                          <a:solidFill>
                            <a:schemeClr val="tx1"/>
                          </a:solidFill>
                        </a:rPr>
                      </a:br>
                      <a:r>
                        <a:rPr lang="en-GB" sz="1200" b="0">
                          <a:solidFill>
                            <a:schemeClr val="tx1"/>
                          </a:solidFill>
                        </a:rPr>
                        <a:t>SLA clock; real-time dashboard </a:t>
                      </a:r>
                      <a:endParaRPr lang="en-GB" sz="1200" b="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AI-assisted triage; self-service portal with chatbot first line; predictive routing</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a:solidFill>
                            <a:schemeClr val="tx1"/>
                          </a:solidFill>
                        </a:rPr>
                        <a:t>ITIL 4 Service Desk; </a:t>
                      </a:r>
                      <a:br>
                        <a:rPr lang="en-GB" sz="1200" b="0">
                          <a:solidFill>
                            <a:schemeClr val="tx1"/>
                          </a:solidFill>
                        </a:rPr>
                      </a:br>
                      <a:r>
                        <a:rPr lang="en-GB" sz="1200" b="0">
                          <a:solidFill>
                            <a:schemeClr val="tx1"/>
                          </a:solidFill>
                        </a:rPr>
                        <a:t>HDI </a:t>
                      </a:r>
                      <a:endParaRPr lang="en-GB" sz="1200" b="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442254"/>
                  </a:ext>
                </a:extLst>
              </a:tr>
              <a:tr h="552083">
                <a:tc>
                  <a:txBody>
                    <a:bodyPr/>
                    <a:lstStyle/>
                    <a:p>
                      <a:r>
                        <a:rPr lang="en-GB" sz="1200" b="1" dirty="0">
                          <a:solidFill>
                            <a:schemeClr val="tx1"/>
                          </a:solidFill>
                        </a:rPr>
                        <a:t>SLA </a:t>
                      </a:r>
                      <a:br>
                        <a:rPr lang="en-GB" sz="1200" b="1" dirty="0">
                          <a:solidFill>
                            <a:schemeClr val="tx1"/>
                          </a:solidFill>
                        </a:rPr>
                      </a:br>
                      <a:r>
                        <a:rPr lang="en-GB" sz="1200" b="1" dirty="0">
                          <a:solidFill>
                            <a:schemeClr val="tx1"/>
                          </a:solidFill>
                        </a:rPr>
                        <a:t>Management</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b="0" dirty="0">
                          <a:solidFill>
                            <a:schemeClr val="tx1"/>
                          </a:solidFill>
                        </a:rPr>
                        <a:t>Informal; inconsistent; unmeasured</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Defined SLAs per service × customer; tracked in case management; escalation engine</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Tiered SLAs (Bronze/Silver/Gold); automated penalty/credit; SLA-linked commercial incentives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SSON Benchmarks; Gartner GBS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8276561"/>
                  </a:ext>
                </a:extLst>
              </a:tr>
              <a:tr h="552083">
                <a:tc>
                  <a:txBody>
                    <a:bodyPr/>
                    <a:lstStyle/>
                    <a:p>
                      <a:r>
                        <a:rPr lang="en-GB" sz="1200" b="1" dirty="0">
                          <a:solidFill>
                            <a:schemeClr val="tx1"/>
                          </a:solidFill>
                        </a:rPr>
                        <a:t>PMO &amp; Portfolio Steering</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b="0" dirty="0">
                          <a:solidFill>
                            <a:schemeClr val="tx1"/>
                          </a:solidFill>
                        </a:rPr>
                        <a:t>None</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Centralized PMO; intake gating; portfolio dashboard; prioritization scoring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Enterprise PMO with OKR integration; capacity planning; benefits tracking; demand forecasting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a:solidFill>
                            <a:schemeClr val="tx1"/>
                          </a:solidFill>
                        </a:rPr>
                        <a:t>PMI PMBOK 7th Ed; </a:t>
                      </a:r>
                      <a:br>
                        <a:rPr lang="en-GB" sz="1200" b="0">
                          <a:solidFill>
                            <a:schemeClr val="tx1"/>
                          </a:solidFill>
                        </a:rPr>
                      </a:br>
                      <a:r>
                        <a:rPr lang="en-GB" sz="1200" b="0">
                          <a:solidFill>
                            <a:schemeClr val="tx1"/>
                          </a:solidFill>
                        </a:rPr>
                        <a:t>SAFe </a:t>
                      </a:r>
                      <a:endParaRPr lang="en-GB" sz="1200" b="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14282"/>
                  </a:ext>
                </a:extLst>
              </a:tr>
              <a:tr h="552083">
                <a:tc>
                  <a:txBody>
                    <a:bodyPr/>
                    <a:lstStyle/>
                    <a:p>
                      <a:r>
                        <a:rPr lang="en-GB" sz="1200" b="1" dirty="0">
                          <a:solidFill>
                            <a:schemeClr val="tx1"/>
                          </a:solidFill>
                        </a:rPr>
                        <a:t>Post-Acquisition Integration</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b="0" dirty="0">
                          <a:solidFill>
                            <a:schemeClr val="tx1"/>
                          </a:solidFill>
                        </a:rPr>
                        <a:t>Unstructured workarounds</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A?B?C?D framework; workaround register; bridge state SOPs; readiness checklists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Integration playbooks; Day 1/30/60/90 milestones; automated parallel-run reconciliation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PMI M&amp;A Integration; DORA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9095656"/>
                  </a:ext>
                </a:extLst>
              </a:tr>
              <a:tr h="552083">
                <a:tc>
                  <a:txBody>
                    <a:bodyPr/>
                    <a:lstStyle/>
                    <a:p>
                      <a:r>
                        <a:rPr lang="en-GB" sz="1200" b="1" dirty="0">
                          <a:solidFill>
                            <a:schemeClr val="tx1"/>
                          </a:solidFill>
                        </a:rPr>
                        <a:t>Continuous Improvement</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200" b="0" dirty="0">
                          <a:solidFill>
                            <a:schemeClr val="tx1"/>
                          </a:solidFill>
                        </a:rPr>
                        <a:t>Limited</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Improvement loops fed by benchmarking, post-acquisition lessons and KPI trend analysis</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dirty="0">
                          <a:solidFill>
                            <a:schemeClr val="tx1"/>
                          </a:solidFill>
                        </a:rPr>
                        <a:t>Lean Six Sigma embedded in GBS; Kaizen events; digital twin simulation of process changes</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b="0">
                          <a:solidFill>
                            <a:schemeClr val="tx1"/>
                          </a:solidFill>
                        </a:rPr>
                        <a:t>Lean Six Sigma; </a:t>
                      </a:r>
                      <a:br>
                        <a:rPr lang="en-GB" sz="1200" b="0">
                          <a:solidFill>
                            <a:schemeClr val="tx1"/>
                          </a:solidFill>
                        </a:rPr>
                      </a:br>
                      <a:r>
                        <a:rPr lang="en-GB" sz="1200" b="0">
                          <a:solidFill>
                            <a:schemeClr val="tx1"/>
                          </a:solidFill>
                        </a:rPr>
                        <a:t>Hackett</a:t>
                      </a:r>
                      <a:endParaRPr lang="en-GB" sz="1200" b="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6569082"/>
                  </a:ext>
                </a:extLst>
              </a:tr>
            </a:tbl>
          </a:graphicData>
        </a:graphic>
      </p:graphicFrame>
      <p:sp>
        <p:nvSpPr>
          <p:cNvPr id="10" name="TextBox 9">
            <a:extLst>
              <a:ext uri="{FF2B5EF4-FFF2-40B4-BE49-F238E27FC236}">
                <a16:creationId xmlns:a16="http://schemas.microsoft.com/office/drawing/2014/main" id="{6A72B0D5-B76E-1D38-8FB5-A10FC6CC41B6}"/>
              </a:ext>
            </a:extLst>
          </p:cNvPr>
          <p:cNvSpPr txBox="1"/>
          <p:nvPr/>
        </p:nvSpPr>
        <p:spPr>
          <a:xfrm>
            <a:off x="402335" y="1290381"/>
            <a:ext cx="6223000" cy="323165"/>
          </a:xfrm>
          <a:prstGeom prst="rect">
            <a:avLst/>
          </a:prstGeom>
          <a:noFill/>
        </p:spPr>
        <p:txBody>
          <a:bodyPr wrap="square" lIns="0">
            <a:spAutoFit/>
          </a:bodyPr>
          <a:lstStyle/>
          <a:p>
            <a:pPr>
              <a:buNone/>
            </a:pPr>
            <a:r>
              <a:rPr lang="en-GB" sz="1500" b="1" dirty="0">
                <a:effectLst/>
                <a:latin typeface="Arial" panose="020B0604020202020204" pitchFamily="34" charset="0"/>
                <a:cs typeface="Arial" panose="020B0604020202020204" pitchFamily="34" charset="0"/>
              </a:rPr>
              <a:t>Benchmarking across entities and market competition</a:t>
            </a:r>
          </a:p>
        </p:txBody>
      </p:sp>
    </p:spTree>
    <p:extLst>
      <p:ext uri="{BB962C8B-B14F-4D97-AF65-F5344CB8AC3E}">
        <p14:creationId xmlns:p14="http://schemas.microsoft.com/office/powerpoint/2010/main" val="505154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42E5C-0C40-3B40-EEE7-45C7B8613352}"/>
              </a:ext>
            </a:extLst>
          </p:cNvPr>
          <p:cNvSpPr>
            <a:spLocks noGrp="1"/>
          </p:cNvSpPr>
          <p:nvPr>
            <p:ph type="title"/>
          </p:nvPr>
        </p:nvSpPr>
        <p:spPr/>
        <p:txBody>
          <a:bodyPr/>
          <a:lstStyle/>
          <a:p>
            <a:r>
              <a:rPr lang="en-GB" dirty="0"/>
              <a:t>Tentative Timeline — The Road to "</a:t>
            </a:r>
            <a:r>
              <a:rPr lang="en-GB" dirty="0" err="1"/>
              <a:t>SSCuccess</a:t>
            </a:r>
            <a:r>
              <a:rPr lang="en-GB" dirty="0"/>
              <a:t>"</a:t>
            </a:r>
          </a:p>
        </p:txBody>
      </p:sp>
      <p:sp>
        <p:nvSpPr>
          <p:cNvPr id="3" name="Footer Placeholder 2">
            <a:extLst>
              <a:ext uri="{FF2B5EF4-FFF2-40B4-BE49-F238E27FC236}">
                <a16:creationId xmlns:a16="http://schemas.microsoft.com/office/drawing/2014/main" id="{2E141A38-1610-D266-FF47-FDABF0148DB7}"/>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9734EAB5-2110-A40C-31F5-5947E550A7AC}"/>
              </a:ext>
            </a:extLst>
          </p:cNvPr>
          <p:cNvSpPr>
            <a:spLocks noGrp="1"/>
          </p:cNvSpPr>
          <p:nvPr>
            <p:ph type="sldNum" sz="quarter" idx="4"/>
          </p:nvPr>
        </p:nvSpPr>
        <p:spPr/>
        <p:txBody>
          <a:bodyPr/>
          <a:lstStyle/>
          <a:p>
            <a:fld id="{3E6AC032-1535-134B-A583-D5E1DDD0D167}" type="slidenum">
              <a:rPr lang="en-US" smtClean="0"/>
              <a:pPr/>
              <a:t>9</a:t>
            </a:fld>
            <a:endParaRPr lang="en-US"/>
          </a:p>
        </p:txBody>
      </p:sp>
      <p:sp>
        <p:nvSpPr>
          <p:cNvPr id="5" name="Pentagon 10">
            <a:extLst>
              <a:ext uri="{FF2B5EF4-FFF2-40B4-BE49-F238E27FC236}">
                <a16:creationId xmlns:a16="http://schemas.microsoft.com/office/drawing/2014/main" id="{2EC8D450-5E0C-0256-2C93-55002659A3D4}"/>
              </a:ext>
            </a:extLst>
          </p:cNvPr>
          <p:cNvSpPr/>
          <p:nvPr/>
        </p:nvSpPr>
        <p:spPr>
          <a:xfrm>
            <a:off x="9228835" y="3472402"/>
            <a:ext cx="2541588" cy="512763"/>
          </a:xfrm>
          <a:prstGeom prst="homePlate">
            <a:avLst/>
          </a:prstGeom>
          <a:solidFill>
            <a:srgbClr val="FD5108"/>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Wk</a:t>
            </a:r>
            <a:r>
              <a:rPr lang="en-US" sz="2000" b="1" dirty="0">
                <a:solidFill>
                  <a:schemeClr val="tx1"/>
                </a:solidFill>
              </a:rPr>
              <a:t> 22- 25</a:t>
            </a:r>
          </a:p>
        </p:txBody>
      </p:sp>
      <p:sp>
        <p:nvSpPr>
          <p:cNvPr id="6" name="Pentagon 11">
            <a:extLst>
              <a:ext uri="{FF2B5EF4-FFF2-40B4-BE49-F238E27FC236}">
                <a16:creationId xmlns:a16="http://schemas.microsoft.com/office/drawing/2014/main" id="{D7AF1E51-AADE-EE0E-E6D1-B28312D363AA}"/>
              </a:ext>
            </a:extLst>
          </p:cNvPr>
          <p:cNvSpPr/>
          <p:nvPr/>
        </p:nvSpPr>
        <p:spPr>
          <a:xfrm>
            <a:off x="7014272" y="3472402"/>
            <a:ext cx="2541588" cy="512763"/>
          </a:xfrm>
          <a:prstGeom prst="homePlate">
            <a:avLst/>
          </a:prstGeom>
          <a:solidFill>
            <a:srgbClr val="FE7C39"/>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Wk</a:t>
            </a:r>
            <a:r>
              <a:rPr lang="en-US" sz="2000" b="1" dirty="0">
                <a:solidFill>
                  <a:schemeClr val="tx1"/>
                </a:solidFill>
              </a:rPr>
              <a:t> 18-21</a:t>
            </a:r>
          </a:p>
        </p:txBody>
      </p:sp>
      <p:sp>
        <p:nvSpPr>
          <p:cNvPr id="7" name="Pentagon 12">
            <a:extLst>
              <a:ext uri="{FF2B5EF4-FFF2-40B4-BE49-F238E27FC236}">
                <a16:creationId xmlns:a16="http://schemas.microsoft.com/office/drawing/2014/main" id="{692CABB8-A670-1F00-BAF0-C8C38B3217E5}"/>
              </a:ext>
            </a:extLst>
          </p:cNvPr>
          <p:cNvSpPr/>
          <p:nvPr/>
        </p:nvSpPr>
        <p:spPr>
          <a:xfrm>
            <a:off x="4799710" y="3472402"/>
            <a:ext cx="2541588" cy="512763"/>
          </a:xfrm>
          <a:prstGeom prst="homePlate">
            <a:avLst/>
          </a:prstGeom>
          <a:solidFill>
            <a:srgbClr val="FFAA7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Wk</a:t>
            </a:r>
            <a:r>
              <a:rPr lang="en-US" sz="2000" b="1" dirty="0">
                <a:solidFill>
                  <a:schemeClr val="tx1"/>
                </a:solidFill>
              </a:rPr>
              <a:t> 10-17</a:t>
            </a:r>
          </a:p>
        </p:txBody>
      </p:sp>
      <p:sp>
        <p:nvSpPr>
          <p:cNvPr id="8" name="Pentagon 13">
            <a:extLst>
              <a:ext uri="{FF2B5EF4-FFF2-40B4-BE49-F238E27FC236}">
                <a16:creationId xmlns:a16="http://schemas.microsoft.com/office/drawing/2014/main" id="{48E86B55-29E2-E980-32BF-381A69C77519}"/>
              </a:ext>
            </a:extLst>
          </p:cNvPr>
          <p:cNvSpPr/>
          <p:nvPr/>
        </p:nvSpPr>
        <p:spPr>
          <a:xfrm>
            <a:off x="2585148" y="3472402"/>
            <a:ext cx="2541588" cy="512763"/>
          </a:xfrm>
          <a:prstGeom prst="homePlate">
            <a:avLst/>
          </a:prstGeom>
          <a:solidFill>
            <a:srgbClr val="FFCDA8"/>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Wk</a:t>
            </a:r>
            <a:r>
              <a:rPr lang="en-US" sz="2000" b="1" dirty="0">
                <a:solidFill>
                  <a:schemeClr val="tx1"/>
                </a:solidFill>
              </a:rPr>
              <a:t> 4-9</a:t>
            </a:r>
          </a:p>
        </p:txBody>
      </p:sp>
      <p:sp>
        <p:nvSpPr>
          <p:cNvPr id="9" name="Pentagon 14">
            <a:extLst>
              <a:ext uri="{FF2B5EF4-FFF2-40B4-BE49-F238E27FC236}">
                <a16:creationId xmlns:a16="http://schemas.microsoft.com/office/drawing/2014/main" id="{87F4374A-0B31-F88F-8393-D23F4FA3EFB8}"/>
              </a:ext>
            </a:extLst>
          </p:cNvPr>
          <p:cNvSpPr/>
          <p:nvPr/>
        </p:nvSpPr>
        <p:spPr>
          <a:xfrm>
            <a:off x="370586" y="3472402"/>
            <a:ext cx="2541588" cy="512763"/>
          </a:xfrm>
          <a:prstGeom prst="homePlate">
            <a:avLst/>
          </a:prstGeom>
          <a:solidFill>
            <a:srgbClr val="FFE8D4"/>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Wk</a:t>
            </a:r>
            <a:r>
              <a:rPr lang="en-US" sz="2000" b="1" dirty="0">
                <a:solidFill>
                  <a:schemeClr val="tx1"/>
                </a:solidFill>
              </a:rPr>
              <a:t> 1-3</a:t>
            </a:r>
          </a:p>
        </p:txBody>
      </p:sp>
      <p:sp>
        <p:nvSpPr>
          <p:cNvPr id="10" name="TextBox 9">
            <a:extLst>
              <a:ext uri="{FF2B5EF4-FFF2-40B4-BE49-F238E27FC236}">
                <a16:creationId xmlns:a16="http://schemas.microsoft.com/office/drawing/2014/main" id="{FE80443E-DAD0-F64B-295C-5CA276F38883}"/>
              </a:ext>
            </a:extLst>
          </p:cNvPr>
          <p:cNvSpPr txBox="1"/>
          <p:nvPr/>
        </p:nvSpPr>
        <p:spPr>
          <a:xfrm>
            <a:off x="2707196" y="1310284"/>
            <a:ext cx="3007804" cy="2029145"/>
          </a:xfrm>
          <a:prstGeom prst="rect">
            <a:avLst/>
          </a:prstGeom>
          <a:noFill/>
        </p:spPr>
        <p:txBody>
          <a:bodyPr wrap="square" lIns="0" tIns="0" rIns="0" bIns="0" rtlCol="0">
            <a:spAutoFit/>
          </a:bodyPr>
          <a:lstStyle/>
          <a:p>
            <a:pPr>
              <a:lnSpc>
                <a:spcPct val="125000"/>
              </a:lnSpc>
              <a:spcAft>
                <a:spcPts val="1000"/>
              </a:spcAft>
            </a:pPr>
            <a:r>
              <a:rPr lang="en-GB" b="1" dirty="0"/>
              <a:t>Phase 1: Targeted Discovery </a:t>
            </a:r>
            <a:br>
              <a:rPr lang="en-GB" b="1" dirty="0"/>
            </a:br>
            <a:r>
              <a:rPr lang="en-GB" b="1" dirty="0"/>
              <a:t>&amp; Design Sprint</a:t>
            </a:r>
          </a:p>
          <a:p>
            <a:pPr marL="4763" lvl="1">
              <a:lnSpc>
                <a:spcPct val="125000"/>
              </a:lnSpc>
              <a:spcAft>
                <a:spcPts val="1000"/>
              </a:spcAft>
            </a:pPr>
            <a:r>
              <a:rPr lang="en-GB" sz="1200" dirty="0"/>
              <a:t>WS1, WS2, WS3, WS6 + Fact Base; Service catalogue v1.0; RACI v1.0 drafted across PDLC / SSC Ops / Customer/JV; intake system requirements; TP policy options; SLA/pricing/dispute fact base v1.0; quick wins identified per workstream</a:t>
            </a:r>
          </a:p>
        </p:txBody>
      </p:sp>
      <p:sp>
        <p:nvSpPr>
          <p:cNvPr id="11" name="TextBox 10">
            <a:extLst>
              <a:ext uri="{FF2B5EF4-FFF2-40B4-BE49-F238E27FC236}">
                <a16:creationId xmlns:a16="http://schemas.microsoft.com/office/drawing/2014/main" id="{5B048D67-B434-DD4F-6F55-ED1D863F64BD}"/>
              </a:ext>
            </a:extLst>
          </p:cNvPr>
          <p:cNvSpPr txBox="1"/>
          <p:nvPr/>
        </p:nvSpPr>
        <p:spPr>
          <a:xfrm>
            <a:off x="7046303" y="1560288"/>
            <a:ext cx="2767012" cy="1759841"/>
          </a:xfrm>
          <a:prstGeom prst="rect">
            <a:avLst/>
          </a:prstGeom>
          <a:noFill/>
        </p:spPr>
        <p:txBody>
          <a:bodyPr wrap="square" lIns="0" tIns="0" rIns="0" bIns="0" rtlCol="0">
            <a:spAutoFit/>
          </a:bodyPr>
          <a:lstStyle/>
          <a:p>
            <a:pPr>
              <a:lnSpc>
                <a:spcPct val="125000"/>
              </a:lnSpc>
              <a:spcAft>
                <a:spcPts val="1000"/>
              </a:spcAft>
            </a:pPr>
            <a:r>
              <a:rPr lang="en-GB" b="1" dirty="0"/>
              <a:t>Phase 3: Pilot &amp; Iterate</a:t>
            </a:r>
          </a:p>
          <a:p>
            <a:pPr marL="4763" lvl="1">
              <a:lnSpc>
                <a:spcPct val="125000"/>
              </a:lnSpc>
              <a:spcAft>
                <a:spcPts val="1000"/>
              </a:spcAft>
            </a:pPr>
            <a:r>
              <a:rPr lang="en-GB" sz="1200" dirty="0"/>
              <a:t>WS1, WS2, WS3, WS4; RACI published to all stakeholders; BP pilot with 1–2 JV customer groups; intake system pilot (1 service line); first Governance Forum conducted; A→B→C→D tested on real acquisition case</a:t>
            </a:r>
          </a:p>
        </p:txBody>
      </p:sp>
      <p:sp>
        <p:nvSpPr>
          <p:cNvPr id="12" name="TextBox 11">
            <a:extLst>
              <a:ext uri="{FF2B5EF4-FFF2-40B4-BE49-F238E27FC236}">
                <a16:creationId xmlns:a16="http://schemas.microsoft.com/office/drawing/2014/main" id="{E47BB66C-17AB-F61F-6FA8-91EEE8E7B093}"/>
              </a:ext>
            </a:extLst>
          </p:cNvPr>
          <p:cNvSpPr txBox="1"/>
          <p:nvPr/>
        </p:nvSpPr>
        <p:spPr>
          <a:xfrm>
            <a:off x="373928" y="4251111"/>
            <a:ext cx="2767012" cy="1317477"/>
          </a:xfrm>
          <a:prstGeom prst="rect">
            <a:avLst/>
          </a:prstGeom>
          <a:noFill/>
        </p:spPr>
        <p:txBody>
          <a:bodyPr wrap="square" lIns="0" tIns="0" rIns="0" bIns="0" rtlCol="0">
            <a:spAutoFit/>
          </a:bodyPr>
          <a:lstStyle/>
          <a:p>
            <a:pPr>
              <a:lnSpc>
                <a:spcPct val="125000"/>
              </a:lnSpc>
              <a:spcAft>
                <a:spcPts val="1000"/>
              </a:spcAft>
            </a:pPr>
            <a:r>
              <a:rPr lang="en-GB" b="1" dirty="0"/>
              <a:t>Phase 0: Mobilization</a:t>
            </a:r>
          </a:p>
          <a:p>
            <a:pPr marL="4763" lvl="1">
              <a:lnSpc>
                <a:spcPct val="125000"/>
              </a:lnSpc>
              <a:spcAft>
                <a:spcPts val="1000"/>
              </a:spcAft>
            </a:pPr>
            <a:r>
              <a:rPr lang="en-GB" sz="1200" dirty="0"/>
              <a:t>All workstreams; Project </a:t>
            </a:r>
            <a:r>
              <a:rPr lang="en-GB" sz="1200" dirty="0" err="1"/>
              <a:t>kickoff</a:t>
            </a:r>
            <a:r>
              <a:rPr lang="en-GB" sz="1200" dirty="0"/>
              <a:t>; data requests issued; stakeholder mapping; interview scheduling; alignment on SSC scope (client's TO-BE step 1)</a:t>
            </a:r>
          </a:p>
        </p:txBody>
      </p:sp>
      <p:sp>
        <p:nvSpPr>
          <p:cNvPr id="13" name="TextBox 12">
            <a:extLst>
              <a:ext uri="{FF2B5EF4-FFF2-40B4-BE49-F238E27FC236}">
                <a16:creationId xmlns:a16="http://schemas.microsoft.com/office/drawing/2014/main" id="{D07E58F5-2254-04A9-B1D2-CACFFFED6BAB}"/>
              </a:ext>
            </a:extLst>
          </p:cNvPr>
          <p:cNvSpPr txBox="1"/>
          <p:nvPr/>
        </p:nvSpPr>
        <p:spPr>
          <a:xfrm>
            <a:off x="4855023" y="4251111"/>
            <a:ext cx="2884720" cy="1990673"/>
          </a:xfrm>
          <a:prstGeom prst="rect">
            <a:avLst/>
          </a:prstGeom>
          <a:noFill/>
        </p:spPr>
        <p:txBody>
          <a:bodyPr wrap="square" lIns="0" tIns="0" rIns="0" bIns="0" rtlCol="0">
            <a:spAutoFit/>
          </a:bodyPr>
          <a:lstStyle/>
          <a:p>
            <a:pPr>
              <a:lnSpc>
                <a:spcPct val="125000"/>
              </a:lnSpc>
              <a:spcAft>
                <a:spcPts val="1000"/>
              </a:spcAft>
            </a:pPr>
            <a:r>
              <a:rPr lang="en-GB" b="1" dirty="0"/>
              <a:t>Phase 2: Detailed Design &amp; Build</a:t>
            </a:r>
          </a:p>
          <a:p>
            <a:pPr marL="4763" lvl="1">
              <a:lnSpc>
                <a:spcPct val="125000"/>
              </a:lnSpc>
              <a:spcAft>
                <a:spcPts val="1000"/>
              </a:spcAft>
            </a:pPr>
            <a:r>
              <a:rPr lang="en-GB" sz="1200" dirty="0"/>
              <a:t>All workstreams; RACI v2.0 validated in workshops; BP role profiles &amp; JDs; PMO charter &amp; prioritization framework; intake system sandbox configured; A→B→C→D framework documented; subcontractor governance framework; TP model built; Frame Agreements reviewed</a:t>
            </a:r>
          </a:p>
        </p:txBody>
      </p:sp>
      <p:sp>
        <p:nvSpPr>
          <p:cNvPr id="14" name="TextBox 13">
            <a:extLst>
              <a:ext uri="{FF2B5EF4-FFF2-40B4-BE49-F238E27FC236}">
                <a16:creationId xmlns:a16="http://schemas.microsoft.com/office/drawing/2014/main" id="{D188AE4D-2F4F-80DE-A5C7-EF4B39B2EAEF}"/>
              </a:ext>
            </a:extLst>
          </p:cNvPr>
          <p:cNvSpPr txBox="1"/>
          <p:nvPr/>
        </p:nvSpPr>
        <p:spPr>
          <a:xfrm>
            <a:off x="9004581" y="4251111"/>
            <a:ext cx="2767012" cy="1779141"/>
          </a:xfrm>
          <a:prstGeom prst="rect">
            <a:avLst/>
          </a:prstGeom>
          <a:noFill/>
        </p:spPr>
        <p:txBody>
          <a:bodyPr wrap="square" lIns="0" tIns="0" rIns="0" bIns="0" rtlCol="0">
            <a:spAutoFit/>
          </a:bodyPr>
          <a:lstStyle/>
          <a:p>
            <a:pPr>
              <a:lnSpc>
                <a:spcPct val="125000"/>
              </a:lnSpc>
              <a:spcAft>
                <a:spcPts val="1000"/>
              </a:spcAft>
            </a:pPr>
            <a:r>
              <a:rPr lang="en-GB" b="1" dirty="0"/>
              <a:t>Phase 4: Embed &amp; Handover</a:t>
            </a:r>
          </a:p>
          <a:p>
            <a:pPr marL="4763" lvl="1">
              <a:lnSpc>
                <a:spcPct val="125000"/>
              </a:lnSpc>
              <a:spcAft>
                <a:spcPts val="1000"/>
              </a:spcAft>
            </a:pPr>
            <a:r>
              <a:rPr lang="en-GB" sz="1200" dirty="0"/>
              <a:t>All workstreams; Full rollout plan; training delivered; dashboards live; TP reporting operational; PwC handover documentation; sustainability plan; Roadmap phasing &amp; prioritization approved (TO-BE final step)</a:t>
            </a:r>
          </a:p>
        </p:txBody>
      </p:sp>
    </p:spTree>
    <p:extLst>
      <p:ext uri="{BB962C8B-B14F-4D97-AF65-F5344CB8AC3E}">
        <p14:creationId xmlns:p14="http://schemas.microsoft.com/office/powerpoint/2010/main" val="3787769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91" name="Google Shape;491;p66"/>
          <p:cNvSpPr/>
          <p:nvPr/>
        </p:nvSpPr>
        <p:spPr>
          <a:xfrm>
            <a:off x="4177801" y="1"/>
            <a:ext cx="8014200" cy="6121830"/>
          </a:xfrm>
          <a:prstGeom prst="rect">
            <a:avLst/>
          </a:prstGeom>
          <a:solidFill>
            <a:srgbClr val="F5F7F8"/>
          </a:solidFill>
          <a:ln>
            <a:noFill/>
          </a:ln>
        </p:spPr>
        <p:txBody>
          <a:bodyPr spcFirstLastPara="1" wrap="square" lIns="108000" tIns="72000" rIns="72000" bIns="7200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p:txBody>
      </p:sp>
      <p:sp>
        <p:nvSpPr>
          <p:cNvPr id="484" name="Google Shape;484;p66"/>
          <p:cNvSpPr/>
          <p:nvPr/>
        </p:nvSpPr>
        <p:spPr>
          <a:xfrm>
            <a:off x="4496401" y="1435792"/>
            <a:ext cx="3144260" cy="1086455"/>
          </a:xfrm>
          <a:prstGeom prst="rect">
            <a:avLst/>
          </a:prstGeom>
          <a:noFill/>
          <a:ln>
            <a:noFill/>
          </a:ln>
        </p:spPr>
        <p:txBody>
          <a:bodyPr spcFirstLastPara="1" wrap="square" lIns="0" tIns="0" rIns="0" bIns="45700" anchor="t" anchorCtr="0">
            <a:noAutofit/>
          </a:bodyPr>
          <a:lstStyle/>
          <a:p>
            <a:pPr marL="0" marR="0" lvl="0" indent="0" algn="l" rtl="0">
              <a:lnSpc>
                <a:spcPct val="100000"/>
              </a:lnSpc>
              <a:spcBef>
                <a:spcPts val="0"/>
              </a:spcBef>
              <a:spcAft>
                <a:spcPts val="1200"/>
              </a:spcAft>
              <a:buClr>
                <a:srgbClr val="000000"/>
              </a:buClr>
              <a:buSzPts val="1200"/>
              <a:buFont typeface="Arial"/>
              <a:buNone/>
            </a:pPr>
            <a:r>
              <a:rPr lang="en-GB" sz="1500" b="1" i="0" u="none" strike="noStrike" cap="none" dirty="0">
                <a:solidFill>
                  <a:schemeClr val="dk1"/>
                </a:solidFill>
                <a:latin typeface="Arial" panose="020B0604020202020204" pitchFamily="34" charset="0"/>
                <a:cs typeface="Arial" panose="020B0604020202020204" pitchFamily="34" charset="0"/>
                <a:sym typeface="Arial"/>
              </a:rPr>
              <a:t>Engagement partner</a:t>
            </a: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Arial" panose="020B0604020202020204" pitchFamily="34" charset="0"/>
                <a:cs typeface="Arial" panose="020B0604020202020204" pitchFamily="34" charset="0"/>
                <a:sym typeface="Arial"/>
              </a:rPr>
              <a:t>Overall relationship; quality assurance; executive access</a:t>
            </a: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Arial" panose="020B0604020202020204" pitchFamily="34" charset="0"/>
              <a:cs typeface="Arial" panose="020B0604020202020204" pitchFamily="34" charset="0"/>
              <a:sym typeface="Arial"/>
            </a:endParaRPr>
          </a:p>
        </p:txBody>
      </p:sp>
      <p:sp>
        <p:nvSpPr>
          <p:cNvPr id="485" name="Google Shape;485;p66"/>
          <p:cNvSpPr/>
          <p:nvPr/>
        </p:nvSpPr>
        <p:spPr>
          <a:xfrm>
            <a:off x="4496401" y="4099133"/>
            <a:ext cx="3144259" cy="1378584"/>
          </a:xfrm>
          <a:prstGeom prst="rect">
            <a:avLst/>
          </a:prstGeom>
          <a:noFill/>
          <a:ln>
            <a:noFill/>
          </a:ln>
        </p:spPr>
        <p:txBody>
          <a:bodyPr spcFirstLastPara="1" wrap="square" lIns="0" tIns="0" rIns="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GB" sz="1500" b="1" i="0" u="none" strike="noStrike" cap="none" dirty="0">
                <a:solidFill>
                  <a:schemeClr val="dk1"/>
                </a:solidFill>
                <a:latin typeface="Arial" panose="020B0604020202020204" pitchFamily="34" charset="0"/>
                <a:cs typeface="Arial" panose="020B0604020202020204" pitchFamily="34" charset="0"/>
                <a:sym typeface="Arial"/>
              </a:rPr>
              <a:t>RACI &amp; Governance Lead</a:t>
            </a:r>
          </a:p>
          <a:p>
            <a:pPr marL="0" marR="0" lvl="0" indent="0" algn="l" rtl="0">
              <a:lnSpc>
                <a:spcPct val="100000"/>
              </a:lnSpc>
              <a:spcBef>
                <a:spcPts val="0"/>
              </a:spcBef>
              <a:spcAft>
                <a:spcPts val="0"/>
              </a:spcAft>
              <a:buClr>
                <a:srgbClr val="000000"/>
              </a:buClr>
              <a:buSzPts val="1200"/>
              <a:buFont typeface="Arial"/>
              <a:buNone/>
            </a:pPr>
            <a:br>
              <a:rPr lang="en-GB" sz="1200" b="1" i="0" u="none" strike="noStrike" cap="none" dirty="0">
                <a:latin typeface="Arial" panose="020B0604020202020204" pitchFamily="34" charset="0"/>
                <a:cs typeface="Arial" panose="020B0604020202020204" pitchFamily="34" charset="0"/>
              </a:rPr>
            </a:br>
            <a:r>
              <a:rPr lang="en-US" sz="1200" b="0" i="0" u="none" strike="noStrike" cap="none" dirty="0">
                <a:solidFill>
                  <a:schemeClr val="dk1"/>
                </a:solidFill>
                <a:latin typeface="Arial" panose="020B0604020202020204" pitchFamily="34" charset="0"/>
                <a:cs typeface="Arial" panose="020B0604020202020204" pitchFamily="34" charset="0"/>
                <a:sym typeface="Arial"/>
              </a:rPr>
              <a:t>Manager, Org Design</a:t>
            </a:r>
          </a:p>
          <a:p>
            <a:pPr marL="0" marR="0" lvl="0" indent="0" algn="l" rtl="0">
              <a:lnSpc>
                <a:spcPct val="100000"/>
              </a:lnSpc>
              <a:spcBef>
                <a:spcPts val="0"/>
              </a:spcBef>
              <a:spcAft>
                <a:spcPts val="0"/>
              </a:spcAft>
              <a:buClr>
                <a:srgbClr val="000000"/>
              </a:buClr>
              <a:buSzPts val="1200"/>
              <a:buFont typeface="Arial"/>
              <a:buNone/>
            </a:pPr>
            <a:endParaRPr lang="en-US" sz="1200" b="1" i="0" u="none" strike="noStrike" cap="none" dirty="0">
              <a:solidFill>
                <a:schemeClr val="dk1"/>
              </a:solidFill>
              <a:latin typeface="Arial" panose="020B0604020202020204" pitchFamily="34" charset="0"/>
              <a:cs typeface="Arial" panose="020B0604020202020204"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en-US" sz="1200" i="0" u="none" strike="noStrike" cap="none" dirty="0">
                <a:solidFill>
                  <a:schemeClr val="dk1"/>
                </a:solidFill>
                <a:latin typeface="Arial" panose="020B0604020202020204" pitchFamily="34" charset="0"/>
                <a:cs typeface="Arial" panose="020B0604020202020204" pitchFamily="34" charset="0"/>
                <a:sym typeface="Arial"/>
              </a:rPr>
              <a:t>Experience in process mapping, </a:t>
            </a:r>
            <a:r>
              <a:rPr lang="en-US" sz="1200" dirty="0">
                <a:solidFill>
                  <a:schemeClr val="dk1"/>
                </a:solidFill>
                <a:latin typeface="Arial" panose="020B0604020202020204" pitchFamily="34" charset="0"/>
                <a:cs typeface="Arial" panose="020B0604020202020204" pitchFamily="34" charset="0"/>
              </a:rPr>
              <a:t>optimization and improvement</a:t>
            </a:r>
            <a:endParaRPr lang="en-US" sz="1200" i="0" u="none" strike="noStrike" cap="none" dirty="0">
              <a:solidFill>
                <a:schemeClr val="dk1"/>
              </a:solidFill>
              <a:latin typeface="Arial" panose="020B0604020202020204" pitchFamily="34" charset="0"/>
              <a:cs typeface="Arial" panose="020B0604020202020204" pitchFamily="34" charset="0"/>
              <a:sym typeface="Arial"/>
            </a:endParaRPr>
          </a:p>
        </p:txBody>
      </p:sp>
      <p:sp>
        <p:nvSpPr>
          <p:cNvPr id="486" name="Google Shape;486;p66"/>
          <p:cNvSpPr/>
          <p:nvPr/>
        </p:nvSpPr>
        <p:spPr>
          <a:xfrm>
            <a:off x="380324" y="1498947"/>
            <a:ext cx="3485094" cy="1338895"/>
          </a:xfrm>
          <a:prstGeom prst="rect">
            <a:avLst/>
          </a:prstGeom>
          <a:noFill/>
          <a:ln>
            <a:noFill/>
          </a:ln>
        </p:spPr>
        <p:txBody>
          <a:bodyPr spcFirstLastPara="1" wrap="square" lIns="0" tIns="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600" b="1" i="0" u="none" strike="noStrike" cap="none" dirty="0">
                <a:solidFill>
                  <a:schemeClr val="dk1"/>
                </a:solidFill>
                <a:latin typeface="Arial"/>
                <a:ea typeface="Arial"/>
                <a:cs typeface="Arial"/>
                <a:sym typeface="Arial"/>
              </a:rPr>
              <a:t>Experienced in local and global accounting standards, SSC setup &amp; evolution, as well as Tax, Risk &amp; Regulation and compliance topics</a:t>
            </a:r>
            <a:endParaRPr sz="1600" b="1" i="0" u="none" strike="noStrike" cap="none" dirty="0">
              <a:solidFill>
                <a:schemeClr val="dk1"/>
              </a:solidFill>
              <a:latin typeface="Arial"/>
              <a:ea typeface="Arial"/>
              <a:cs typeface="Arial"/>
              <a:sym typeface="Arial"/>
            </a:endParaRPr>
          </a:p>
        </p:txBody>
      </p:sp>
      <p:sp>
        <p:nvSpPr>
          <p:cNvPr id="487" name="Google Shape;487;p66"/>
          <p:cNvSpPr/>
          <p:nvPr/>
        </p:nvSpPr>
        <p:spPr>
          <a:xfrm>
            <a:off x="380324" y="2678315"/>
            <a:ext cx="3485094" cy="3660794"/>
          </a:xfrm>
          <a:prstGeom prst="rect">
            <a:avLst/>
          </a:prstGeom>
          <a:noFill/>
          <a:ln>
            <a:noFill/>
          </a:ln>
        </p:spPr>
        <p:txBody>
          <a:bodyPr spcFirstLastPara="1" wrap="square" lIns="0" tIns="45700" rIns="91425" bIns="45700" anchor="ctr" anchorCtr="0">
            <a:noAutofit/>
          </a:bodyPr>
          <a:lstStyle/>
          <a:p>
            <a:pPr>
              <a:lnSpc>
                <a:spcPct val="115000"/>
              </a:lnSpc>
              <a:buSzPts val="1200"/>
            </a:pPr>
            <a:r>
              <a:rPr lang="en-GB" sz="1200" b="0" i="0" u="none" strike="noStrike" cap="none" dirty="0">
                <a:solidFill>
                  <a:schemeClr val="dk1"/>
                </a:solidFill>
                <a:latin typeface="Arial" panose="020B0604020202020204" pitchFamily="34" charset="0"/>
                <a:cs typeface="Arial" panose="020B0604020202020204" pitchFamily="34" charset="0"/>
                <a:sym typeface="Arial"/>
              </a:rPr>
              <a:t>Bringing efficiencies through automations </a:t>
            </a:r>
            <a:br>
              <a:rPr lang="en-GB" sz="1200" b="0" i="0" u="none" strike="noStrike" cap="none" dirty="0">
                <a:solidFill>
                  <a:schemeClr val="dk1"/>
                </a:solidFill>
                <a:latin typeface="Arial" panose="020B0604020202020204" pitchFamily="34" charset="0"/>
                <a:cs typeface="Arial" panose="020B0604020202020204" pitchFamily="34" charset="0"/>
                <a:sym typeface="Arial"/>
              </a:rPr>
            </a:br>
            <a:r>
              <a:rPr lang="en-GB" sz="1200" b="0" i="0" u="none" strike="noStrike" cap="none" dirty="0">
                <a:solidFill>
                  <a:schemeClr val="dk1"/>
                </a:solidFill>
                <a:latin typeface="Arial" panose="020B0604020202020204" pitchFamily="34" charset="0"/>
                <a:cs typeface="Arial" panose="020B0604020202020204" pitchFamily="34" charset="0"/>
                <a:sym typeface="Arial"/>
              </a:rPr>
              <a:t>and process improvements</a:t>
            </a:r>
            <a:r>
              <a:rPr lang="en-GB" sz="1200" dirty="0">
                <a:solidFill>
                  <a:schemeClr val="dk1"/>
                </a:solidFill>
                <a:latin typeface="Arial" panose="020B0604020202020204" pitchFamily="34" charset="0"/>
                <a:cs typeface="Arial" panose="020B0604020202020204" pitchFamily="34" charset="0"/>
              </a:rPr>
              <a:t> to our clients </a:t>
            </a:r>
            <a:br>
              <a:rPr lang="en-GB" sz="1200" b="0" i="0" u="none" strike="noStrike" cap="none" dirty="0">
                <a:latin typeface="Arial" panose="020B0604020202020204" pitchFamily="34" charset="0"/>
                <a:cs typeface="Arial" panose="020B0604020202020204" pitchFamily="34" charset="0"/>
              </a:rPr>
            </a:br>
            <a:endParaRPr sz="1200" b="0" i="0" u="none" strike="noStrike" cap="none" dirty="0">
              <a:solidFill>
                <a:schemeClr val="dk1"/>
              </a:solidFill>
              <a:latin typeface="Arial" panose="020B0604020202020204" pitchFamily="34" charset="0"/>
              <a:cs typeface="Arial" panose="020B0604020202020204" pitchFamily="34" charset="0"/>
              <a:sym typeface="Arial"/>
            </a:endParaRPr>
          </a:p>
          <a:p>
            <a:pPr marL="0" marR="0" lvl="0" indent="0" algn="l" rtl="0">
              <a:lnSpc>
                <a:spcPct val="115000"/>
              </a:lnSpc>
              <a:spcBef>
                <a:spcPts val="0"/>
              </a:spcBef>
              <a:spcAft>
                <a:spcPts val="0"/>
              </a:spcAft>
              <a:buClr>
                <a:srgbClr val="000000"/>
              </a:buClr>
              <a:buSzPts val="1200"/>
              <a:buFont typeface="Arial"/>
              <a:buNone/>
            </a:pPr>
            <a:r>
              <a:rPr lang="en-GB" sz="1200" b="0" i="0" u="none" strike="noStrike" cap="none" dirty="0">
                <a:solidFill>
                  <a:schemeClr val="dk1"/>
                </a:solidFill>
                <a:latin typeface="Arial" panose="020B0604020202020204" pitchFamily="34" charset="0"/>
                <a:cs typeface="Arial" panose="020B0604020202020204" pitchFamily="34" charset="0"/>
                <a:sym typeface="Arial"/>
              </a:rPr>
              <a:t>Strong experience in various accounting systems</a:t>
            </a:r>
            <a:r>
              <a:rPr lang="en-GB" sz="1200" dirty="0">
                <a:solidFill>
                  <a:schemeClr val="dk1"/>
                </a:solidFill>
                <a:latin typeface="Arial" panose="020B0604020202020204" pitchFamily="34" charset="0"/>
                <a:cs typeface="Arial" panose="020B0604020202020204" pitchFamily="34" charset="0"/>
              </a:rPr>
              <a:t> and</a:t>
            </a:r>
            <a:r>
              <a:rPr lang="en-GB" sz="1200" b="0" i="0" u="none" strike="noStrike" cap="none" dirty="0">
                <a:solidFill>
                  <a:schemeClr val="dk1"/>
                </a:solidFill>
                <a:latin typeface="Arial" panose="020B0604020202020204" pitchFamily="34" charset="0"/>
                <a:cs typeface="Arial" panose="020B0604020202020204" pitchFamily="34" charset="0"/>
                <a:sym typeface="Arial"/>
              </a:rPr>
              <a:t> workflows</a:t>
            </a:r>
            <a:br>
              <a:rPr lang="en-GB" sz="1200" b="0" i="0" u="none" strike="noStrike" cap="none" dirty="0">
                <a:latin typeface="Arial" panose="020B0604020202020204" pitchFamily="34" charset="0"/>
                <a:cs typeface="Arial" panose="020B0604020202020204" pitchFamily="34" charset="0"/>
              </a:rPr>
            </a:br>
            <a:endParaRPr sz="1200" b="0" i="0" u="none" strike="noStrike" cap="none" dirty="0">
              <a:solidFill>
                <a:schemeClr val="dk1"/>
              </a:solidFill>
              <a:latin typeface="Arial" panose="020B0604020202020204" pitchFamily="34" charset="0"/>
              <a:cs typeface="Arial" panose="020B0604020202020204" pitchFamily="34" charset="0"/>
              <a:sym typeface="Arial"/>
            </a:endParaRPr>
          </a:p>
          <a:p>
            <a:pPr marL="0" marR="0" lvl="0" indent="0" algn="l" rtl="0">
              <a:lnSpc>
                <a:spcPct val="115000"/>
              </a:lnSpc>
              <a:spcBef>
                <a:spcPts val="0"/>
              </a:spcBef>
              <a:spcAft>
                <a:spcPts val="0"/>
              </a:spcAft>
              <a:buClr>
                <a:srgbClr val="000000"/>
              </a:buClr>
              <a:buSzPts val="1200"/>
              <a:buFont typeface="Arial"/>
              <a:buNone/>
            </a:pPr>
            <a:r>
              <a:rPr lang="en-GB" sz="1200" b="0" i="0" u="none" strike="noStrike" cap="none" dirty="0">
                <a:solidFill>
                  <a:schemeClr val="dk1"/>
                </a:solidFill>
                <a:latin typeface="Arial" panose="020B0604020202020204" pitchFamily="34" charset="0"/>
                <a:cs typeface="Arial" panose="020B0604020202020204" pitchFamily="34" charset="0"/>
                <a:sym typeface="Arial"/>
              </a:rPr>
              <a:t>Experience with process onboarding, optimisation </a:t>
            </a:r>
            <a:br>
              <a:rPr lang="en-GB" sz="1200" b="0" i="0" u="none" strike="noStrike" cap="none" dirty="0">
                <a:latin typeface="Arial" panose="020B0604020202020204" pitchFamily="34" charset="0"/>
                <a:cs typeface="Arial" panose="020B0604020202020204" pitchFamily="34" charset="0"/>
              </a:rPr>
            </a:br>
            <a:r>
              <a:rPr lang="en-GB" sz="1200" b="0" i="0" u="none" strike="noStrike" cap="none" dirty="0">
                <a:solidFill>
                  <a:schemeClr val="dk1"/>
                </a:solidFill>
                <a:latin typeface="Arial" panose="020B0604020202020204" pitchFamily="34" charset="0"/>
                <a:cs typeface="Arial" panose="020B0604020202020204" pitchFamily="34" charset="0"/>
                <a:sym typeface="Arial"/>
              </a:rPr>
              <a:t>and process standardization, especially in Shared Services</a:t>
            </a:r>
            <a:br>
              <a:rPr lang="en-GB" sz="1200" b="0" i="0" u="none" strike="noStrike" cap="none" dirty="0">
                <a:latin typeface="Arial" panose="020B0604020202020204" pitchFamily="34" charset="0"/>
                <a:cs typeface="Arial" panose="020B0604020202020204" pitchFamily="34" charset="0"/>
              </a:rPr>
            </a:br>
            <a:endParaRPr sz="1200" b="0" i="0" u="none" strike="noStrike" cap="none" dirty="0">
              <a:solidFill>
                <a:schemeClr val="dk1"/>
              </a:solidFill>
              <a:latin typeface="Arial" panose="020B0604020202020204" pitchFamily="34" charset="0"/>
              <a:cs typeface="Arial" panose="020B0604020202020204" pitchFamily="34" charset="0"/>
              <a:sym typeface="Arial"/>
            </a:endParaRPr>
          </a:p>
          <a:p>
            <a:pPr marL="0" marR="0" lvl="0" indent="0" algn="l" rtl="0">
              <a:lnSpc>
                <a:spcPct val="115000"/>
              </a:lnSpc>
              <a:spcBef>
                <a:spcPts val="0"/>
              </a:spcBef>
              <a:spcAft>
                <a:spcPts val="0"/>
              </a:spcAft>
              <a:buClr>
                <a:srgbClr val="000000"/>
              </a:buClr>
              <a:buSzPts val="1200"/>
              <a:buFont typeface="Arial"/>
              <a:buNone/>
            </a:pPr>
            <a:r>
              <a:rPr lang="en-GB" sz="1200" b="0" i="0" u="none" strike="noStrike" cap="none" dirty="0">
                <a:solidFill>
                  <a:schemeClr val="dk1"/>
                </a:solidFill>
                <a:latin typeface="Arial" panose="020B0604020202020204" pitchFamily="34" charset="0"/>
                <a:cs typeface="Arial" panose="020B0604020202020204" pitchFamily="34" charset="0"/>
                <a:sym typeface="Arial"/>
              </a:rPr>
              <a:t>End to end expertise in process insourcing and outsourcing  </a:t>
            </a:r>
            <a:endParaRPr lang="en-GB" sz="1200" b="0" i="0" u="none" strike="noStrike" cap="none" dirty="0">
              <a:solidFill>
                <a:schemeClr val="dk1"/>
              </a:solidFill>
              <a:latin typeface="Arial" panose="020B0604020202020204" pitchFamily="34" charset="0"/>
              <a:cs typeface="Arial" panose="020B0604020202020204" pitchFamily="34" charset="0"/>
            </a:endParaRPr>
          </a:p>
          <a:p>
            <a:pPr marL="0" marR="0" lvl="0" indent="0" algn="l" rtl="0">
              <a:lnSpc>
                <a:spcPct val="115000"/>
              </a:lnSpc>
              <a:spcBef>
                <a:spcPts val="0"/>
              </a:spcBef>
              <a:spcAft>
                <a:spcPts val="0"/>
              </a:spcAft>
              <a:buClr>
                <a:srgbClr val="000000"/>
              </a:buClr>
              <a:buSzPts val="1200"/>
              <a:buFont typeface="Arial"/>
              <a:buNone/>
            </a:pPr>
            <a:endParaRPr lang="en-GB" sz="1200" dirty="0">
              <a:solidFill>
                <a:schemeClr val="dk1"/>
              </a:solidFill>
              <a:latin typeface="Arial" panose="020B0604020202020204" pitchFamily="34" charset="0"/>
              <a:cs typeface="Arial" panose="020B0604020202020204" pitchFamily="34" charset="0"/>
            </a:endParaRPr>
          </a:p>
          <a:p>
            <a:pPr marL="0" marR="0" lvl="0" indent="0" algn="l" rtl="0">
              <a:lnSpc>
                <a:spcPct val="115000"/>
              </a:lnSpc>
              <a:spcBef>
                <a:spcPts val="0"/>
              </a:spcBef>
              <a:spcAft>
                <a:spcPts val="0"/>
              </a:spcAft>
              <a:buClr>
                <a:srgbClr val="000000"/>
              </a:buClr>
              <a:buSzPts val="1200"/>
              <a:buFont typeface="Arial"/>
              <a:buNone/>
            </a:pPr>
            <a:r>
              <a:rPr lang="en-GB" sz="1200" dirty="0">
                <a:solidFill>
                  <a:schemeClr val="dk1"/>
                </a:solidFill>
                <a:latin typeface="Arial" panose="020B0604020202020204" pitchFamily="34" charset="0"/>
                <a:cs typeface="Arial" panose="020B0604020202020204" pitchFamily="34" charset="0"/>
              </a:rPr>
              <a:t>Experience</a:t>
            </a:r>
            <a:r>
              <a:rPr lang="en-GB" sz="1200" b="0" i="0" u="none" strike="noStrike" cap="none" dirty="0">
                <a:solidFill>
                  <a:schemeClr val="dk1"/>
                </a:solidFill>
                <a:latin typeface="Arial" panose="020B0604020202020204" pitchFamily="34" charset="0"/>
                <a:cs typeface="Arial" panose="020B0604020202020204" pitchFamily="34" charset="0"/>
                <a:sym typeface="Arial"/>
              </a:rPr>
              <a:t> with transfer pricing</a:t>
            </a:r>
            <a:endParaRPr sz="1200" b="0" i="0" u="none" strike="noStrike" cap="none" dirty="0">
              <a:solidFill>
                <a:schemeClr val="dk1"/>
              </a:solidFill>
              <a:latin typeface="Arial" panose="020B0604020202020204" pitchFamily="34" charset="0"/>
              <a:cs typeface="Arial" panose="020B0604020202020204" pitchFamily="34" charset="0"/>
              <a:sym typeface="Arial"/>
            </a:endParaRPr>
          </a:p>
        </p:txBody>
      </p:sp>
      <p:sp>
        <p:nvSpPr>
          <p:cNvPr id="490" name="Google Shape;490;p66"/>
          <p:cNvSpPr/>
          <p:nvPr/>
        </p:nvSpPr>
        <p:spPr>
          <a:xfrm>
            <a:off x="8508569" y="1439242"/>
            <a:ext cx="3306377" cy="1083005"/>
          </a:xfrm>
          <a:prstGeom prst="rect">
            <a:avLst/>
          </a:prstGeom>
          <a:noFill/>
          <a:ln>
            <a:noFill/>
          </a:ln>
        </p:spPr>
        <p:txBody>
          <a:bodyPr spcFirstLastPara="1" wrap="square" lIns="0" tIns="0" rIns="0" bIns="45700" anchor="t" anchorCtr="0">
            <a:noAutofit/>
          </a:bodyPr>
          <a:lstStyle/>
          <a:p>
            <a:pPr lvl="0">
              <a:spcAft>
                <a:spcPts val="1200"/>
              </a:spcAft>
            </a:pPr>
            <a:r>
              <a:rPr lang="en-US" sz="1500" b="1" dirty="0">
                <a:solidFill>
                  <a:schemeClr val="dk1"/>
                </a:solidFill>
                <a:latin typeface="Arial" panose="020B0604020202020204" pitchFamily="34" charset="0"/>
                <a:cs typeface="Arial" panose="020B0604020202020204" pitchFamily="34" charset="0"/>
              </a:rPr>
              <a:t>Project Director</a:t>
            </a:r>
            <a:endParaRPr lang="en-US" sz="1500" b="1" dirty="0">
              <a:latin typeface="Arial" panose="020B0604020202020204" pitchFamily="34" charset="0"/>
              <a:cs typeface="Arial" panose="020B0604020202020204" pitchFamily="34" charset="0"/>
            </a:endParaRPr>
          </a:p>
          <a:p>
            <a:pPr lvl="0">
              <a:spcAft>
                <a:spcPts val="1200"/>
              </a:spcAft>
            </a:pPr>
            <a:r>
              <a:rPr lang="en-US" sz="1200" dirty="0">
                <a:solidFill>
                  <a:schemeClr val="dk1"/>
                </a:solidFill>
                <a:latin typeface="Arial" panose="020B0604020202020204" pitchFamily="34" charset="0"/>
                <a:cs typeface="Arial" panose="020B0604020202020204" pitchFamily="34" charset="0"/>
              </a:rPr>
              <a:t>Day-to-day leadership; workstream coordination</a:t>
            </a:r>
          </a:p>
          <a:p>
            <a:pPr lvl="0">
              <a:spcAft>
                <a:spcPts val="1200"/>
              </a:spcAft>
            </a:pPr>
            <a:r>
              <a:rPr lang="en-GB" sz="1200" dirty="0">
                <a:solidFill>
                  <a:schemeClr val="dk1"/>
                </a:solidFill>
                <a:latin typeface="Arial" panose="020B0604020202020204" pitchFamily="34" charset="0"/>
                <a:cs typeface="Arial" panose="020B0604020202020204" pitchFamily="34" charset="0"/>
              </a:rPr>
              <a:t>Director, Operating Model &amp; Governance; 20+ years in multi-country SSC experience</a:t>
            </a:r>
            <a:endParaRPr lang="en-US" sz="1200" dirty="0">
              <a:solidFill>
                <a:schemeClr val="dk1"/>
              </a:solidFill>
              <a:latin typeface="Arial" panose="020B0604020202020204" pitchFamily="34" charset="0"/>
              <a:cs typeface="Arial" panose="020B0604020202020204" pitchFamily="34" charset="0"/>
            </a:endParaRPr>
          </a:p>
        </p:txBody>
      </p:sp>
      <p:sp>
        <p:nvSpPr>
          <p:cNvPr id="512" name="Google Shape;512;p66"/>
          <p:cNvSpPr/>
          <p:nvPr/>
        </p:nvSpPr>
        <p:spPr>
          <a:xfrm>
            <a:off x="8508569" y="4099133"/>
            <a:ext cx="3303107" cy="1378584"/>
          </a:xfrm>
          <a:prstGeom prst="rect">
            <a:avLst/>
          </a:prstGeom>
          <a:noFill/>
          <a:ln>
            <a:noFill/>
          </a:ln>
        </p:spPr>
        <p:txBody>
          <a:bodyPr spcFirstLastPara="1" wrap="square" lIns="0" tIns="0" rIns="0" bIns="45700" anchor="t" anchorCtr="0">
            <a:noAutofit/>
          </a:bodyPr>
          <a:lstStyle/>
          <a:p>
            <a:pPr lvl="0">
              <a:spcAft>
                <a:spcPts val="1200"/>
              </a:spcAft>
            </a:pPr>
            <a:r>
              <a:rPr lang="en-US" sz="1500" b="1" dirty="0">
                <a:latin typeface="Arial" panose="020B0604020202020204" pitchFamily="34" charset="0"/>
                <a:cs typeface="Arial" panose="020B0604020202020204" pitchFamily="34" charset="0"/>
              </a:rPr>
              <a:t>Change &amp; Comms Lead</a:t>
            </a:r>
          </a:p>
          <a:p>
            <a:pPr lvl="0">
              <a:spcAft>
                <a:spcPts val="1200"/>
              </a:spcAft>
            </a:pPr>
            <a:r>
              <a:rPr lang="fr-FR" sz="1200" dirty="0">
                <a:solidFill>
                  <a:schemeClr val="dk1"/>
                </a:solidFill>
                <a:latin typeface="Arial" panose="020B0604020202020204" pitchFamily="34" charset="0"/>
                <a:cs typeface="Arial" panose="020B0604020202020204" pitchFamily="34" charset="0"/>
              </a:rPr>
              <a:t>Manager, Change Management; GBS transformation </a:t>
            </a:r>
            <a:r>
              <a:rPr lang="en-GB" sz="1200" noProof="0" dirty="0">
                <a:solidFill>
                  <a:schemeClr val="dk1"/>
                </a:solidFill>
                <a:latin typeface="Arial" panose="020B0604020202020204" pitchFamily="34" charset="0"/>
                <a:cs typeface="Arial" panose="020B0604020202020204" pitchFamily="34" charset="0"/>
              </a:rPr>
              <a:t>experience</a:t>
            </a:r>
            <a:endParaRPr lang="en-US" sz="1200" dirty="0">
              <a:solidFill>
                <a:schemeClr val="dk1"/>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FB27310A-6BFC-E6DE-94EF-40DAA8A11C7B}"/>
              </a:ext>
            </a:extLst>
          </p:cNvPr>
          <p:cNvGrpSpPr/>
          <p:nvPr/>
        </p:nvGrpSpPr>
        <p:grpSpPr>
          <a:xfrm>
            <a:off x="238638" y="2898252"/>
            <a:ext cx="3481744" cy="3203580"/>
            <a:chOff x="433800" y="3529318"/>
            <a:chExt cx="3766275" cy="1783092"/>
          </a:xfrm>
        </p:grpSpPr>
        <p:cxnSp>
          <p:nvCxnSpPr>
            <p:cNvPr id="518" name="Google Shape;518;p66"/>
            <p:cNvCxnSpPr>
              <a:cxnSpLocks/>
            </p:cNvCxnSpPr>
            <p:nvPr/>
          </p:nvCxnSpPr>
          <p:spPr>
            <a:xfrm>
              <a:off x="433800" y="3529318"/>
              <a:ext cx="3744000" cy="0"/>
            </a:xfrm>
            <a:prstGeom prst="straightConnector1">
              <a:avLst/>
            </a:prstGeom>
            <a:noFill/>
            <a:ln w="9525" cap="flat" cmpd="sng">
              <a:solidFill>
                <a:schemeClr val="dk2"/>
              </a:solidFill>
              <a:prstDash val="solid"/>
              <a:round/>
              <a:headEnd type="none" w="sm" len="sm"/>
              <a:tailEnd type="none" w="sm" len="sm"/>
            </a:ln>
          </p:spPr>
        </p:cxnSp>
        <p:cxnSp>
          <p:nvCxnSpPr>
            <p:cNvPr id="519" name="Google Shape;519;p66"/>
            <p:cNvCxnSpPr>
              <a:cxnSpLocks/>
            </p:cNvCxnSpPr>
            <p:nvPr/>
          </p:nvCxnSpPr>
          <p:spPr>
            <a:xfrm>
              <a:off x="433800" y="4231180"/>
              <a:ext cx="3744000" cy="0"/>
            </a:xfrm>
            <a:prstGeom prst="straightConnector1">
              <a:avLst/>
            </a:prstGeom>
            <a:noFill/>
            <a:ln w="9525" cap="flat" cmpd="sng">
              <a:solidFill>
                <a:schemeClr val="dk2"/>
              </a:solidFill>
              <a:prstDash val="solid"/>
              <a:round/>
              <a:headEnd type="none" w="sm" len="sm"/>
              <a:tailEnd type="none" w="sm" len="sm"/>
            </a:ln>
          </p:spPr>
        </p:cxnSp>
        <p:cxnSp>
          <p:nvCxnSpPr>
            <p:cNvPr id="520" name="Google Shape;520;p66"/>
            <p:cNvCxnSpPr>
              <a:cxnSpLocks/>
            </p:cNvCxnSpPr>
            <p:nvPr/>
          </p:nvCxnSpPr>
          <p:spPr>
            <a:xfrm>
              <a:off x="433800" y="4710048"/>
              <a:ext cx="3744000" cy="0"/>
            </a:xfrm>
            <a:prstGeom prst="straightConnector1">
              <a:avLst/>
            </a:prstGeom>
            <a:noFill/>
            <a:ln w="9525" cap="flat" cmpd="sng">
              <a:solidFill>
                <a:schemeClr val="dk2"/>
              </a:solidFill>
              <a:prstDash val="solid"/>
              <a:round/>
              <a:headEnd type="none" w="sm" len="sm"/>
              <a:tailEnd type="none" w="sm" len="sm"/>
            </a:ln>
          </p:spPr>
        </p:cxnSp>
        <p:cxnSp>
          <p:nvCxnSpPr>
            <p:cNvPr id="521" name="Google Shape;521;p66"/>
            <p:cNvCxnSpPr>
              <a:cxnSpLocks/>
            </p:cNvCxnSpPr>
            <p:nvPr/>
          </p:nvCxnSpPr>
          <p:spPr>
            <a:xfrm>
              <a:off x="456075" y="5312410"/>
              <a:ext cx="3744000" cy="0"/>
            </a:xfrm>
            <a:prstGeom prst="straightConnector1">
              <a:avLst/>
            </a:prstGeom>
            <a:noFill/>
            <a:ln w="9525" cap="flat" cmpd="sng">
              <a:solidFill>
                <a:schemeClr val="dk2"/>
              </a:solidFill>
              <a:prstDash val="solid"/>
              <a:round/>
              <a:headEnd type="none" w="sm" len="sm"/>
              <a:tailEnd type="none" w="sm" len="sm"/>
            </a:ln>
          </p:spPr>
        </p:cxnSp>
      </p:grpSp>
      <p:sp>
        <p:nvSpPr>
          <p:cNvPr id="6" name="Title 2">
            <a:extLst>
              <a:ext uri="{FF2B5EF4-FFF2-40B4-BE49-F238E27FC236}">
                <a16:creationId xmlns:a16="http://schemas.microsoft.com/office/drawing/2014/main" id="{079851E0-D371-C9E6-CD09-AE37CC9CAB49}"/>
              </a:ext>
            </a:extLst>
          </p:cNvPr>
          <p:cNvSpPr>
            <a:spLocks noGrp="1"/>
          </p:cNvSpPr>
          <p:nvPr>
            <p:ph type="title"/>
          </p:nvPr>
        </p:nvSpPr>
        <p:spPr>
          <a:xfrm>
            <a:off x="402336" y="402337"/>
            <a:ext cx="2520974" cy="510604"/>
          </a:xfrm>
        </p:spPr>
        <p:txBody>
          <a:bodyPr/>
          <a:lstStyle/>
          <a:p>
            <a:r>
              <a:rPr lang="en-SK"/>
              <a:t>Why PwC team</a:t>
            </a:r>
          </a:p>
        </p:txBody>
      </p:sp>
      <p:pic>
        <p:nvPicPr>
          <p:cNvPr id="7" name="Graphic 6">
            <a:extLst>
              <a:ext uri="{FF2B5EF4-FFF2-40B4-BE49-F238E27FC236}">
                <a16:creationId xmlns:a16="http://schemas.microsoft.com/office/drawing/2014/main" id="{5C23F38C-D91E-15F8-B123-501E752552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6401" y="402337"/>
            <a:ext cx="914400" cy="914400"/>
          </a:xfrm>
          <a:prstGeom prst="rect">
            <a:avLst/>
          </a:prstGeom>
        </p:spPr>
      </p:pic>
      <p:pic>
        <p:nvPicPr>
          <p:cNvPr id="8" name="Graphic 7">
            <a:extLst>
              <a:ext uri="{FF2B5EF4-FFF2-40B4-BE49-F238E27FC236}">
                <a16:creationId xmlns:a16="http://schemas.microsoft.com/office/drawing/2014/main" id="{AD3C0480-6B3F-A745-0521-A7756F5DD1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08569" y="416192"/>
            <a:ext cx="760057" cy="760057"/>
          </a:xfrm>
          <a:prstGeom prst="rect">
            <a:avLst/>
          </a:prstGeom>
        </p:spPr>
      </p:pic>
      <p:pic>
        <p:nvPicPr>
          <p:cNvPr id="14" name="Graphic 13">
            <a:extLst>
              <a:ext uri="{FF2B5EF4-FFF2-40B4-BE49-F238E27FC236}">
                <a16:creationId xmlns:a16="http://schemas.microsoft.com/office/drawing/2014/main" id="{1A3D4A8C-686E-D318-6269-276BE983604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96401" y="3015521"/>
            <a:ext cx="914400" cy="914400"/>
          </a:xfrm>
          <a:prstGeom prst="rect">
            <a:avLst/>
          </a:prstGeom>
        </p:spPr>
      </p:pic>
      <p:pic>
        <p:nvPicPr>
          <p:cNvPr id="15" name="Graphic 14">
            <a:extLst>
              <a:ext uri="{FF2B5EF4-FFF2-40B4-BE49-F238E27FC236}">
                <a16:creationId xmlns:a16="http://schemas.microsoft.com/office/drawing/2014/main" id="{7E752306-8508-DAAB-C836-5FB6591B1B1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08569" y="3048541"/>
            <a:ext cx="840293" cy="840293"/>
          </a:xfrm>
          <a:prstGeom prst="rect">
            <a:avLst/>
          </a:prstGeom>
        </p:spPr>
      </p:pic>
      <p:cxnSp>
        <p:nvCxnSpPr>
          <p:cNvPr id="2" name="Google Shape;519;p66">
            <a:extLst>
              <a:ext uri="{FF2B5EF4-FFF2-40B4-BE49-F238E27FC236}">
                <a16:creationId xmlns:a16="http://schemas.microsoft.com/office/drawing/2014/main" id="{7E0AD0FB-70F3-21B7-6BE8-A5BAA8D8D67C}"/>
              </a:ext>
            </a:extLst>
          </p:cNvPr>
          <p:cNvCxnSpPr>
            <a:cxnSpLocks/>
          </p:cNvCxnSpPr>
          <p:nvPr/>
        </p:nvCxnSpPr>
        <p:spPr>
          <a:xfrm>
            <a:off x="238638" y="5661509"/>
            <a:ext cx="3431618" cy="0"/>
          </a:xfrm>
          <a:prstGeom prst="straightConnector1">
            <a:avLst/>
          </a:prstGeom>
          <a:noFill/>
          <a:ln w="9525" cap="flat" cmpd="sng">
            <a:solidFill>
              <a:schemeClr val="dk2"/>
            </a:solidFill>
            <a:prstDash val="solid"/>
            <a:round/>
            <a:headEnd type="none" w="sm" len="sm"/>
            <a:tailEnd type="none" w="sm" len="sm"/>
          </a:ln>
        </p:spPr>
      </p:cxnSp>
      <p:cxnSp>
        <p:nvCxnSpPr>
          <p:cNvPr id="3" name="Google Shape;519;p66">
            <a:extLst>
              <a:ext uri="{FF2B5EF4-FFF2-40B4-BE49-F238E27FC236}">
                <a16:creationId xmlns:a16="http://schemas.microsoft.com/office/drawing/2014/main" id="{F61F09C7-73EC-E7FE-C1C8-412A4578071E}"/>
              </a:ext>
            </a:extLst>
          </p:cNvPr>
          <p:cNvCxnSpPr>
            <a:cxnSpLocks/>
          </p:cNvCxnSpPr>
          <p:nvPr/>
        </p:nvCxnSpPr>
        <p:spPr>
          <a:xfrm>
            <a:off x="253405" y="3506289"/>
            <a:ext cx="3431618" cy="0"/>
          </a:xfrm>
          <a:prstGeom prst="straightConnector1">
            <a:avLst/>
          </a:prstGeom>
          <a:noFill/>
          <a:ln w="9525" cap="flat" cmpd="sng">
            <a:solidFill>
              <a:schemeClr val="dk2"/>
            </a:solidFill>
            <a:prstDash val="solid"/>
            <a:round/>
            <a:headEnd type="none" w="sm" len="sm"/>
            <a:tailEnd type="none" w="sm" len="sm"/>
          </a:ln>
        </p:spPr>
      </p:cxnSp>
      <p:sp>
        <p:nvSpPr>
          <p:cNvPr id="4" name="Footer Placeholder 1">
            <a:extLst>
              <a:ext uri="{FF2B5EF4-FFF2-40B4-BE49-F238E27FC236}">
                <a16:creationId xmlns:a16="http://schemas.microsoft.com/office/drawing/2014/main" id="{A42B2149-588C-1C64-15DC-6AA38F2121C9}"/>
              </a:ext>
            </a:extLst>
          </p:cNvPr>
          <p:cNvSpPr>
            <a:spLocks noGrp="1"/>
          </p:cNvSpPr>
          <p:nvPr>
            <p:ph type="ftr" sz="quarter" idx="3"/>
          </p:nvPr>
        </p:nvSpPr>
        <p:spPr>
          <a:xfrm>
            <a:off x="1066800" y="6497441"/>
            <a:ext cx="8814816" cy="161583"/>
          </a:xfrm>
        </p:spPr>
        <p:txBody>
          <a:bodyPr/>
          <a:lstStyle/>
          <a:p>
            <a:r>
              <a:rPr lang="en-GB"/>
              <a:t>Proposal for Global Payments Prague Shared Service Center Transformation</a:t>
            </a:r>
            <a:endParaRPr lang="en-US" dirty="0"/>
          </a:p>
        </p:txBody>
      </p:sp>
      <p:sp>
        <p:nvSpPr>
          <p:cNvPr id="5" name="Slide Number Placeholder 2">
            <a:extLst>
              <a:ext uri="{FF2B5EF4-FFF2-40B4-BE49-F238E27FC236}">
                <a16:creationId xmlns:a16="http://schemas.microsoft.com/office/drawing/2014/main" id="{5169C893-0D61-8622-DF56-2D173BEC3EB0}"/>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351"/>
        <p:cNvGrpSpPr/>
        <p:nvPr/>
      </p:nvGrpSpPr>
      <p:grpSpPr>
        <a:xfrm>
          <a:off x="0" y="0"/>
          <a:ext cx="0" cy="0"/>
          <a:chOff x="0" y="0"/>
          <a:chExt cx="0" cy="0"/>
        </a:xfrm>
      </p:grpSpPr>
      <p:sp>
        <p:nvSpPr>
          <p:cNvPr id="2352" name="Google Shape;2352;g31dcd263fd1_0_3690"/>
          <p:cNvSpPr txBox="1">
            <a:spLocks noGrp="1"/>
          </p:cNvSpPr>
          <p:nvPr>
            <p:ph type="title"/>
          </p:nvPr>
        </p:nvSpPr>
        <p:spPr>
          <a:xfrm>
            <a:off x="402335" y="402336"/>
            <a:ext cx="11399691" cy="915289"/>
          </a:xfrm>
          <a:noFill/>
          <a:ln>
            <a:noFill/>
          </a:ln>
        </p:spPr>
        <p:txBody>
          <a:bodyPr spcFirstLastPara="1" wrap="square" lIns="0" tIns="0" rIns="0" bIns="0" anchor="t" anchorCtr="0">
            <a:spAutoFit/>
          </a:bodyPr>
          <a:lstStyle/>
          <a:p>
            <a:r>
              <a:rPr lang="en-US" dirty="0"/>
              <a:t>References</a:t>
            </a:r>
            <a:br>
              <a:rPr lang="en-US" dirty="0"/>
            </a:br>
            <a:endParaRPr lang="en-US" dirty="0"/>
          </a:p>
        </p:txBody>
      </p:sp>
      <p:sp>
        <p:nvSpPr>
          <p:cNvPr id="3" name="Google Shape;486;p66">
            <a:extLst>
              <a:ext uri="{FF2B5EF4-FFF2-40B4-BE49-F238E27FC236}">
                <a16:creationId xmlns:a16="http://schemas.microsoft.com/office/drawing/2014/main" id="{1A6949BA-7A0C-C3D7-D5BF-4BF0048F0B1A}"/>
              </a:ext>
            </a:extLst>
          </p:cNvPr>
          <p:cNvSpPr/>
          <p:nvPr/>
        </p:nvSpPr>
        <p:spPr>
          <a:xfrm>
            <a:off x="409632" y="890057"/>
            <a:ext cx="10470094" cy="483633"/>
          </a:xfrm>
          <a:prstGeom prst="rect">
            <a:avLst/>
          </a:prstGeom>
          <a:noFill/>
          <a:ln>
            <a:noFill/>
          </a:ln>
        </p:spPr>
        <p:txBody>
          <a:bodyPr spcFirstLastPara="1" wrap="square" lIns="0" tIns="0" rIns="91425" bIns="45700" anchor="t" anchorCtr="0">
            <a:noAutofit/>
          </a:bodyPr>
          <a:lstStyle/>
          <a:p>
            <a:pPr>
              <a:buSzPts val="2000"/>
            </a:pPr>
            <a:r>
              <a:rPr lang="en-GB" sz="2000" b="1" dirty="0">
                <a:solidFill>
                  <a:schemeClr val="dk1"/>
                </a:solidFill>
                <a:latin typeface="Arial" panose="020B0604020202020204" pitchFamily="34" charset="0"/>
                <a:cs typeface="Arial" panose="020B0604020202020204" pitchFamily="34" charset="0"/>
              </a:rPr>
              <a:t>Selected accounting and tax compliance projects</a:t>
            </a:r>
            <a:endParaRPr lang="en-GB" sz="2000" b="1" i="0" u="none" strike="noStrike" cap="none" dirty="0">
              <a:solidFill>
                <a:schemeClr val="dk1"/>
              </a:solidFill>
              <a:latin typeface="Arial" panose="020B0604020202020204" pitchFamily="34" charset="0"/>
              <a:cs typeface="Arial" panose="020B0604020202020204" pitchFamily="34" charset="0"/>
            </a:endParaRPr>
          </a:p>
        </p:txBody>
      </p:sp>
      <p:sp>
        <p:nvSpPr>
          <p:cNvPr id="4" name="Google Shape;2363;g31dcd263fd1_0_3690">
            <a:extLst>
              <a:ext uri="{FF2B5EF4-FFF2-40B4-BE49-F238E27FC236}">
                <a16:creationId xmlns:a16="http://schemas.microsoft.com/office/drawing/2014/main" id="{83E42705-377A-661E-701B-A2640BA62443}"/>
              </a:ext>
            </a:extLst>
          </p:cNvPr>
          <p:cNvSpPr/>
          <p:nvPr/>
        </p:nvSpPr>
        <p:spPr>
          <a:xfrm>
            <a:off x="399019" y="4765567"/>
            <a:ext cx="5616000" cy="1399706"/>
          </a:xfrm>
          <a:custGeom>
            <a:avLst/>
            <a:gdLst/>
            <a:ahLst/>
            <a:cxnLst/>
            <a:rect l="l" t="t" r="r" b="b"/>
            <a:pathLst>
              <a:path w="1864868" h="2297049" extrusionOk="0">
                <a:moveTo>
                  <a:pt x="3302" y="2297048"/>
                </a:moveTo>
                <a:lnTo>
                  <a:pt x="0" y="2294254"/>
                </a:lnTo>
                <a:lnTo>
                  <a:pt x="1864868" y="2294254"/>
                </a:lnTo>
                <a:lnTo>
                  <a:pt x="1861565" y="2297048"/>
                </a:lnTo>
                <a:lnTo>
                  <a:pt x="1861565" y="0"/>
                </a:lnTo>
                <a:lnTo>
                  <a:pt x="1864868" y="2920"/>
                </a:lnTo>
                <a:lnTo>
                  <a:pt x="0" y="2920"/>
                </a:lnTo>
                <a:lnTo>
                  <a:pt x="3302" y="0"/>
                </a:lnTo>
                <a:lnTo>
                  <a:pt x="3302" y="2297048"/>
                </a:lnTo>
                <a:close/>
              </a:path>
            </a:pathLst>
          </a:custGeom>
          <a:solidFill>
            <a:srgbClr val="FFF5ED"/>
          </a:solidFill>
          <a:ln w="9525" cap="flat" cmpd="sng">
            <a:noFill/>
            <a:prstDash val="solid"/>
            <a:round/>
            <a:headEnd type="none" w="sm" len="sm"/>
            <a:tailEnd type="none" w="sm" len="sm"/>
          </a:ln>
        </p:spPr>
        <p:txBody>
          <a:bodyPr spcFirstLastPara="1" wrap="square" lIns="144000" tIns="144000" rIns="144000" bIns="144000" anchor="t" anchorCtr="0">
            <a:noAutofit/>
          </a:bodyPr>
          <a:lstStyle/>
          <a:p>
            <a:pPr>
              <a:spcAft>
                <a:spcPts val="1200"/>
              </a:spcAft>
            </a:pPr>
            <a:r>
              <a:rPr lang="en-US" b="1" dirty="0">
                <a:latin typeface="Arial" panose="020B0604020202020204" pitchFamily="34" charset="0"/>
                <a:cs typeface="Arial" panose="020B0604020202020204" pitchFamily="34" charset="0"/>
              </a:rPr>
              <a:t>Large online retail company – SSC O2C and P2P </a:t>
            </a:r>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model setup</a:t>
            </a:r>
          </a:p>
          <a:p>
            <a:pPr>
              <a:lnSpc>
                <a:spcPct val="125000"/>
              </a:lnSpc>
              <a:spcAft>
                <a:spcPts val="1200"/>
              </a:spcAft>
            </a:pPr>
            <a:r>
              <a:rPr lang="en-US" sz="1200" dirty="0">
                <a:latin typeface="Arial" panose="020B0604020202020204" pitchFamily="34" charset="0"/>
                <a:cs typeface="Arial" panose="020B0604020202020204" pitchFamily="34" charset="0"/>
              </a:rPr>
              <a:t>Setting up and continuously improving the AR, AP, CashApp, Billing and Treasury services</a:t>
            </a:r>
          </a:p>
        </p:txBody>
      </p:sp>
      <p:sp>
        <p:nvSpPr>
          <p:cNvPr id="5" name="Google Shape;2363;g31dcd263fd1_0_3690">
            <a:extLst>
              <a:ext uri="{FF2B5EF4-FFF2-40B4-BE49-F238E27FC236}">
                <a16:creationId xmlns:a16="http://schemas.microsoft.com/office/drawing/2014/main" id="{F4605828-5573-570F-A28D-6FB87C40FB65}"/>
              </a:ext>
            </a:extLst>
          </p:cNvPr>
          <p:cNvSpPr/>
          <p:nvPr/>
        </p:nvSpPr>
        <p:spPr>
          <a:xfrm>
            <a:off x="6186026" y="4765566"/>
            <a:ext cx="5616000" cy="1399707"/>
          </a:xfrm>
          <a:custGeom>
            <a:avLst/>
            <a:gdLst/>
            <a:ahLst/>
            <a:cxnLst/>
            <a:rect l="l" t="t" r="r" b="b"/>
            <a:pathLst>
              <a:path w="1864868" h="2297049" extrusionOk="0">
                <a:moveTo>
                  <a:pt x="3302" y="2297048"/>
                </a:moveTo>
                <a:lnTo>
                  <a:pt x="0" y="2294254"/>
                </a:lnTo>
                <a:lnTo>
                  <a:pt x="1864868" y="2294254"/>
                </a:lnTo>
                <a:lnTo>
                  <a:pt x="1861565" y="2297048"/>
                </a:lnTo>
                <a:lnTo>
                  <a:pt x="1861565" y="0"/>
                </a:lnTo>
                <a:lnTo>
                  <a:pt x="1864868" y="2920"/>
                </a:lnTo>
                <a:lnTo>
                  <a:pt x="0" y="2920"/>
                </a:lnTo>
                <a:lnTo>
                  <a:pt x="3302" y="0"/>
                </a:lnTo>
                <a:lnTo>
                  <a:pt x="3302" y="2297048"/>
                </a:lnTo>
                <a:close/>
              </a:path>
            </a:pathLst>
          </a:custGeom>
          <a:solidFill>
            <a:srgbClr val="FFF5ED"/>
          </a:solidFill>
          <a:ln w="9525" cap="flat" cmpd="sng">
            <a:noFill/>
            <a:prstDash val="solid"/>
            <a:round/>
            <a:headEnd type="none" w="sm" len="sm"/>
            <a:tailEnd type="none" w="sm" len="sm"/>
          </a:ln>
        </p:spPr>
        <p:txBody>
          <a:bodyPr spcFirstLastPara="1" wrap="square" lIns="144000" tIns="144000" rIns="144000" bIns="144000" anchor="t" anchorCtr="0">
            <a:noAutofit/>
          </a:bodyPr>
          <a:lstStyle/>
          <a:p>
            <a:pPr>
              <a:spcAft>
                <a:spcPts val="1200"/>
              </a:spcAft>
            </a:pPr>
            <a:r>
              <a:rPr lang="en-US" b="1" dirty="0">
                <a:latin typeface="Arial" panose="020B0604020202020204" pitchFamily="34" charset="0"/>
                <a:cs typeface="Arial" panose="020B0604020202020204" pitchFamily="34" charset="0"/>
              </a:rPr>
              <a:t>Cloud services provider – legal entity setup</a:t>
            </a:r>
            <a:endParaRPr lang="en-US" sz="1100" b="1" dirty="0">
              <a:latin typeface="Arial" panose="020B0604020202020204" pitchFamily="34" charset="0"/>
              <a:cs typeface="Arial" panose="020B0604020202020204" pitchFamily="34" charset="0"/>
            </a:endParaRPr>
          </a:p>
          <a:p>
            <a:pPr>
              <a:lnSpc>
                <a:spcPct val="125000"/>
              </a:lnSpc>
              <a:spcAft>
                <a:spcPts val="600"/>
              </a:spcAft>
            </a:pPr>
            <a:r>
              <a:rPr lang="en-US" sz="1200" dirty="0">
                <a:latin typeface="Arial" panose="020B0604020202020204" pitchFamily="34" charset="0"/>
                <a:cs typeface="Arial" panose="020B0604020202020204" pitchFamily="34" charset="0"/>
              </a:rPr>
              <a:t>Setting up billing and customer relationship service operation for EMEA region.</a:t>
            </a:r>
            <a:endParaRPr lang="en-US" sz="12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5305C5F-8A41-C077-62B3-283A3336AF3B}"/>
              </a:ext>
            </a:extLst>
          </p:cNvPr>
          <p:cNvSpPr txBox="1"/>
          <p:nvPr/>
        </p:nvSpPr>
        <p:spPr>
          <a:xfrm>
            <a:off x="8144466" y="1662298"/>
            <a:ext cx="3657560" cy="2923557"/>
          </a:xfrm>
          <a:prstGeom prst="rect">
            <a:avLst/>
          </a:prstGeom>
          <a:solidFill>
            <a:srgbClr val="FFF5ED"/>
          </a:solidFill>
        </p:spPr>
        <p:txBody>
          <a:bodyPr wrap="square" lIns="144000" tIns="144000" rIns="144000" bIns="144000">
            <a:noAutofit/>
          </a:bodyPr>
          <a:lstStyle/>
          <a:p>
            <a:pPr>
              <a:spcAft>
                <a:spcPts val="1200"/>
              </a:spcAft>
            </a:pPr>
            <a:r>
              <a:rPr lang="en-US" b="1" dirty="0">
                <a:latin typeface="Arial" panose="020B0604020202020204" pitchFamily="34" charset="0"/>
                <a:cs typeface="Arial" panose="020B0604020202020204" pitchFamily="34" charset="0"/>
              </a:rPr>
              <a:t>PwC CEE IFS SSC Bratislava Managed Services</a:t>
            </a:r>
          </a:p>
          <a:p>
            <a:pPr marL="171450" indent="-171450" defTabSz="1219170">
              <a:lnSpc>
                <a:spcPct val="125000"/>
              </a:lnSpc>
              <a:spcAft>
                <a:spcPts val="6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Managed services for 15 countries in the PwC network</a:t>
            </a:r>
          </a:p>
          <a:p>
            <a:pPr marL="171450" indent="-171450" fontAlgn="base">
              <a:lnSpc>
                <a:spcPct val="125000"/>
              </a:lnSpc>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Finance functions O2C, P2P, R2R, Project management, Data quality​</a:t>
            </a:r>
          </a:p>
          <a:p>
            <a:pPr marL="171450" indent="-171450" fontAlgn="base">
              <a:lnSpc>
                <a:spcPct val="125000"/>
              </a:lnSpc>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Information Technology​</a:t>
            </a:r>
          </a:p>
          <a:p>
            <a:pPr marL="171450" indent="-171450" fontAlgn="base">
              <a:lnSpc>
                <a:spcPct val="125000"/>
              </a:lnSpc>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Personal assistance​</a:t>
            </a:r>
          </a:p>
          <a:p>
            <a:pPr marL="171450" indent="-171450" fontAlgn="base">
              <a:lnSpc>
                <a:spcPct val="125000"/>
              </a:lnSpc>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Risk Management​, MCBD​, Human Capital</a:t>
            </a:r>
            <a:endParaRPr lang="sk-SK" sz="12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7736F08-3FA9-5606-FFCF-6A6776AA1674}"/>
              </a:ext>
            </a:extLst>
          </p:cNvPr>
          <p:cNvSpPr txBox="1"/>
          <p:nvPr/>
        </p:nvSpPr>
        <p:spPr>
          <a:xfrm>
            <a:off x="4279184" y="1662298"/>
            <a:ext cx="3657560" cy="2923557"/>
          </a:xfrm>
          <a:prstGeom prst="rect">
            <a:avLst/>
          </a:prstGeom>
          <a:solidFill>
            <a:srgbClr val="FFF5ED"/>
          </a:solidFill>
        </p:spPr>
        <p:txBody>
          <a:bodyPr wrap="square" lIns="144000" tIns="144000" rIns="144000" bIns="144000" anchor="t">
            <a:noAutofit/>
          </a:bodyPr>
          <a:lstStyle/>
          <a:p>
            <a:pPr>
              <a:spcAft>
                <a:spcPts val="1200"/>
              </a:spcAft>
            </a:pPr>
            <a:r>
              <a:rPr lang="en-US" b="1" dirty="0">
                <a:solidFill>
                  <a:schemeClr val="tx1"/>
                </a:solidFill>
                <a:latin typeface="Arial" panose="020B0604020202020204" pitchFamily="34" charset="0"/>
                <a:cs typeface="Arial" panose="020B0604020202020204" pitchFamily="34" charset="0"/>
              </a:rPr>
              <a:t>Savencia Process Improvement </a:t>
            </a:r>
            <a:br>
              <a:rPr lang="en-US" b="1" dirty="0">
                <a:solidFill>
                  <a:schemeClr val="tx1"/>
                </a:solidFill>
                <a:latin typeface="Arial" panose="020B0604020202020204" pitchFamily="34" charset="0"/>
                <a:cs typeface="Arial" panose="020B0604020202020204" pitchFamily="34" charset="0"/>
              </a:rPr>
            </a:br>
            <a:r>
              <a:rPr lang="en-US" b="1" dirty="0">
                <a:solidFill>
                  <a:schemeClr val="tx1"/>
                </a:solidFill>
                <a:latin typeface="Arial" panose="020B0604020202020204" pitchFamily="34" charset="0"/>
                <a:cs typeface="Arial" panose="020B0604020202020204" pitchFamily="34" charset="0"/>
              </a:rPr>
              <a:t>&amp; Audit Project Management</a:t>
            </a:r>
          </a:p>
          <a:p>
            <a:pPr marL="171450" indent="-171450" defTabSz="1219170">
              <a:lnSpc>
                <a:spcPct val="125000"/>
              </a:lnSpc>
              <a:spcAft>
                <a:spcPts val="600"/>
              </a:spcAft>
              <a:buSzPct val="100000"/>
              <a:buChar char="•"/>
            </a:pPr>
            <a:r>
              <a:rPr lang="en-US" sz="1200" dirty="0">
                <a:solidFill>
                  <a:schemeClr val="tx1"/>
                </a:solidFill>
                <a:latin typeface="Arial" panose="020B0604020202020204" pitchFamily="34" charset="0"/>
                <a:cs typeface="Arial" panose="020B0604020202020204" pitchFamily="34" charset="0"/>
              </a:rPr>
              <a:t>Implementation of Lean principles to foster </a:t>
            </a:r>
            <a:br>
              <a:rPr lang="en-US" sz="1200" dirty="0">
                <a:solidFill>
                  <a:schemeClr val="tx1"/>
                </a:solidFill>
                <a:latin typeface="Arial" panose="020B0604020202020204" pitchFamily="34" charset="0"/>
                <a:cs typeface="Arial" panose="020B0604020202020204" pitchFamily="34" charset="0"/>
              </a:rPr>
            </a:br>
            <a:r>
              <a:rPr lang="en-US" sz="1200" dirty="0">
                <a:solidFill>
                  <a:schemeClr val="tx1"/>
                </a:solidFill>
                <a:latin typeface="Arial" panose="020B0604020202020204" pitchFamily="34" charset="0"/>
                <a:cs typeface="Arial" panose="020B0604020202020204" pitchFamily="34" charset="0"/>
              </a:rPr>
              <a:t>a culture of continuous improvement</a:t>
            </a:r>
          </a:p>
          <a:p>
            <a:pPr marL="171450" indent="-171450" defTabSz="1219170">
              <a:lnSpc>
                <a:spcPct val="125000"/>
              </a:lnSpc>
              <a:spcAft>
                <a:spcPts val="600"/>
              </a:spcAft>
              <a:buSzPct val="100000"/>
              <a:buChar char="•"/>
            </a:pPr>
            <a:r>
              <a:rPr lang="en-US" sz="1200" dirty="0">
                <a:solidFill>
                  <a:schemeClr val="tx1"/>
                </a:solidFill>
                <a:latin typeface="Arial" panose="020B0604020202020204" pitchFamily="34" charset="0"/>
                <a:cs typeface="Arial" panose="020B0604020202020204" pitchFamily="34" charset="0"/>
              </a:rPr>
              <a:t>Efficiency and performance enhancement through innovative workflows and full utilization of individual potential</a:t>
            </a:r>
          </a:p>
          <a:p>
            <a:pPr marL="171450" indent="-171450" defTabSz="1219170">
              <a:lnSpc>
                <a:spcPct val="125000"/>
              </a:lnSpc>
              <a:spcAft>
                <a:spcPts val="600"/>
              </a:spcAft>
              <a:buSzPct val="100000"/>
              <a:buChar char="•"/>
            </a:pPr>
            <a:r>
              <a:rPr lang="en-US" sz="1200" dirty="0">
                <a:solidFill>
                  <a:schemeClr val="tx1"/>
                </a:solidFill>
                <a:latin typeface="Arial" panose="020B0604020202020204" pitchFamily="34" charset="0"/>
                <a:cs typeface="Arial" panose="020B0604020202020204" pitchFamily="34" charset="0"/>
              </a:rPr>
              <a:t>Interim project management with expertise in SSC audit processes and communication with external auditors</a:t>
            </a:r>
            <a:endParaRPr lang="sk-SK" sz="1200"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811842F-319C-3F08-FF85-5DC41F0ED839}"/>
              </a:ext>
            </a:extLst>
          </p:cNvPr>
          <p:cNvSpPr txBox="1"/>
          <p:nvPr/>
        </p:nvSpPr>
        <p:spPr>
          <a:xfrm>
            <a:off x="413902" y="1662298"/>
            <a:ext cx="3657560" cy="2923557"/>
          </a:xfrm>
          <a:prstGeom prst="rect">
            <a:avLst/>
          </a:prstGeom>
          <a:solidFill>
            <a:srgbClr val="FFF5ED"/>
          </a:solidFill>
        </p:spPr>
        <p:txBody>
          <a:bodyPr wrap="square" lIns="144000" tIns="144000" rIns="144000" bIns="144000">
            <a:noAutofit/>
          </a:bodyPr>
          <a:lstStyle/>
          <a:p>
            <a:pPr defTabSz="1219170">
              <a:spcAft>
                <a:spcPts val="1200"/>
              </a:spcAft>
              <a:buSzPts val="600"/>
            </a:pPr>
            <a:r>
              <a:rPr lang="en-US" b="1" dirty="0">
                <a:latin typeface="Arial" panose="020B0604020202020204" pitchFamily="34" charset="0"/>
                <a:cs typeface="Arial" panose="020B0604020202020204" pitchFamily="34" charset="0"/>
              </a:rPr>
              <a:t>Cetin Networks Finance Business Process Outsourcing</a:t>
            </a:r>
          </a:p>
          <a:p>
            <a:pPr marL="171450" indent="-171450" defTabSz="1219170">
              <a:lnSpc>
                <a:spcPct val="125000"/>
              </a:lnSpc>
              <a:spcAft>
                <a:spcPts val="6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Providing key strategic financial and accounting services</a:t>
            </a:r>
          </a:p>
          <a:p>
            <a:pPr marL="171450" indent="-171450" defTabSz="1219170">
              <a:lnSpc>
                <a:spcPct val="125000"/>
              </a:lnSpc>
              <a:spcAft>
                <a:spcPts val="6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Acting as an SSC for the client</a:t>
            </a:r>
          </a:p>
          <a:p>
            <a:pPr marL="171450" indent="-171450" fontAlgn="base">
              <a:lnSpc>
                <a:spcPct val="125000"/>
              </a:lnSpc>
              <a:spcAft>
                <a:spcPts val="6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Supporting all transactional process within P2P, C2C and R2R​</a:t>
            </a:r>
          </a:p>
          <a:p>
            <a:pPr marL="171450" indent="-171450" fontAlgn="base">
              <a:lnSpc>
                <a:spcPct val="125000"/>
              </a:lnSpc>
              <a:spcAft>
                <a:spcPts val="6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Assistance on IFRS 16 process​</a:t>
            </a:r>
          </a:p>
          <a:p>
            <a:pPr marL="171450" indent="-171450" fontAlgn="base">
              <a:lnSpc>
                <a:spcPct val="125000"/>
              </a:lnSpc>
              <a:spcAft>
                <a:spcPts val="600"/>
              </a:spcAft>
              <a:buSzPct val="100000"/>
              <a:buFont typeface="Arial" panose="020B0604020202020204" pitchFamily="34" charset="0"/>
              <a:buChar char="•"/>
            </a:pPr>
            <a:r>
              <a:rPr lang="en-US" sz="1200" dirty="0">
                <a:latin typeface="Arial" panose="020B0604020202020204" pitchFamily="34" charset="0"/>
                <a:cs typeface="Arial" panose="020B0604020202020204" pitchFamily="34" charset="0"/>
              </a:rPr>
              <a:t>SAP update supervision​</a:t>
            </a:r>
            <a:endParaRPr lang="en-US" sz="1200" b="1" dirty="0">
              <a:latin typeface="Arial" panose="020B0604020202020204" pitchFamily="34" charset="0"/>
              <a:cs typeface="Arial" panose="020B0604020202020204" pitchFamily="34" charset="0"/>
            </a:endParaRPr>
          </a:p>
        </p:txBody>
      </p:sp>
      <p:sp>
        <p:nvSpPr>
          <p:cNvPr id="14" name="Footer Placeholder 1">
            <a:extLst>
              <a:ext uri="{FF2B5EF4-FFF2-40B4-BE49-F238E27FC236}">
                <a16:creationId xmlns:a16="http://schemas.microsoft.com/office/drawing/2014/main" id="{E641D8B2-C1C6-D7A7-07E7-2B55E1FDBD57}"/>
              </a:ext>
            </a:extLst>
          </p:cNvPr>
          <p:cNvSpPr>
            <a:spLocks noGrp="1"/>
          </p:cNvSpPr>
          <p:nvPr>
            <p:ph type="ftr" sz="quarter" idx="3"/>
          </p:nvPr>
        </p:nvSpPr>
        <p:spPr>
          <a:xfrm>
            <a:off x="1066800" y="6497441"/>
            <a:ext cx="8814816" cy="161583"/>
          </a:xfrm>
        </p:spPr>
        <p:txBody>
          <a:bodyPr/>
          <a:lstStyle/>
          <a:p>
            <a:r>
              <a:rPr lang="en-GB"/>
              <a:t>Proposal for Global Payments Prague Shared Service Center Transformation</a:t>
            </a:r>
            <a:endParaRPr lang="en-US" dirty="0"/>
          </a:p>
        </p:txBody>
      </p:sp>
      <p:sp>
        <p:nvSpPr>
          <p:cNvPr id="15" name="Slide Number Placeholder 2">
            <a:extLst>
              <a:ext uri="{FF2B5EF4-FFF2-40B4-BE49-F238E27FC236}">
                <a16:creationId xmlns:a16="http://schemas.microsoft.com/office/drawing/2014/main" id="{3269C588-03B1-3875-766B-A9AC84D3D795}"/>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2388A-29B8-0A5E-99B5-9560D133F806}"/>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E21C91B8-B38D-AA3E-FC05-076FC77D18C8}"/>
              </a:ext>
            </a:extLst>
          </p:cNvPr>
          <p:cNvSpPr>
            <a:spLocks noGrp="1"/>
          </p:cNvSpPr>
          <p:nvPr>
            <p:ph type="title"/>
          </p:nvPr>
        </p:nvSpPr>
        <p:spPr/>
        <p:txBody>
          <a:bodyPr/>
          <a:lstStyle/>
          <a:p>
            <a:r>
              <a:rPr lang="en-US" dirty="0"/>
              <a:t> </a:t>
            </a:r>
            <a:br>
              <a:rPr lang="en-US" dirty="0"/>
            </a:br>
            <a:r>
              <a:rPr lang="en-US" dirty="0"/>
              <a:t>Pricing Structure</a:t>
            </a:r>
            <a:endParaRPr lang="en-GB" noProof="0" dirty="0"/>
          </a:p>
        </p:txBody>
      </p:sp>
      <p:sp>
        <p:nvSpPr>
          <p:cNvPr id="2" name="Footer Placeholder 1">
            <a:extLst>
              <a:ext uri="{FF2B5EF4-FFF2-40B4-BE49-F238E27FC236}">
                <a16:creationId xmlns:a16="http://schemas.microsoft.com/office/drawing/2014/main" id="{09AB2108-7C25-5743-738E-0BFC639A442F}"/>
              </a:ext>
            </a:extLst>
          </p:cNvPr>
          <p:cNvSpPr>
            <a:spLocks noGrp="1"/>
          </p:cNvSpPr>
          <p:nvPr>
            <p:ph type="ftr" sz="quarter" idx="3"/>
          </p:nvPr>
        </p:nvSpPr>
        <p:spPr/>
        <p:txBody>
          <a:bodyPr/>
          <a:lstStyle/>
          <a:p>
            <a:r>
              <a:rPr lang="en-GB"/>
              <a:t>Proposal for Global Payments Prague Shared Service Center Transformation</a:t>
            </a:r>
            <a:endParaRPr lang="en-US" dirty="0"/>
          </a:p>
        </p:txBody>
      </p:sp>
      <p:sp>
        <p:nvSpPr>
          <p:cNvPr id="4" name="Slide Number Placeholder 2">
            <a:extLst>
              <a:ext uri="{FF2B5EF4-FFF2-40B4-BE49-F238E27FC236}">
                <a16:creationId xmlns:a16="http://schemas.microsoft.com/office/drawing/2014/main" id="{0800EFE7-A518-1C19-1D22-5825F659815D}"/>
              </a:ext>
            </a:extLst>
          </p:cNvPr>
          <p:cNvSpPr>
            <a:spLocks noGrp="1"/>
          </p:cNvSpPr>
          <p:nvPr>
            <p:ph type="sldNum" sz="quarter" idx="4"/>
          </p:nvPr>
        </p:nvSpPr>
        <p:spPr/>
        <p:txBody>
          <a:bodyPr/>
          <a:lstStyle/>
          <a:p>
            <a:fld id="{3E6AC032-1535-134B-A583-D5E1DDD0D167}" type="slidenum">
              <a:rPr lang="en-US" smtClean="0"/>
              <a:pPr/>
              <a:t>12</a:t>
            </a:fld>
            <a:endParaRPr lang="en-US" dirty="0"/>
          </a:p>
        </p:txBody>
      </p:sp>
    </p:spTree>
    <p:extLst>
      <p:ext uri="{BB962C8B-B14F-4D97-AF65-F5344CB8AC3E}">
        <p14:creationId xmlns:p14="http://schemas.microsoft.com/office/powerpoint/2010/main" val="3912283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80615-2F48-05BE-8079-A1A24E7EA985}"/>
              </a:ext>
            </a:extLst>
          </p:cNvPr>
          <p:cNvSpPr>
            <a:spLocks noGrp="1"/>
          </p:cNvSpPr>
          <p:nvPr>
            <p:ph type="title"/>
          </p:nvPr>
        </p:nvSpPr>
        <p:spPr>
          <a:xfrm>
            <a:off x="402335" y="402336"/>
            <a:ext cx="4360069" cy="915289"/>
          </a:xfrm>
        </p:spPr>
        <p:txBody>
          <a:bodyPr anchor="t">
            <a:normAutofit/>
          </a:bodyPr>
          <a:lstStyle/>
          <a:p>
            <a:r>
              <a:rPr lang="en-US" dirty="0"/>
              <a:t>Pricing</a:t>
            </a:r>
          </a:p>
          <a:p>
            <a:endParaRPr lang="en-US" dirty="0"/>
          </a:p>
        </p:txBody>
      </p:sp>
      <p:sp>
        <p:nvSpPr>
          <p:cNvPr id="4" name="Content Placeholder 3">
            <a:extLst>
              <a:ext uri="{FF2B5EF4-FFF2-40B4-BE49-F238E27FC236}">
                <a16:creationId xmlns:a16="http://schemas.microsoft.com/office/drawing/2014/main" id="{DE6A9813-C600-D150-B72C-DA590FB0722D}"/>
              </a:ext>
            </a:extLst>
          </p:cNvPr>
          <p:cNvSpPr>
            <a:spLocks noGrp="1"/>
          </p:cNvSpPr>
          <p:nvPr>
            <p:ph idx="4294967295"/>
          </p:nvPr>
        </p:nvSpPr>
        <p:spPr>
          <a:xfrm>
            <a:off x="402334" y="2332515"/>
            <a:ext cx="4596385" cy="3602194"/>
          </a:xfrm>
        </p:spPr>
        <p:txBody>
          <a:bodyPr vert="horz" lIns="0" tIns="0" rIns="0" bIns="0" rtlCol="0" anchor="t">
            <a:noAutofit/>
          </a:bodyPr>
          <a:lstStyle/>
          <a:p>
            <a:pPr>
              <a:lnSpc>
                <a:spcPct val="125000"/>
              </a:lnSpc>
              <a:buClr>
                <a:schemeClr val="accent1"/>
              </a:buClr>
            </a:pPr>
            <a:r>
              <a:rPr lang="en-GB" sz="1800" b="0" dirty="0">
                <a:latin typeface="Georgia" panose="02040502050405020303" pitchFamily="18" charset="0"/>
              </a:rPr>
              <a:t>Bringing clarity, accountability, and scale </a:t>
            </a:r>
            <a:br>
              <a:rPr lang="en-GB" sz="1800" b="0" dirty="0">
                <a:latin typeface="Georgia" panose="02040502050405020303" pitchFamily="18" charset="0"/>
              </a:rPr>
            </a:br>
            <a:r>
              <a:rPr lang="en-GB" sz="1800" b="0" dirty="0">
                <a:latin typeface="Georgia" panose="02040502050405020303" pitchFamily="18" charset="0"/>
              </a:rPr>
              <a:t>into one entity, we turn complexity into a competitive advantage for the whole group.</a:t>
            </a:r>
            <a:br>
              <a:rPr lang="en-GB" sz="1400" b="0" dirty="0">
                <a:latin typeface="Georgia" panose="02040502050405020303" pitchFamily="18" charset="0"/>
              </a:rPr>
            </a:br>
            <a:r>
              <a:rPr lang="en-GB" sz="1400" dirty="0"/>
              <a:t>Global Payments SSC Vision </a:t>
            </a:r>
          </a:p>
          <a:p>
            <a:pPr>
              <a:lnSpc>
                <a:spcPct val="125000"/>
              </a:lnSpc>
              <a:spcAft>
                <a:spcPts val="2400"/>
              </a:spcAft>
              <a:buClr>
                <a:schemeClr val="accent1"/>
              </a:buClr>
            </a:pPr>
            <a:r>
              <a:rPr lang="en-GB" sz="1400" b="0" dirty="0"/>
              <a:t>PwC is ready to make this vision operational.</a:t>
            </a:r>
          </a:p>
          <a:p>
            <a:pPr>
              <a:lnSpc>
                <a:spcPct val="125000"/>
              </a:lnSpc>
              <a:buClr>
                <a:schemeClr val="accent1"/>
              </a:buClr>
            </a:pPr>
            <a:r>
              <a:rPr lang="en-GB" sz="1400" b="0" dirty="0"/>
              <a:t>The timeline spans 25 weeks and assumes 110 days of engagement for, including Project Director, RACI &amp; Governance lead 3 PwC staff members (manager level) and Change &amp; comms lead (senior associate level).</a:t>
            </a:r>
          </a:p>
          <a:p>
            <a:pPr>
              <a:lnSpc>
                <a:spcPct val="125000"/>
              </a:lnSpc>
              <a:buClr>
                <a:schemeClr val="accent1"/>
              </a:buClr>
            </a:pPr>
            <a:r>
              <a:rPr lang="en-US" sz="1400" dirty="0"/>
              <a:t>The PwC fee is calculated at </a:t>
            </a:r>
            <a:r>
              <a:rPr lang="en-US" sz="1400" u="sng" dirty="0"/>
              <a:t>EUR 79,960</a:t>
            </a:r>
          </a:p>
        </p:txBody>
      </p:sp>
      <p:sp>
        <p:nvSpPr>
          <p:cNvPr id="9" name="Footer Placeholder 1">
            <a:extLst>
              <a:ext uri="{FF2B5EF4-FFF2-40B4-BE49-F238E27FC236}">
                <a16:creationId xmlns:a16="http://schemas.microsoft.com/office/drawing/2014/main" id="{7EEDAFEC-5EB2-D20B-3955-1E2A6D354017}"/>
              </a:ext>
            </a:extLst>
          </p:cNvPr>
          <p:cNvSpPr>
            <a:spLocks noGrp="1"/>
          </p:cNvSpPr>
          <p:nvPr>
            <p:ph type="ftr" sz="quarter" idx="3"/>
          </p:nvPr>
        </p:nvSpPr>
        <p:spPr>
          <a:xfrm>
            <a:off x="1066800" y="6497441"/>
            <a:ext cx="8814816" cy="161583"/>
          </a:xfrm>
        </p:spPr>
        <p:txBody>
          <a:bodyPr/>
          <a:lstStyle/>
          <a:p>
            <a:r>
              <a:rPr lang="en-GB"/>
              <a:t>Proposal for Global Payments Prague Shared Service Center Transformation</a:t>
            </a:r>
            <a:endParaRPr lang="en-US" dirty="0"/>
          </a:p>
        </p:txBody>
      </p:sp>
      <p:sp>
        <p:nvSpPr>
          <p:cNvPr id="10" name="Slide Number Placeholder 2">
            <a:extLst>
              <a:ext uri="{FF2B5EF4-FFF2-40B4-BE49-F238E27FC236}">
                <a16:creationId xmlns:a16="http://schemas.microsoft.com/office/drawing/2014/main" id="{AD2E4CB1-8C24-31B5-B972-F16BAE1FCF5D}"/>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13</a:t>
            </a:fld>
            <a:endParaRPr lang="en-US" dirty="0"/>
          </a:p>
        </p:txBody>
      </p:sp>
      <p:pic>
        <p:nvPicPr>
          <p:cNvPr id="11" name="Picture Placeholder 5">
            <a:extLst>
              <a:ext uri="{FF2B5EF4-FFF2-40B4-BE49-F238E27FC236}">
                <a16:creationId xmlns:a16="http://schemas.microsoft.com/office/drawing/2014/main" id="{5343F78E-356D-A75A-0F68-CB9DDFDC4AAC}"/>
              </a:ext>
            </a:extLst>
          </p:cNvPr>
          <p:cNvPicPr>
            <a:picLocks noChangeAspect="1"/>
          </p:cNvPicPr>
          <p:nvPr/>
        </p:nvPicPr>
        <p:blipFill>
          <a:blip r:embed="rId2"/>
          <a:srcRect l="10145" r="10145"/>
          <a:stretch/>
        </p:blipFill>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rgbClr val="EBEBEB"/>
          </a:solidFill>
        </p:spPr>
      </p:pic>
      <p:cxnSp>
        <p:nvCxnSpPr>
          <p:cNvPr id="5" name="Straight Connector 4">
            <a:extLst>
              <a:ext uri="{FF2B5EF4-FFF2-40B4-BE49-F238E27FC236}">
                <a16:creationId xmlns:a16="http://schemas.microsoft.com/office/drawing/2014/main" id="{0EFE2E63-98D7-7F9C-E293-D8C9E76CF788}"/>
              </a:ext>
            </a:extLst>
          </p:cNvPr>
          <p:cNvCxnSpPr>
            <a:cxnSpLocks/>
          </p:cNvCxnSpPr>
          <p:nvPr/>
        </p:nvCxnSpPr>
        <p:spPr>
          <a:xfrm>
            <a:off x="402335" y="4275436"/>
            <a:ext cx="4360069" cy="0"/>
          </a:xfrm>
          <a:prstGeom prst="line">
            <a:avLst/>
          </a:prstGeom>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3584E528-1D5A-C2EA-D0CB-6BD521E65840}"/>
              </a:ext>
              <a:ext uri="{C183D7F6-B498-43B3-948B-1728B52AA6E4}">
                <adec:decorative xmlns:adec="http://schemas.microsoft.com/office/drawing/2017/decorative" val="1"/>
              </a:ext>
            </a:extLst>
          </p:cNvPr>
          <p:cNvSpPr txBox="1"/>
          <p:nvPr/>
        </p:nvSpPr>
        <p:spPr>
          <a:xfrm>
            <a:off x="293430" y="1590753"/>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Tree>
    <p:extLst>
      <p:ext uri="{BB962C8B-B14F-4D97-AF65-F5344CB8AC3E}">
        <p14:creationId xmlns:p14="http://schemas.microsoft.com/office/powerpoint/2010/main" val="2656077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a:extLst>
            <a:ext uri="{FF2B5EF4-FFF2-40B4-BE49-F238E27FC236}">
              <a16:creationId xmlns:a16="http://schemas.microsoft.com/office/drawing/2014/main" id="{8B0A2E59-F098-22CC-1193-EB91FE12A722}"/>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DA433E4A-4B9C-35AE-BA24-E91735422FA2}"/>
              </a:ext>
            </a:extLst>
          </p:cNvPr>
          <p:cNvPicPr>
            <a:picLocks noGrp="1" noChangeAspect="1"/>
          </p:cNvPicPr>
          <p:nvPr>
            <p:ph type="pic" sz="quarter" idx="11"/>
          </p:nvPr>
        </p:nvPicPr>
        <p:blipFill>
          <a:blip r:embed="rId3"/>
          <a:srcRect l="56791" r="7493"/>
          <a:stretch>
            <a:fillRect/>
          </a:stretch>
        </p:blipFill>
        <p:spPr>
          <a:xfrm>
            <a:off x="-2" y="0"/>
            <a:ext cx="4676174" cy="6858000"/>
          </a:xfrm>
          <a:prstGeom prst="rect">
            <a:avLst/>
          </a:prstGeom>
          <a:solidFill>
            <a:srgbClr val="EBEBEB"/>
          </a:solidFill>
        </p:spPr>
      </p:pic>
      <p:sp>
        <p:nvSpPr>
          <p:cNvPr id="12" name="Title 1">
            <a:extLst>
              <a:ext uri="{FF2B5EF4-FFF2-40B4-BE49-F238E27FC236}">
                <a16:creationId xmlns:a16="http://schemas.microsoft.com/office/drawing/2014/main" id="{47493438-CB8A-DF04-777A-66D21DADF39B}"/>
              </a:ext>
            </a:extLst>
          </p:cNvPr>
          <p:cNvSpPr>
            <a:spLocks noGrp="1"/>
          </p:cNvSpPr>
          <p:nvPr>
            <p:ph type="title"/>
          </p:nvPr>
        </p:nvSpPr>
        <p:spPr/>
        <p:txBody>
          <a:bodyPr/>
          <a:lstStyle/>
          <a:p>
            <a:r>
              <a:rPr lang="en-GB" sz="2800" dirty="0">
                <a:latin typeface="Georgia" panose="02040502050405020303" pitchFamily="18" charset="0"/>
              </a:rPr>
              <a:t>Fees &amp; cost structure</a:t>
            </a:r>
            <a:endParaRPr lang="en-SK" sz="2800" dirty="0">
              <a:latin typeface="Georgia" panose="02040502050405020303" pitchFamily="18" charset="0"/>
            </a:endParaRPr>
          </a:p>
        </p:txBody>
      </p:sp>
      <p:sp>
        <p:nvSpPr>
          <p:cNvPr id="5" name="Footer Placeholder 1">
            <a:extLst>
              <a:ext uri="{FF2B5EF4-FFF2-40B4-BE49-F238E27FC236}">
                <a16:creationId xmlns:a16="http://schemas.microsoft.com/office/drawing/2014/main" id="{ABE9AC61-F53D-E5D5-2D8D-61B9D5CA9554}"/>
              </a:ext>
            </a:extLst>
          </p:cNvPr>
          <p:cNvSpPr>
            <a:spLocks noGrp="1"/>
          </p:cNvSpPr>
          <p:nvPr>
            <p:ph type="ftr" sz="quarter" idx="3"/>
          </p:nvPr>
        </p:nvSpPr>
        <p:spPr/>
        <p:txBody>
          <a:bodyPr/>
          <a:lstStyle/>
          <a:p>
            <a:r>
              <a:rPr lang="en-GB"/>
              <a:t>Proposal for Global Payments Prague Shared Service Center Transformation</a:t>
            </a:r>
            <a:endParaRPr lang="en-US" dirty="0"/>
          </a:p>
        </p:txBody>
      </p:sp>
      <p:sp>
        <p:nvSpPr>
          <p:cNvPr id="6" name="Slide Number Placeholder 2">
            <a:extLst>
              <a:ext uri="{FF2B5EF4-FFF2-40B4-BE49-F238E27FC236}">
                <a16:creationId xmlns:a16="http://schemas.microsoft.com/office/drawing/2014/main" id="{2FA64075-F8D0-FA89-49A8-095C8A0CE232}"/>
              </a:ext>
            </a:extLst>
          </p:cNvPr>
          <p:cNvSpPr>
            <a:spLocks noGrp="1"/>
          </p:cNvSpPr>
          <p:nvPr>
            <p:ph type="sldNum" sz="quarter" idx="4"/>
          </p:nvPr>
        </p:nvSpPr>
        <p:spPr/>
        <p:txBody>
          <a:bodyPr/>
          <a:lstStyle/>
          <a:p>
            <a:fld id="{3E6AC032-1535-134B-A583-D5E1DDD0D167}" type="slidenum">
              <a:rPr lang="en-US" smtClean="0"/>
              <a:pPr/>
              <a:t>14</a:t>
            </a:fld>
            <a:endParaRPr lang="en-US" dirty="0"/>
          </a:p>
        </p:txBody>
      </p:sp>
      <p:sp>
        <p:nvSpPr>
          <p:cNvPr id="2" name="TextBox 1">
            <a:extLst>
              <a:ext uri="{FF2B5EF4-FFF2-40B4-BE49-F238E27FC236}">
                <a16:creationId xmlns:a16="http://schemas.microsoft.com/office/drawing/2014/main" id="{AB12DD01-BB8B-97C5-77AB-723E7F47210B}"/>
              </a:ext>
            </a:extLst>
          </p:cNvPr>
          <p:cNvSpPr txBox="1"/>
          <p:nvPr/>
        </p:nvSpPr>
        <p:spPr>
          <a:xfrm>
            <a:off x="402335" y="1582994"/>
            <a:ext cx="914400" cy="914400"/>
          </a:xfrm>
          <a:prstGeom prst="rect">
            <a:avLst/>
          </a:prstGeom>
          <a:noFill/>
        </p:spPr>
        <p:txBody>
          <a:bodyPr wrap="none" lIns="0" tIns="0" rIns="0" bIns="0" rtlCol="0">
            <a:noAutofit/>
          </a:bodyPr>
          <a:lstStyle/>
          <a:p>
            <a:pPr marL="285750" indent="-285750" algn="l">
              <a:buFont typeface="Arial" panose="020B0604020202020204" pitchFamily="34" charset="0"/>
              <a:buChar char="•"/>
            </a:pPr>
            <a:endParaRPr lang="sk-SK" sz="1600" dirty="0">
              <a:latin typeface="+mj-lt"/>
            </a:endParaRPr>
          </a:p>
        </p:txBody>
      </p:sp>
      <p:sp>
        <p:nvSpPr>
          <p:cNvPr id="8" name="TextBox 7">
            <a:extLst>
              <a:ext uri="{FF2B5EF4-FFF2-40B4-BE49-F238E27FC236}">
                <a16:creationId xmlns:a16="http://schemas.microsoft.com/office/drawing/2014/main" id="{C119D91A-B690-A65A-2FDC-34D9EA1B5C75}"/>
              </a:ext>
            </a:extLst>
          </p:cNvPr>
          <p:cNvSpPr txBox="1"/>
          <p:nvPr/>
        </p:nvSpPr>
        <p:spPr>
          <a:xfrm>
            <a:off x="5078509" y="2637637"/>
            <a:ext cx="6723144" cy="3679930"/>
          </a:xfrm>
          <a:prstGeom prst="rect">
            <a:avLst/>
          </a:prstGeom>
          <a:noFill/>
        </p:spPr>
        <p:txBody>
          <a:bodyPr wrap="square" lIns="0" tIns="0" rIns="0" bIns="0" rtlCol="0" anchor="t">
            <a:noAutofit/>
          </a:bodyPr>
          <a:lstStyle/>
          <a:p>
            <a:pPr marL="273050" indent="-273050" rtl="0">
              <a:lnSpc>
                <a:spcPct val="114000"/>
              </a:lnSpc>
              <a:spcAft>
                <a:spcPts val="600"/>
              </a:spcAft>
              <a:buFont typeface="Arial" panose="020B0604020202020204" pitchFamily="34" charset="0"/>
              <a:buChar char="•"/>
            </a:pPr>
            <a:r>
              <a:rPr lang="en-US" sz="1200" dirty="0">
                <a:solidFill>
                  <a:srgbClr val="000000"/>
                </a:solidFill>
                <a:effectLst/>
                <a:latin typeface="+mn-lt"/>
              </a:rPr>
              <a:t>The pricing calculation </a:t>
            </a:r>
            <a:r>
              <a:rPr lang="en-US" sz="1200" dirty="0">
                <a:latin typeface="+mn-lt"/>
              </a:rPr>
              <a:t>assumes timely cooperation with Global Payments leadership and staff allowing to meet the timelines for “as-is” mapping, as well as “to-be” state review and approvals</a:t>
            </a:r>
            <a:endParaRPr lang="en-US" sz="1200" dirty="0">
              <a:solidFill>
                <a:srgbClr val="000000"/>
              </a:solidFill>
              <a:effectLst/>
              <a:latin typeface="+mn-lt"/>
            </a:endParaRPr>
          </a:p>
          <a:p>
            <a:pPr marL="273050" indent="-273050" rtl="0">
              <a:lnSpc>
                <a:spcPct val="114000"/>
              </a:lnSpc>
              <a:spcAft>
                <a:spcPts val="600"/>
              </a:spcAft>
              <a:buFont typeface="Arial" panose="020B0604020202020204" pitchFamily="34" charset="0"/>
              <a:buChar char="•"/>
            </a:pPr>
            <a:r>
              <a:rPr lang="en-US" sz="1200" dirty="0">
                <a:solidFill>
                  <a:srgbClr val="000000"/>
                </a:solidFill>
                <a:effectLst/>
                <a:latin typeface="+mn-lt"/>
              </a:rPr>
              <a:t>Access to Global Payments systems is considered highly restricted thus data and information needs to be sourced by PwC staff through Global Payments employees</a:t>
            </a:r>
          </a:p>
          <a:p>
            <a:pPr marL="273050" lvl="2" indent="-273050">
              <a:lnSpc>
                <a:spcPct val="114000"/>
              </a:lnSpc>
              <a:spcAft>
                <a:spcPts val="600"/>
              </a:spcAft>
              <a:buSzPts val="1200"/>
              <a:buFont typeface="Arial" panose="020B0604020202020204" pitchFamily="34" charset="0"/>
              <a:buChar char="•"/>
            </a:pPr>
            <a:r>
              <a:rPr lang="en-GB" sz="1200" dirty="0">
                <a:latin typeface="+mn-lt"/>
              </a:rPr>
              <a:t>All fees are in EUR, excluding VAT.</a:t>
            </a:r>
          </a:p>
          <a:p>
            <a:pPr marL="273050" indent="-273050">
              <a:lnSpc>
                <a:spcPct val="114000"/>
              </a:lnSpc>
              <a:spcAft>
                <a:spcPts val="600"/>
              </a:spcAft>
              <a:buSzPts val="1200"/>
              <a:buFont typeface="Arial" panose="020B0604020202020204" pitchFamily="34" charset="0"/>
              <a:buChar char="•"/>
            </a:pPr>
            <a:r>
              <a:rPr lang="en-GB" sz="1200" dirty="0">
                <a:latin typeface="+mn-lt"/>
              </a:rPr>
              <a:t>Out-of-pocket expenses, such as travel costs, couriers and fees payable to supervisory authorities, will be charged at cost.</a:t>
            </a:r>
          </a:p>
          <a:p>
            <a:pPr marL="273050" indent="-273050">
              <a:lnSpc>
                <a:spcPct val="114000"/>
              </a:lnSpc>
              <a:spcAft>
                <a:spcPts val="600"/>
              </a:spcAft>
              <a:buSzPts val="1200"/>
              <a:buFont typeface="Arial" panose="020B0604020202020204" pitchFamily="34" charset="0"/>
              <a:buChar char="•"/>
            </a:pPr>
            <a:r>
              <a:rPr lang="en-GB" sz="1200" dirty="0">
                <a:latin typeface="+mn-lt"/>
              </a:rPr>
              <a:t>Our fees are based on the assumption, that we will receive high quality data in a pre agreed format and in accordance with pre agreed timetables. </a:t>
            </a:r>
          </a:p>
          <a:p>
            <a:pPr marL="273050" indent="-273050">
              <a:lnSpc>
                <a:spcPct val="114000"/>
              </a:lnSpc>
              <a:spcAft>
                <a:spcPts val="600"/>
              </a:spcAft>
              <a:buSzPts val="1200"/>
              <a:buFont typeface="Arial" panose="020B0604020202020204" pitchFamily="34" charset="0"/>
              <a:buChar char="•"/>
            </a:pPr>
            <a:r>
              <a:rPr lang="en-GB" sz="1200" dirty="0">
                <a:latin typeface="+mn-lt"/>
              </a:rPr>
              <a:t>Fees are estimated for core services. We are happy to estimate fixed fee quotes for other optional and additional services or provide them on based on our hourly rates.</a:t>
            </a:r>
          </a:p>
        </p:txBody>
      </p:sp>
      <p:sp>
        <p:nvSpPr>
          <p:cNvPr id="3" name="Google Shape;486;p66">
            <a:extLst>
              <a:ext uri="{FF2B5EF4-FFF2-40B4-BE49-F238E27FC236}">
                <a16:creationId xmlns:a16="http://schemas.microsoft.com/office/drawing/2014/main" id="{6BCAD500-D874-C066-9680-A28C1700DFF0}"/>
              </a:ext>
            </a:extLst>
          </p:cNvPr>
          <p:cNvSpPr/>
          <p:nvPr/>
        </p:nvSpPr>
        <p:spPr>
          <a:xfrm>
            <a:off x="6524975" y="1613852"/>
            <a:ext cx="2534798" cy="531354"/>
          </a:xfrm>
          <a:prstGeom prst="rect">
            <a:avLst/>
          </a:prstGeom>
          <a:noFill/>
          <a:ln>
            <a:noFill/>
          </a:ln>
        </p:spPr>
        <p:txBody>
          <a:bodyPr spcFirstLastPara="1" wrap="square" lIns="0" tIns="0" rIns="91425" bIns="45700" anchor="t" anchorCtr="0">
            <a:noAutofit/>
          </a:bodyPr>
          <a:lstStyle/>
          <a:p>
            <a:pPr>
              <a:buSzPts val="2000"/>
            </a:pPr>
            <a:r>
              <a:rPr lang="en-GB" sz="1500" b="1" dirty="0">
                <a:solidFill>
                  <a:schemeClr val="dk1"/>
                </a:solidFill>
                <a:latin typeface="Arial" panose="020B0604020202020204" pitchFamily="34" charset="0"/>
                <a:cs typeface="Arial" panose="020B0604020202020204" pitchFamily="34" charset="0"/>
              </a:rPr>
              <a:t>Assumptions and staffing definitions</a:t>
            </a:r>
          </a:p>
        </p:txBody>
      </p:sp>
      <p:pic>
        <p:nvPicPr>
          <p:cNvPr id="17" name="Graphic 16">
            <a:extLst>
              <a:ext uri="{FF2B5EF4-FFF2-40B4-BE49-F238E27FC236}">
                <a16:creationId xmlns:a16="http://schemas.microsoft.com/office/drawing/2014/main" id="{5716C237-1038-C009-9EA9-CF734862C2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23163" y="1427009"/>
            <a:ext cx="914400" cy="914400"/>
          </a:xfrm>
          <a:prstGeom prst="rect">
            <a:avLst/>
          </a:prstGeom>
        </p:spPr>
      </p:pic>
      <p:cxnSp>
        <p:nvCxnSpPr>
          <p:cNvPr id="22" name="Straight Connector 21">
            <a:extLst>
              <a:ext uri="{FF2B5EF4-FFF2-40B4-BE49-F238E27FC236}">
                <a16:creationId xmlns:a16="http://schemas.microsoft.com/office/drawing/2014/main" id="{1E362EB3-E715-0CCB-2718-6F01EFFB1727}"/>
              </a:ext>
            </a:extLst>
          </p:cNvPr>
          <p:cNvCxnSpPr/>
          <p:nvPr/>
        </p:nvCxnSpPr>
        <p:spPr>
          <a:xfrm>
            <a:off x="6331779" y="1425080"/>
            <a:ext cx="0" cy="900000"/>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85374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BEE9E-056B-485D-E21E-009D5B7F4243}"/>
              </a:ext>
            </a:extLst>
          </p:cNvPr>
          <p:cNvSpPr>
            <a:spLocks noGrp="1"/>
          </p:cNvSpPr>
          <p:nvPr>
            <p:ph type="ctrTitle"/>
          </p:nvPr>
        </p:nvSpPr>
        <p:spPr/>
        <p:txBody>
          <a:bodyPr/>
          <a:lstStyle/>
          <a:p>
            <a:r>
              <a:rPr lang="en-SK" dirty="0"/>
              <a:t>Thank you</a:t>
            </a:r>
          </a:p>
        </p:txBody>
      </p:sp>
      <p:sp>
        <p:nvSpPr>
          <p:cNvPr id="3" name="Subtitle 2">
            <a:extLst>
              <a:ext uri="{FF2B5EF4-FFF2-40B4-BE49-F238E27FC236}">
                <a16:creationId xmlns:a16="http://schemas.microsoft.com/office/drawing/2014/main" id="{E08D8772-275B-E9F3-AB31-19FADE82594D}"/>
              </a:ext>
            </a:extLst>
          </p:cNvPr>
          <p:cNvSpPr>
            <a:spLocks noGrp="1"/>
          </p:cNvSpPr>
          <p:nvPr>
            <p:ph type="subTitle" idx="1"/>
          </p:nvPr>
        </p:nvSpPr>
        <p:spPr/>
        <p:txBody>
          <a:bodyPr/>
          <a:lstStyle/>
          <a:p>
            <a:pPr algn="l" rtl="0" fontAlgn="base">
              <a:buNone/>
            </a:pPr>
            <a:r>
              <a:rPr lang="en-GB" sz="1100" b="0" i="0" u="none" strike="noStrike" dirty="0">
                <a:solidFill>
                  <a:srgbClr val="000000"/>
                </a:solidFill>
                <a:effectLst/>
                <a:latin typeface="Arial" panose="020B0604020202020204" pitchFamily="34" charset="0"/>
              </a:rPr>
              <a:t>© 2026 PricewaterhouseCoopers. All rights reserved. </a:t>
            </a:r>
            <a:r>
              <a:rPr lang="en-US" sz="1100" b="0" i="0" u="none" strike="noStrike" dirty="0">
                <a:solidFill>
                  <a:srgbClr val="000000"/>
                </a:solidFill>
                <a:effectLst/>
                <a:latin typeface="Arial" panose="020B0604020202020204" pitchFamily="34" charset="0"/>
              </a:rPr>
              <a:t>In this document, “PwC” refers to the PwC network and/or one or more of its member firms, each of which is a separate legal entity. </a:t>
            </a:r>
            <a:r>
              <a:rPr lang="en-GB" sz="1100" b="0" i="0" dirty="0">
                <a:solidFill>
                  <a:srgbClr val="000000"/>
                </a:solidFill>
                <a:effectLst/>
                <a:latin typeface="Arial" panose="020B0604020202020204" pitchFamily="34" charset="0"/>
              </a:rPr>
              <a:t>​</a:t>
            </a:r>
            <a:endParaRPr lang="en-GB" b="0" i="0" dirty="0">
              <a:solidFill>
                <a:srgbClr val="000000"/>
              </a:solidFill>
              <a:effectLst/>
              <a:latin typeface="Segoe UI" panose="020B0502040204020203" pitchFamily="34" charset="0"/>
            </a:endParaRPr>
          </a:p>
          <a:p>
            <a:pPr algn="l" rtl="0" fontAlgn="base">
              <a:buNone/>
            </a:pPr>
            <a:r>
              <a:rPr lang="en-US" sz="1100" b="0" i="0" dirty="0">
                <a:solidFill>
                  <a:srgbClr val="000000"/>
                </a:solidFill>
                <a:effectLst/>
                <a:latin typeface="Arial" panose="020B0604020202020204" pitchFamily="34" charset="0"/>
              </a:rPr>
              <a:t>​</a:t>
            </a:r>
            <a:endParaRPr lang="en-US" b="0" i="0" dirty="0">
              <a:solidFill>
                <a:srgbClr val="000000"/>
              </a:solidFill>
              <a:effectLst/>
              <a:latin typeface="Segoe UI" panose="020B0502040204020203" pitchFamily="34" charset="0"/>
            </a:endParaRPr>
          </a:p>
          <a:p>
            <a:pPr algn="l" rtl="0" fontAlgn="base">
              <a:buNone/>
            </a:pPr>
            <a:r>
              <a:rPr lang="en-GB" sz="1100" b="0" i="0" u="none" strike="noStrike" dirty="0">
                <a:solidFill>
                  <a:srgbClr val="000000"/>
                </a:solidFill>
                <a:effectLst/>
                <a:latin typeface="Arial" panose="020B0604020202020204" pitchFamily="34" charset="0"/>
              </a:rPr>
              <a:t>This document is not a contract and please consider its content as strictly confidential. Further, please note that the provision of our services is subject to the Company's verification from the risk management and auditor independence perspective, as well as to the signing of an engagement letter for the provision of services. Thus, before we finalise all risk management steps, please consider this to be a non-binding proposal.</a:t>
            </a:r>
            <a:endParaRPr lang="en-SK" dirty="0"/>
          </a:p>
        </p:txBody>
      </p:sp>
    </p:spTree>
    <p:extLst>
      <p:ext uri="{BB962C8B-B14F-4D97-AF65-F5344CB8AC3E}">
        <p14:creationId xmlns:p14="http://schemas.microsoft.com/office/powerpoint/2010/main" val="92307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1EFE-83D9-221F-5675-63C6CBE15D8B}"/>
              </a:ext>
            </a:extLst>
          </p:cNvPr>
          <p:cNvSpPr>
            <a:spLocks noGrp="1"/>
          </p:cNvSpPr>
          <p:nvPr>
            <p:ph type="title"/>
          </p:nvPr>
        </p:nvSpPr>
        <p:spPr>
          <a:xfrm>
            <a:off x="402336" y="402336"/>
            <a:ext cx="4503876" cy="915289"/>
          </a:xfrm>
        </p:spPr>
        <p:txBody>
          <a:bodyPr/>
          <a:lstStyle/>
          <a:p>
            <a:r>
              <a:rPr lang="en-GB" dirty="0"/>
              <a:t>Our Approach: Six Integrated Workstreams</a:t>
            </a:r>
          </a:p>
        </p:txBody>
      </p:sp>
      <p:sp>
        <p:nvSpPr>
          <p:cNvPr id="3" name="Footer Placeholder 2">
            <a:extLst>
              <a:ext uri="{FF2B5EF4-FFF2-40B4-BE49-F238E27FC236}">
                <a16:creationId xmlns:a16="http://schemas.microsoft.com/office/drawing/2014/main" id="{4EE4A6DD-2DFA-27C9-457C-2D5F629E9774}"/>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538B251F-967C-9D0D-F2BE-F9B1C0C8E564}"/>
              </a:ext>
            </a:extLst>
          </p:cNvPr>
          <p:cNvSpPr>
            <a:spLocks noGrp="1"/>
          </p:cNvSpPr>
          <p:nvPr>
            <p:ph type="sldNum" sz="quarter" idx="4"/>
          </p:nvPr>
        </p:nvSpPr>
        <p:spPr/>
        <p:txBody>
          <a:bodyPr/>
          <a:lstStyle/>
          <a:p>
            <a:fld id="{3E6AC032-1535-134B-A583-D5E1DDD0D167}" type="slidenum">
              <a:rPr lang="en-US" smtClean="0"/>
              <a:pPr/>
              <a:t>16</a:t>
            </a:fld>
            <a:endParaRPr lang="en-US"/>
          </a:p>
        </p:txBody>
      </p:sp>
      <p:sp>
        <p:nvSpPr>
          <p:cNvPr id="5" name="Rectangle 4">
            <a:extLst>
              <a:ext uri="{FF2B5EF4-FFF2-40B4-BE49-F238E27FC236}">
                <a16:creationId xmlns:a16="http://schemas.microsoft.com/office/drawing/2014/main" id="{86D272CD-9CDE-FFD1-C579-9A96557E29AE}"/>
              </a:ext>
            </a:extLst>
          </p:cNvPr>
          <p:cNvSpPr/>
          <p:nvPr/>
        </p:nvSpPr>
        <p:spPr>
          <a:xfrm>
            <a:off x="5369039" y="386809"/>
            <a:ext cx="6501156" cy="5965399"/>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K"/>
          </a:p>
        </p:txBody>
      </p:sp>
      <p:grpSp>
        <p:nvGrpSpPr>
          <p:cNvPr id="6" name="Group 5">
            <a:extLst>
              <a:ext uri="{FF2B5EF4-FFF2-40B4-BE49-F238E27FC236}">
                <a16:creationId xmlns:a16="http://schemas.microsoft.com/office/drawing/2014/main" id="{709DD7EF-04EB-8E78-ADF5-0D1BD90E38F3}"/>
              </a:ext>
            </a:extLst>
          </p:cNvPr>
          <p:cNvGrpSpPr/>
          <p:nvPr/>
        </p:nvGrpSpPr>
        <p:grpSpPr>
          <a:xfrm>
            <a:off x="6173615" y="1477686"/>
            <a:ext cx="4892005" cy="4780339"/>
            <a:chOff x="5878062" y="1243627"/>
            <a:chExt cx="5010717" cy="4965242"/>
          </a:xfrm>
        </p:grpSpPr>
        <p:sp>
          <p:nvSpPr>
            <p:cNvPr id="7" name="Hexagon 6">
              <a:extLst>
                <a:ext uri="{FF2B5EF4-FFF2-40B4-BE49-F238E27FC236}">
                  <a16:creationId xmlns:a16="http://schemas.microsoft.com/office/drawing/2014/main" id="{C2428C22-7904-24AD-1DE2-DAD61DA7E075}"/>
                </a:ext>
              </a:extLst>
            </p:cNvPr>
            <p:cNvSpPr/>
            <p:nvPr/>
          </p:nvSpPr>
          <p:spPr>
            <a:xfrm rot="1782712">
              <a:off x="5994706" y="1569416"/>
              <a:ext cx="4885748" cy="4211850"/>
            </a:xfrm>
            <a:prstGeom prst="hexagon">
              <a:avLst>
                <a:gd name="adj" fmla="val 28719"/>
                <a:gd name="vf" fmla="val 115470"/>
              </a:avLst>
            </a:prstGeom>
            <a:solidFill>
              <a:schemeClr val="accent2"/>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8" name="Hexagon 7">
              <a:extLst>
                <a:ext uri="{FF2B5EF4-FFF2-40B4-BE49-F238E27FC236}">
                  <a16:creationId xmlns:a16="http://schemas.microsoft.com/office/drawing/2014/main" id="{F47528BD-5690-F9C3-E929-9934C4ADD183}"/>
                </a:ext>
              </a:extLst>
            </p:cNvPr>
            <p:cNvSpPr/>
            <p:nvPr/>
          </p:nvSpPr>
          <p:spPr>
            <a:xfrm rot="1782712">
              <a:off x="7383960" y="2810376"/>
              <a:ext cx="2006718" cy="1729930"/>
            </a:xfrm>
            <a:prstGeom prst="hexagon">
              <a:avLst>
                <a:gd name="adj" fmla="val 28719"/>
                <a:gd name="vf" fmla="val 115470"/>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9" name="Group 8">
              <a:extLst>
                <a:ext uri="{FF2B5EF4-FFF2-40B4-BE49-F238E27FC236}">
                  <a16:creationId xmlns:a16="http://schemas.microsoft.com/office/drawing/2014/main" id="{B82D543B-1B5B-463D-F56A-44FB853E8404}"/>
                </a:ext>
              </a:extLst>
            </p:cNvPr>
            <p:cNvGrpSpPr/>
            <p:nvPr/>
          </p:nvGrpSpPr>
          <p:grpSpPr>
            <a:xfrm>
              <a:off x="6299589" y="1702266"/>
              <a:ext cx="4299576" cy="4061422"/>
              <a:chOff x="3958009" y="1607259"/>
              <a:chExt cx="4299576" cy="4061422"/>
            </a:xfrm>
          </p:grpSpPr>
          <p:cxnSp>
            <p:nvCxnSpPr>
              <p:cNvPr id="24" name="Straight Connector 23">
                <a:extLst>
                  <a:ext uri="{FF2B5EF4-FFF2-40B4-BE49-F238E27FC236}">
                    <a16:creationId xmlns:a16="http://schemas.microsoft.com/office/drawing/2014/main" id="{01648E0B-1BC3-974B-7B21-64131B29E065}"/>
                  </a:ext>
                </a:extLst>
              </p:cNvPr>
              <p:cNvCxnSpPr>
                <a:cxnSpLocks/>
              </p:cNvCxnSpPr>
              <p:nvPr/>
            </p:nvCxnSpPr>
            <p:spPr>
              <a:xfrm>
                <a:off x="5179672" y="1607259"/>
                <a:ext cx="0" cy="2467030"/>
              </a:xfrm>
              <a:prstGeom prst="line">
                <a:avLst/>
              </a:prstGeom>
              <a:ln w="50800">
                <a:solidFill>
                  <a:srgbClr val="FFF5ED"/>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34B6FF35-35F4-B02F-D912-BB35D5665B81}"/>
                  </a:ext>
                </a:extLst>
              </p:cNvPr>
              <p:cNvGrpSpPr/>
              <p:nvPr/>
            </p:nvGrpSpPr>
            <p:grpSpPr>
              <a:xfrm>
                <a:off x="3958009" y="1771177"/>
                <a:ext cx="4299576" cy="3897504"/>
                <a:chOff x="3958009" y="1771177"/>
                <a:chExt cx="4299576" cy="3897504"/>
              </a:xfrm>
            </p:grpSpPr>
            <p:cxnSp>
              <p:nvCxnSpPr>
                <p:cNvPr id="26" name="Straight Connector 25">
                  <a:extLst>
                    <a:ext uri="{FF2B5EF4-FFF2-40B4-BE49-F238E27FC236}">
                      <a16:creationId xmlns:a16="http://schemas.microsoft.com/office/drawing/2014/main" id="{7BF80C9E-F455-4474-E142-C7D075342680}"/>
                    </a:ext>
                  </a:extLst>
                </p:cNvPr>
                <p:cNvCxnSpPr>
                  <a:cxnSpLocks/>
                </p:cNvCxnSpPr>
                <p:nvPr/>
              </p:nvCxnSpPr>
              <p:spPr>
                <a:xfrm flipH="1">
                  <a:off x="5903965" y="1771177"/>
                  <a:ext cx="1512973" cy="907418"/>
                </a:xfrm>
                <a:prstGeom prst="line">
                  <a:avLst/>
                </a:prstGeom>
                <a:ln w="50800">
                  <a:solidFill>
                    <a:srgbClr val="FFF5ED"/>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CCC5567-85C5-B6C4-59FC-04F4E42660CE}"/>
                    </a:ext>
                  </a:extLst>
                </p:cNvPr>
                <p:cNvCxnSpPr>
                  <a:cxnSpLocks/>
                </p:cNvCxnSpPr>
                <p:nvPr/>
              </p:nvCxnSpPr>
              <p:spPr>
                <a:xfrm>
                  <a:off x="6894872" y="3094606"/>
                  <a:ext cx="0" cy="2574075"/>
                </a:xfrm>
                <a:prstGeom prst="line">
                  <a:avLst/>
                </a:prstGeom>
                <a:ln w="50800">
                  <a:solidFill>
                    <a:srgbClr val="FFF5ED"/>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B84359F-FE1B-5075-8F26-397006FBFE21}"/>
                    </a:ext>
                  </a:extLst>
                </p:cNvPr>
                <p:cNvCxnSpPr>
                  <a:cxnSpLocks/>
                </p:cNvCxnSpPr>
                <p:nvPr/>
              </p:nvCxnSpPr>
              <p:spPr>
                <a:xfrm flipH="1" flipV="1">
                  <a:off x="3958009" y="3355157"/>
                  <a:ext cx="2087730" cy="1212558"/>
                </a:xfrm>
                <a:prstGeom prst="line">
                  <a:avLst/>
                </a:prstGeom>
                <a:ln w="50800">
                  <a:solidFill>
                    <a:srgbClr val="FFF5ED"/>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B7FED3B-97D0-3B4E-F945-6B33BD8F6996}"/>
                    </a:ext>
                  </a:extLst>
                </p:cNvPr>
                <p:cNvCxnSpPr>
                  <a:cxnSpLocks/>
                </p:cNvCxnSpPr>
                <p:nvPr/>
              </p:nvCxnSpPr>
              <p:spPr>
                <a:xfrm flipH="1">
                  <a:off x="4829719" y="4515213"/>
                  <a:ext cx="1292386" cy="796828"/>
                </a:xfrm>
                <a:prstGeom prst="line">
                  <a:avLst/>
                </a:prstGeom>
                <a:ln w="50800">
                  <a:solidFill>
                    <a:srgbClr val="FFF5ED"/>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C03953E-D662-EF34-7EC6-125230108781}"/>
                    </a:ext>
                  </a:extLst>
                </p:cNvPr>
                <p:cNvCxnSpPr>
                  <a:cxnSpLocks/>
                </p:cNvCxnSpPr>
                <p:nvPr/>
              </p:nvCxnSpPr>
              <p:spPr>
                <a:xfrm flipH="1" flipV="1">
                  <a:off x="6880318" y="3091206"/>
                  <a:ext cx="1377267" cy="799919"/>
                </a:xfrm>
                <a:prstGeom prst="line">
                  <a:avLst/>
                </a:prstGeom>
                <a:ln w="50800">
                  <a:solidFill>
                    <a:srgbClr val="FFF5ED"/>
                  </a:solidFill>
                </a:ln>
              </p:spPr>
              <p:style>
                <a:lnRef idx="2">
                  <a:schemeClr val="accent1"/>
                </a:lnRef>
                <a:fillRef idx="0">
                  <a:schemeClr val="accent1"/>
                </a:fillRef>
                <a:effectRef idx="1">
                  <a:schemeClr val="accent1"/>
                </a:effectRef>
                <a:fontRef idx="minor">
                  <a:schemeClr val="tx1"/>
                </a:fontRef>
              </p:style>
            </p:cxnSp>
          </p:grpSp>
        </p:grpSp>
        <p:sp>
          <p:nvSpPr>
            <p:cNvPr id="10" name="TextBox 9">
              <a:extLst>
                <a:ext uri="{FF2B5EF4-FFF2-40B4-BE49-F238E27FC236}">
                  <a16:creationId xmlns:a16="http://schemas.microsoft.com/office/drawing/2014/main" id="{831FC726-1D38-EC53-1581-6F29AD6C833E}"/>
                </a:ext>
              </a:extLst>
            </p:cNvPr>
            <p:cNvSpPr txBox="1"/>
            <p:nvPr/>
          </p:nvSpPr>
          <p:spPr>
            <a:xfrm>
              <a:off x="10663777" y="3596875"/>
              <a:ext cx="0" cy="0"/>
            </a:xfrm>
            <a:prstGeom prst="rect">
              <a:avLst/>
            </a:prstGeom>
            <a:noFill/>
          </p:spPr>
          <p:txBody>
            <a:bodyPr wrap="none" lIns="0" tIns="0" rIns="0" bIns="0" rtlCol="0">
              <a:noAutofit/>
            </a:bodyPr>
            <a:lstStyle/>
            <a:p>
              <a:pPr algn="l"/>
              <a:endParaRPr lang="en-US" dirty="0" err="1">
                <a:latin typeface="+mj-lt"/>
              </a:endParaRPr>
            </a:p>
          </p:txBody>
        </p:sp>
        <p:sp>
          <p:nvSpPr>
            <p:cNvPr id="11" name="Rectangle 10">
              <a:extLst>
                <a:ext uri="{FF2B5EF4-FFF2-40B4-BE49-F238E27FC236}">
                  <a16:creationId xmlns:a16="http://schemas.microsoft.com/office/drawing/2014/main" id="{B1BDF1C4-0512-DD74-4330-75CACB7208E6}"/>
                </a:ext>
              </a:extLst>
            </p:cNvPr>
            <p:cNvSpPr/>
            <p:nvPr/>
          </p:nvSpPr>
          <p:spPr>
            <a:xfrm>
              <a:off x="7835284" y="1614567"/>
              <a:ext cx="1135661" cy="946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RACI Matrix &amp; Governance Model </a:t>
              </a:r>
            </a:p>
            <a:p>
              <a:pPr algn="ctr"/>
              <a:r>
                <a:rPr lang="en-US" sz="1000" b="1" dirty="0">
                  <a:solidFill>
                    <a:schemeClr val="tx1"/>
                  </a:solidFill>
                </a:rPr>
                <a:t>(TOM Pillar 1 &amp; Gov)</a:t>
              </a:r>
            </a:p>
          </p:txBody>
        </p:sp>
        <p:sp>
          <p:nvSpPr>
            <p:cNvPr id="12" name="Content Placeholder 7">
              <a:extLst>
                <a:ext uri="{FF2B5EF4-FFF2-40B4-BE49-F238E27FC236}">
                  <a16:creationId xmlns:a16="http://schemas.microsoft.com/office/drawing/2014/main" id="{C6A513BB-1BDE-4156-4A46-790B860AC691}"/>
                </a:ext>
              </a:extLst>
            </p:cNvPr>
            <p:cNvSpPr txBox="1">
              <a:spLocks/>
            </p:cNvSpPr>
            <p:nvPr/>
          </p:nvSpPr>
          <p:spPr>
            <a:xfrm rot="16200000">
              <a:off x="5256566" y="2860493"/>
              <a:ext cx="1675270" cy="282586"/>
            </a:xfrm>
            <a:prstGeom prst="rect">
              <a:avLst/>
            </a:prstGeom>
            <a:noFill/>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100" dirty="0"/>
                <a:t>WS6</a:t>
              </a:r>
            </a:p>
          </p:txBody>
        </p:sp>
        <p:sp>
          <p:nvSpPr>
            <p:cNvPr id="13" name="Content Placeholder 7">
              <a:extLst>
                <a:ext uri="{FF2B5EF4-FFF2-40B4-BE49-F238E27FC236}">
                  <a16:creationId xmlns:a16="http://schemas.microsoft.com/office/drawing/2014/main" id="{52416CCA-05E2-AA59-3AAB-8865A8EA36C6}"/>
                </a:ext>
              </a:extLst>
            </p:cNvPr>
            <p:cNvSpPr txBox="1">
              <a:spLocks/>
            </p:cNvSpPr>
            <p:nvPr/>
          </p:nvSpPr>
          <p:spPr>
            <a:xfrm rot="1759738" flipH="1">
              <a:off x="9448779" y="1905419"/>
              <a:ext cx="1440000" cy="286563"/>
            </a:xfrm>
            <a:prstGeom prst="rect">
              <a:avLst/>
            </a:prstGeom>
            <a:noFill/>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100" dirty="0"/>
                <a:t>WS2</a:t>
              </a:r>
            </a:p>
          </p:txBody>
        </p:sp>
        <p:sp>
          <p:nvSpPr>
            <p:cNvPr id="14" name="Content Placeholder 7">
              <a:extLst>
                <a:ext uri="{FF2B5EF4-FFF2-40B4-BE49-F238E27FC236}">
                  <a16:creationId xmlns:a16="http://schemas.microsoft.com/office/drawing/2014/main" id="{B890652C-D91C-BE2D-8860-7A07247D69D3}"/>
                </a:ext>
              </a:extLst>
            </p:cNvPr>
            <p:cNvSpPr txBox="1">
              <a:spLocks/>
            </p:cNvSpPr>
            <p:nvPr/>
          </p:nvSpPr>
          <p:spPr>
            <a:xfrm rot="16200000">
              <a:off x="10013398" y="4273505"/>
              <a:ext cx="1440000" cy="282586"/>
            </a:xfrm>
            <a:prstGeom prst="rect">
              <a:avLst/>
            </a:prstGeom>
            <a:noFill/>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100" dirty="0"/>
                <a:t>WS3</a:t>
              </a:r>
            </a:p>
          </p:txBody>
        </p:sp>
        <p:sp>
          <p:nvSpPr>
            <p:cNvPr id="15" name="Content Placeholder 7">
              <a:extLst>
                <a:ext uri="{FF2B5EF4-FFF2-40B4-BE49-F238E27FC236}">
                  <a16:creationId xmlns:a16="http://schemas.microsoft.com/office/drawing/2014/main" id="{DF9E6739-0955-22E1-5272-7456DFD57989}"/>
                </a:ext>
              </a:extLst>
            </p:cNvPr>
            <p:cNvSpPr txBox="1">
              <a:spLocks/>
            </p:cNvSpPr>
            <p:nvPr/>
          </p:nvSpPr>
          <p:spPr>
            <a:xfrm rot="1884112" flipH="1">
              <a:off x="5878062" y="5166927"/>
              <a:ext cx="1440000" cy="286563"/>
            </a:xfrm>
            <a:prstGeom prst="rect">
              <a:avLst/>
            </a:prstGeom>
            <a:noFill/>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100" dirty="0"/>
                <a:t>WS5</a:t>
              </a:r>
            </a:p>
          </p:txBody>
        </p:sp>
        <p:sp>
          <p:nvSpPr>
            <p:cNvPr id="16" name="Content Placeholder 7">
              <a:extLst>
                <a:ext uri="{FF2B5EF4-FFF2-40B4-BE49-F238E27FC236}">
                  <a16:creationId xmlns:a16="http://schemas.microsoft.com/office/drawing/2014/main" id="{EC2DB96C-E0FF-8FAD-FEAD-2D8ECC057541}"/>
                </a:ext>
              </a:extLst>
            </p:cNvPr>
            <p:cNvSpPr txBox="1">
              <a:spLocks/>
            </p:cNvSpPr>
            <p:nvPr/>
          </p:nvSpPr>
          <p:spPr>
            <a:xfrm rot="19750638">
              <a:off x="7097490" y="1243627"/>
              <a:ext cx="1440000" cy="286563"/>
            </a:xfrm>
            <a:prstGeom prst="rect">
              <a:avLst/>
            </a:prstGeom>
            <a:noFill/>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100" dirty="0"/>
                <a:t>WS1</a:t>
              </a:r>
            </a:p>
          </p:txBody>
        </p:sp>
        <p:sp>
          <p:nvSpPr>
            <p:cNvPr id="17" name="Content Placeholder 7">
              <a:extLst>
                <a:ext uri="{FF2B5EF4-FFF2-40B4-BE49-F238E27FC236}">
                  <a16:creationId xmlns:a16="http://schemas.microsoft.com/office/drawing/2014/main" id="{BF805E75-AE68-D732-AC3D-22AF72C85B91}"/>
                </a:ext>
              </a:extLst>
            </p:cNvPr>
            <p:cNvSpPr txBox="1">
              <a:spLocks/>
            </p:cNvSpPr>
            <p:nvPr/>
          </p:nvSpPr>
          <p:spPr>
            <a:xfrm rot="19750638">
              <a:off x="8214816" y="5922307"/>
              <a:ext cx="1440000" cy="286562"/>
            </a:xfrm>
            <a:prstGeom prst="rect">
              <a:avLst/>
            </a:prstGeom>
            <a:noFill/>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100" dirty="0"/>
                <a:t>WS4</a:t>
              </a:r>
            </a:p>
          </p:txBody>
        </p:sp>
        <p:sp>
          <p:nvSpPr>
            <p:cNvPr id="18" name="TextBox 17">
              <a:extLst>
                <a:ext uri="{FF2B5EF4-FFF2-40B4-BE49-F238E27FC236}">
                  <a16:creationId xmlns:a16="http://schemas.microsoft.com/office/drawing/2014/main" id="{B030C552-BCAE-2F3C-2F31-52AD6E43AEC1}"/>
                </a:ext>
              </a:extLst>
            </p:cNvPr>
            <p:cNvSpPr txBox="1"/>
            <p:nvPr/>
          </p:nvSpPr>
          <p:spPr>
            <a:xfrm>
              <a:off x="7484376" y="2986110"/>
              <a:ext cx="1770198" cy="1432952"/>
            </a:xfrm>
            <a:prstGeom prst="rect">
              <a:avLst/>
            </a:prstGeom>
            <a:noFill/>
          </p:spPr>
          <p:txBody>
            <a:bodyPr wrap="square" lIns="0" tIns="0" rIns="0" bIns="0" rtlCol="0" anchor="ctr">
              <a:noAutofit/>
            </a:bodyPr>
            <a:lstStyle/>
            <a:p>
              <a:pPr algn="ctr"/>
              <a:r>
                <a:rPr lang="en-US" sz="1600" dirty="0">
                  <a:solidFill>
                    <a:schemeClr val="tx1"/>
                  </a:solidFill>
                  <a:latin typeface="+mj-lt"/>
                </a:rPr>
                <a:t>Workstream architecture</a:t>
              </a:r>
            </a:p>
          </p:txBody>
        </p:sp>
        <p:sp>
          <p:nvSpPr>
            <p:cNvPr id="19" name="Rectangle 18">
              <a:extLst>
                <a:ext uri="{FF2B5EF4-FFF2-40B4-BE49-F238E27FC236}">
                  <a16:creationId xmlns:a16="http://schemas.microsoft.com/office/drawing/2014/main" id="{52C1FB33-23B0-4679-5EB0-65FF76D53E5B}"/>
                </a:ext>
              </a:extLst>
            </p:cNvPr>
            <p:cNvSpPr/>
            <p:nvPr/>
          </p:nvSpPr>
          <p:spPr>
            <a:xfrm>
              <a:off x="9295009" y="2272398"/>
              <a:ext cx="1135661" cy="946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Business Partnering &amp; PMO</a:t>
              </a:r>
            </a:p>
            <a:p>
              <a:pPr algn="ctr"/>
              <a:r>
                <a:rPr lang="en-US" sz="1000" b="1" dirty="0">
                  <a:solidFill>
                    <a:schemeClr val="tx1"/>
                  </a:solidFill>
                </a:rPr>
                <a:t>(TOM Pillar 3)</a:t>
              </a:r>
            </a:p>
          </p:txBody>
        </p:sp>
        <p:sp>
          <p:nvSpPr>
            <p:cNvPr id="20" name="Rectangle 19">
              <a:extLst>
                <a:ext uri="{FF2B5EF4-FFF2-40B4-BE49-F238E27FC236}">
                  <a16:creationId xmlns:a16="http://schemas.microsoft.com/office/drawing/2014/main" id="{B41C6DDE-9B16-AACE-EBD5-7E6A3C66D4C6}"/>
                </a:ext>
              </a:extLst>
            </p:cNvPr>
            <p:cNvSpPr/>
            <p:nvPr/>
          </p:nvSpPr>
          <p:spPr>
            <a:xfrm>
              <a:off x="9363471" y="4025983"/>
              <a:ext cx="1135661" cy="946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Intake Mechanism &amp; Case </a:t>
              </a:r>
              <a:r>
                <a:rPr lang="en-US" sz="1000" b="1" dirty="0" err="1">
                  <a:solidFill>
                    <a:schemeClr val="tx1"/>
                  </a:solidFill>
                </a:rPr>
                <a:t>Mgmt</a:t>
              </a:r>
              <a:endParaRPr lang="en-US" sz="1000" b="1" dirty="0">
                <a:solidFill>
                  <a:schemeClr val="tx1"/>
                </a:solidFill>
              </a:endParaRPr>
            </a:p>
            <a:p>
              <a:pPr algn="ctr"/>
              <a:r>
                <a:rPr lang="en-US" sz="1000" b="1" dirty="0">
                  <a:solidFill>
                    <a:schemeClr val="tx1"/>
                  </a:solidFill>
                </a:rPr>
                <a:t>(TOM Pillar 3)</a:t>
              </a:r>
            </a:p>
          </p:txBody>
        </p:sp>
        <p:sp>
          <p:nvSpPr>
            <p:cNvPr id="21" name="Rectangle 20">
              <a:extLst>
                <a:ext uri="{FF2B5EF4-FFF2-40B4-BE49-F238E27FC236}">
                  <a16:creationId xmlns:a16="http://schemas.microsoft.com/office/drawing/2014/main" id="{C3901103-63C9-556C-A8F1-72787E8E5651}"/>
                </a:ext>
              </a:extLst>
            </p:cNvPr>
            <p:cNvSpPr/>
            <p:nvPr/>
          </p:nvSpPr>
          <p:spPr>
            <a:xfrm>
              <a:off x="7865099" y="4816848"/>
              <a:ext cx="1135661" cy="946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Post-Acquisition Transition</a:t>
              </a:r>
            </a:p>
            <a:p>
              <a:pPr algn="ctr"/>
              <a:r>
                <a:rPr lang="en-US" sz="1000" b="1" dirty="0">
                  <a:solidFill>
                    <a:schemeClr val="tx1"/>
                  </a:solidFill>
                </a:rPr>
                <a:t>(TOM Pillar 5)</a:t>
              </a:r>
            </a:p>
          </p:txBody>
        </p:sp>
        <p:sp>
          <p:nvSpPr>
            <p:cNvPr id="22" name="Rectangle 21">
              <a:extLst>
                <a:ext uri="{FF2B5EF4-FFF2-40B4-BE49-F238E27FC236}">
                  <a16:creationId xmlns:a16="http://schemas.microsoft.com/office/drawing/2014/main" id="{B1FC2C50-B5F5-FB29-53D5-27B9A9191EE9}"/>
                </a:ext>
              </a:extLst>
            </p:cNvPr>
            <p:cNvSpPr/>
            <p:nvPr/>
          </p:nvSpPr>
          <p:spPr>
            <a:xfrm>
              <a:off x="6330507" y="3991348"/>
              <a:ext cx="1135661" cy="946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Subcontractor Governance</a:t>
              </a:r>
            </a:p>
            <a:p>
              <a:pPr algn="ctr"/>
              <a:r>
                <a:rPr lang="en-US" sz="1000" b="1" dirty="0">
                  <a:solidFill>
                    <a:schemeClr val="tx1"/>
                  </a:solidFill>
                </a:rPr>
                <a:t>(TOM Pillar 2)</a:t>
              </a:r>
            </a:p>
          </p:txBody>
        </p:sp>
        <p:sp>
          <p:nvSpPr>
            <p:cNvPr id="23" name="Rectangle 22">
              <a:extLst>
                <a:ext uri="{FF2B5EF4-FFF2-40B4-BE49-F238E27FC236}">
                  <a16:creationId xmlns:a16="http://schemas.microsoft.com/office/drawing/2014/main" id="{9A68C920-70C1-AF32-CE9D-E608EF80FC6A}"/>
                </a:ext>
              </a:extLst>
            </p:cNvPr>
            <p:cNvSpPr/>
            <p:nvPr/>
          </p:nvSpPr>
          <p:spPr>
            <a:xfrm>
              <a:off x="6353229" y="2300182"/>
              <a:ext cx="1135661" cy="946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Transfer Pricing &amp; Reporting</a:t>
              </a:r>
            </a:p>
            <a:p>
              <a:pPr algn="ctr"/>
              <a:r>
                <a:rPr lang="en-US" sz="1000" b="1" dirty="0">
                  <a:solidFill>
                    <a:schemeClr val="tx1"/>
                  </a:solidFill>
                </a:rPr>
                <a:t>(TOM Pillar 4)</a:t>
              </a:r>
            </a:p>
          </p:txBody>
        </p:sp>
      </p:grpSp>
      <p:sp>
        <p:nvSpPr>
          <p:cNvPr id="32" name="TextBox 31">
            <a:extLst>
              <a:ext uri="{FF2B5EF4-FFF2-40B4-BE49-F238E27FC236}">
                <a16:creationId xmlns:a16="http://schemas.microsoft.com/office/drawing/2014/main" id="{CBE678D9-2818-777C-03A2-D4F1C2C8F50D}"/>
              </a:ext>
            </a:extLst>
          </p:cNvPr>
          <p:cNvSpPr txBox="1"/>
          <p:nvPr/>
        </p:nvSpPr>
        <p:spPr>
          <a:xfrm>
            <a:off x="409082" y="1148415"/>
            <a:ext cx="3665484" cy="404534"/>
          </a:xfrm>
          <a:prstGeom prst="rect">
            <a:avLst/>
          </a:prstGeom>
          <a:noFill/>
        </p:spPr>
        <p:txBody>
          <a:bodyPr wrap="square" lIns="0">
            <a:spAutoFit/>
          </a:bodyPr>
          <a:lstStyle/>
          <a:p>
            <a:pPr algn="l">
              <a:lnSpc>
                <a:spcPct val="125000"/>
              </a:lnSpc>
              <a:spcAft>
                <a:spcPts val="1200"/>
              </a:spcAft>
            </a:pPr>
            <a:r>
              <a:rPr lang="en-US" sz="1800" b="1" dirty="0">
                <a:latin typeface="+mn-lt"/>
              </a:rPr>
              <a:t>Cross Cutting</a:t>
            </a:r>
          </a:p>
        </p:txBody>
      </p:sp>
      <p:sp>
        <p:nvSpPr>
          <p:cNvPr id="39" name="TextBox 38">
            <a:extLst>
              <a:ext uri="{FF2B5EF4-FFF2-40B4-BE49-F238E27FC236}">
                <a16:creationId xmlns:a16="http://schemas.microsoft.com/office/drawing/2014/main" id="{5982FC40-1CDA-75CC-2CD5-6077B2FF6689}"/>
              </a:ext>
            </a:extLst>
          </p:cNvPr>
          <p:cNvSpPr txBox="1"/>
          <p:nvPr/>
        </p:nvSpPr>
        <p:spPr>
          <a:xfrm>
            <a:off x="5369032" y="388914"/>
            <a:ext cx="6501155" cy="925995"/>
          </a:xfrm>
          <a:prstGeom prst="rect">
            <a:avLst/>
          </a:prstGeom>
          <a:solidFill>
            <a:srgbClr val="FFE8D4"/>
          </a:solidFill>
        </p:spPr>
        <p:txBody>
          <a:bodyPr wrap="square" lIns="144000" tIns="108000" rIns="72000" bIns="108000" rtlCol="0">
            <a:spAutoFit/>
          </a:bodyPr>
          <a:lstStyle/>
          <a:p>
            <a:pPr>
              <a:spcAft>
                <a:spcPts val="300"/>
              </a:spcAft>
            </a:pPr>
            <a:r>
              <a:rPr lang="en-GB" sz="1200" b="1" dirty="0">
                <a:latin typeface="+mn-lt"/>
              </a:rPr>
              <a:t>Guiding principle</a:t>
            </a:r>
            <a:endParaRPr lang="en-GB" sz="1200" dirty="0">
              <a:latin typeface="+mn-lt"/>
            </a:endParaRPr>
          </a:p>
          <a:p>
            <a:pPr>
              <a:spcAft>
                <a:spcPts val="300"/>
              </a:spcAft>
            </a:pPr>
            <a:r>
              <a:rPr lang="en-GB" sz="1050" dirty="0">
                <a:latin typeface="+mn-lt"/>
              </a:rPr>
              <a:t>"AS-IS Assessment" and "2. Define TO-BE" . PwC honours the client's stated preference to focus on </a:t>
            </a:r>
            <a:br>
              <a:rPr lang="en-GB" sz="1050" dirty="0">
                <a:latin typeface="+mn-lt"/>
              </a:rPr>
            </a:br>
            <a:r>
              <a:rPr lang="en-GB" sz="1050" dirty="0">
                <a:latin typeface="+mn-lt"/>
              </a:rPr>
              <a:t>the TO-BE, while conducting a targeted, lightweight AS-IS only where necessary to build the fact base </a:t>
            </a:r>
            <a:br>
              <a:rPr lang="en-GB" sz="1050" dirty="0">
                <a:latin typeface="+mn-lt"/>
              </a:rPr>
            </a:br>
            <a:r>
              <a:rPr lang="en-GB" sz="1050" dirty="0">
                <a:latin typeface="+mn-lt"/>
              </a:rPr>
              <a:t>(SLAs, pricing, disputes, cost base)</a:t>
            </a:r>
          </a:p>
        </p:txBody>
      </p:sp>
      <p:grpSp>
        <p:nvGrpSpPr>
          <p:cNvPr id="46" name="Group 45">
            <a:extLst>
              <a:ext uri="{FF2B5EF4-FFF2-40B4-BE49-F238E27FC236}">
                <a16:creationId xmlns:a16="http://schemas.microsoft.com/office/drawing/2014/main" id="{7AEB61CD-EAEE-620E-D625-A5112A289B8E}"/>
              </a:ext>
            </a:extLst>
          </p:cNvPr>
          <p:cNvGrpSpPr/>
          <p:nvPr/>
        </p:nvGrpSpPr>
        <p:grpSpPr>
          <a:xfrm>
            <a:off x="409080" y="1608335"/>
            <a:ext cx="4732198" cy="1001716"/>
            <a:chOff x="409080" y="1608335"/>
            <a:chExt cx="4732198" cy="1131452"/>
          </a:xfrm>
        </p:grpSpPr>
        <p:sp>
          <p:nvSpPr>
            <p:cNvPr id="31" name="TextBox 30">
              <a:extLst>
                <a:ext uri="{FF2B5EF4-FFF2-40B4-BE49-F238E27FC236}">
                  <a16:creationId xmlns:a16="http://schemas.microsoft.com/office/drawing/2014/main" id="{61F803E5-7F66-463E-4A2B-9E6D5D73DAEF}"/>
                </a:ext>
              </a:extLst>
            </p:cNvPr>
            <p:cNvSpPr txBox="1"/>
            <p:nvPr/>
          </p:nvSpPr>
          <p:spPr>
            <a:xfrm>
              <a:off x="409080" y="1608335"/>
              <a:ext cx="2298505" cy="504000"/>
            </a:xfrm>
            <a:prstGeom prst="rect">
              <a:avLst/>
            </a:prstGeom>
            <a:solidFill>
              <a:schemeClr val="accent6"/>
            </a:solidFill>
          </p:spPr>
          <p:txBody>
            <a:bodyPr wrap="square" lIns="72000" tIns="0" rIns="72000" bIns="0" rtlCol="0" anchor="ctr">
              <a:noAutofit/>
            </a:bodyPr>
            <a:lstStyle/>
            <a:p>
              <a:pPr algn="l">
                <a:spcAft>
                  <a:spcPts val="1800"/>
                </a:spcAft>
              </a:pPr>
              <a:r>
                <a:rPr lang="en-GB" sz="1050" b="1" dirty="0">
                  <a:latin typeface="+mn-lt"/>
                </a:rPr>
                <a:t>SLA / Pricing / Dispute Fact Base</a:t>
              </a:r>
            </a:p>
          </p:txBody>
        </p:sp>
        <p:sp>
          <p:nvSpPr>
            <p:cNvPr id="41" name="TextBox 40">
              <a:extLst>
                <a:ext uri="{FF2B5EF4-FFF2-40B4-BE49-F238E27FC236}">
                  <a16:creationId xmlns:a16="http://schemas.microsoft.com/office/drawing/2014/main" id="{4088CEC9-0AE9-6001-5523-AC495219B312}"/>
                </a:ext>
              </a:extLst>
            </p:cNvPr>
            <p:cNvSpPr txBox="1"/>
            <p:nvPr/>
          </p:nvSpPr>
          <p:spPr>
            <a:xfrm>
              <a:off x="2842773" y="1608335"/>
              <a:ext cx="2298505" cy="504000"/>
            </a:xfrm>
            <a:prstGeom prst="rect">
              <a:avLst/>
            </a:prstGeom>
            <a:solidFill>
              <a:schemeClr val="accent6"/>
            </a:solidFill>
          </p:spPr>
          <p:txBody>
            <a:bodyPr wrap="square" lIns="72000" tIns="0" rIns="72000" bIns="0" rtlCol="0" anchor="ctr">
              <a:noAutofit/>
            </a:bodyPr>
            <a:lstStyle/>
            <a:p>
              <a:pPr algn="l">
                <a:spcAft>
                  <a:spcPts val="1800"/>
                </a:spcAft>
              </a:pPr>
              <a:r>
                <a:rPr lang="sk-SK" sz="1050" b="1" dirty="0" err="1">
                  <a:latin typeface="+mn-lt"/>
                </a:rPr>
                <a:t>Product</a:t>
              </a:r>
              <a:r>
                <a:rPr lang="sk-SK" sz="1050" b="1" dirty="0">
                  <a:latin typeface="+mn-lt"/>
                </a:rPr>
                <a:t> &amp; Service </a:t>
              </a:r>
              <a:r>
                <a:rPr lang="sk-SK" sz="1050" b="1" dirty="0" err="1">
                  <a:latin typeface="+mn-lt"/>
                </a:rPr>
                <a:t>Catalogue</a:t>
              </a:r>
              <a:endParaRPr lang="sk-SK" sz="1200" dirty="0">
                <a:latin typeface="+mn-lt"/>
              </a:endParaRPr>
            </a:p>
          </p:txBody>
        </p:sp>
        <p:sp>
          <p:nvSpPr>
            <p:cNvPr id="42" name="TextBox 41">
              <a:extLst>
                <a:ext uri="{FF2B5EF4-FFF2-40B4-BE49-F238E27FC236}">
                  <a16:creationId xmlns:a16="http://schemas.microsoft.com/office/drawing/2014/main" id="{FE046F0B-10DF-1ED4-EF5E-8216F9102C5C}"/>
                </a:ext>
              </a:extLst>
            </p:cNvPr>
            <p:cNvSpPr txBox="1"/>
            <p:nvPr/>
          </p:nvSpPr>
          <p:spPr>
            <a:xfrm>
              <a:off x="423055" y="2235787"/>
              <a:ext cx="2298505" cy="504000"/>
            </a:xfrm>
            <a:prstGeom prst="rect">
              <a:avLst/>
            </a:prstGeom>
            <a:solidFill>
              <a:schemeClr val="accent6"/>
            </a:solidFill>
          </p:spPr>
          <p:txBody>
            <a:bodyPr wrap="square" lIns="72000" tIns="0" rIns="72000" bIns="0" rtlCol="0" anchor="ctr">
              <a:noAutofit/>
            </a:bodyPr>
            <a:lstStyle/>
            <a:p>
              <a:pPr algn="l">
                <a:spcAft>
                  <a:spcPts val="1800"/>
                </a:spcAft>
              </a:pPr>
              <a:r>
                <a:rPr lang="en-US" sz="1050" b="1" dirty="0">
                  <a:latin typeface="+mn-lt"/>
                </a:rPr>
                <a:t>Benchmarking &amp; Continuous Improvement</a:t>
              </a:r>
              <a:endParaRPr lang="en-US" sz="1050" dirty="0">
                <a:latin typeface="+mn-lt"/>
              </a:endParaRPr>
            </a:p>
          </p:txBody>
        </p:sp>
        <p:sp>
          <p:nvSpPr>
            <p:cNvPr id="43" name="TextBox 42">
              <a:extLst>
                <a:ext uri="{FF2B5EF4-FFF2-40B4-BE49-F238E27FC236}">
                  <a16:creationId xmlns:a16="http://schemas.microsoft.com/office/drawing/2014/main" id="{BEFDB353-B2CA-3416-77EE-AECE7F58D6AE}"/>
                </a:ext>
              </a:extLst>
            </p:cNvPr>
            <p:cNvSpPr txBox="1"/>
            <p:nvPr/>
          </p:nvSpPr>
          <p:spPr>
            <a:xfrm>
              <a:off x="2842773" y="2235787"/>
              <a:ext cx="2298505" cy="504000"/>
            </a:xfrm>
            <a:prstGeom prst="rect">
              <a:avLst/>
            </a:prstGeom>
            <a:solidFill>
              <a:schemeClr val="accent6"/>
            </a:solidFill>
          </p:spPr>
          <p:txBody>
            <a:bodyPr wrap="square" lIns="72000" tIns="0" rIns="72000" bIns="0" rtlCol="0" anchor="ctr">
              <a:noAutofit/>
            </a:bodyPr>
            <a:lstStyle/>
            <a:p>
              <a:pPr algn="l">
                <a:spcAft>
                  <a:spcPts val="1800"/>
                </a:spcAft>
              </a:pPr>
              <a:r>
                <a:rPr lang="en-US" sz="1050" b="1" dirty="0">
                  <a:latin typeface="+mn-lt"/>
                </a:rPr>
                <a:t>Change Management &amp; Comms</a:t>
              </a:r>
              <a:endParaRPr lang="sk-SK" sz="1200" dirty="0" err="1">
                <a:latin typeface="+mn-lt"/>
              </a:endParaRPr>
            </a:p>
          </p:txBody>
        </p:sp>
      </p:grpSp>
      <p:graphicFrame>
        <p:nvGraphicFramePr>
          <p:cNvPr id="45" name="Table 44">
            <a:extLst>
              <a:ext uri="{FF2B5EF4-FFF2-40B4-BE49-F238E27FC236}">
                <a16:creationId xmlns:a16="http://schemas.microsoft.com/office/drawing/2014/main" id="{2F0F6878-A8F2-42EE-D5B9-3B7894147410}"/>
              </a:ext>
            </a:extLst>
          </p:cNvPr>
          <p:cNvGraphicFramePr>
            <a:graphicFrameLocks noGrp="1"/>
          </p:cNvGraphicFramePr>
          <p:nvPr>
            <p:extLst>
              <p:ext uri="{D42A27DB-BD31-4B8C-83A1-F6EECF244321}">
                <p14:modId xmlns:p14="http://schemas.microsoft.com/office/powerpoint/2010/main" val="648531524"/>
              </p:ext>
            </p:extLst>
          </p:nvPr>
        </p:nvGraphicFramePr>
        <p:xfrm>
          <a:off x="423055" y="2823411"/>
          <a:ext cx="4715876" cy="3647656"/>
        </p:xfrm>
        <a:graphic>
          <a:graphicData uri="http://schemas.openxmlformats.org/drawingml/2006/table">
            <a:tbl>
              <a:tblPr/>
              <a:tblGrid>
                <a:gridCol w="2357938">
                  <a:extLst>
                    <a:ext uri="{9D8B030D-6E8A-4147-A177-3AD203B41FA5}">
                      <a16:colId xmlns:a16="http://schemas.microsoft.com/office/drawing/2014/main" val="3622546877"/>
                    </a:ext>
                  </a:extLst>
                </a:gridCol>
                <a:gridCol w="2357938">
                  <a:extLst>
                    <a:ext uri="{9D8B030D-6E8A-4147-A177-3AD203B41FA5}">
                      <a16:colId xmlns:a16="http://schemas.microsoft.com/office/drawing/2014/main" val="2994440650"/>
                    </a:ext>
                  </a:extLst>
                </a:gridCol>
              </a:tblGrid>
              <a:tr h="163690">
                <a:tc>
                  <a:txBody>
                    <a:bodyPr/>
                    <a:lstStyle/>
                    <a:p>
                      <a:pPr algn="l">
                        <a:buNone/>
                      </a:pPr>
                      <a:r>
                        <a:rPr lang="en-GB" sz="900" b="1" dirty="0">
                          <a:solidFill>
                            <a:schemeClr val="accent1"/>
                          </a:solidFill>
                          <a:effectLst/>
                          <a:latin typeface="Arial" panose="020B0604020202020204" pitchFamily="34" charset="0"/>
                          <a:cs typeface="Arial" panose="020B0604020202020204" pitchFamily="34" charset="0"/>
                        </a:rPr>
                        <a:t>Client’s Transformation Step</a:t>
                      </a:r>
                      <a:endParaRPr lang="en-GB" sz="900" dirty="0">
                        <a:solidFill>
                          <a:schemeClr val="accent1"/>
                        </a:solidFill>
                        <a:effectLst/>
                        <a:latin typeface="Arial" panose="020B0604020202020204" pitchFamily="34" charset="0"/>
                        <a:cs typeface="Arial" panose="020B0604020202020204" pitchFamily="34" charset="0"/>
                      </a:endParaRP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900" b="1" dirty="0">
                          <a:solidFill>
                            <a:schemeClr val="accent1"/>
                          </a:solidFill>
                          <a:effectLst/>
                          <a:latin typeface="Arial" panose="020B0604020202020204" pitchFamily="34" charset="0"/>
                          <a:cs typeface="Arial" panose="020B0604020202020204" pitchFamily="34" charset="0"/>
                        </a:rPr>
                        <a:t>PwC Interpretation</a:t>
                      </a:r>
                      <a:endParaRPr lang="en-GB" sz="900" dirty="0">
                        <a:solidFill>
                          <a:schemeClr val="accent1"/>
                        </a:solidFill>
                        <a:effectLst/>
                        <a:latin typeface="Arial" panose="020B0604020202020204" pitchFamily="34" charset="0"/>
                        <a:cs typeface="Arial" panose="020B0604020202020204" pitchFamily="34" charset="0"/>
                      </a:endParaRP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985274"/>
                  </a:ext>
                </a:extLst>
              </a:tr>
              <a:tr h="450591">
                <a:tc>
                  <a:txBody>
                    <a:bodyPr/>
                    <a:lstStyle/>
                    <a:p>
                      <a:pPr algn="l">
                        <a:buNone/>
                      </a:pPr>
                      <a:r>
                        <a:rPr lang="en-GB" sz="800" b="1" dirty="0">
                          <a:effectLst/>
                          <a:latin typeface="Arial" panose="020B0604020202020204" pitchFamily="34" charset="0"/>
                          <a:cs typeface="Arial" panose="020B0604020202020204" pitchFamily="34" charset="0"/>
                        </a:rPr>
                        <a:t>AS-IS: “Evaluate and map current end-to-end processes incl. all systems, services and (external) vendors”</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Targeted fact-gathering only — we will extract data on SLAs, contracts, pricing, inputs, and vendor landscape without exhaustive process mapping</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803816"/>
                  </a:ext>
                </a:extLst>
              </a:tr>
              <a:tr h="450989">
                <a:tc>
                  <a:txBody>
                    <a:bodyPr/>
                    <a:lstStyle/>
                    <a:p>
                      <a:pPr algn="l">
                        <a:buNone/>
                      </a:pPr>
                      <a:r>
                        <a:rPr lang="en-GB" sz="800" b="1" dirty="0">
                          <a:effectLst/>
                          <a:latin typeface="Arial" panose="020B0604020202020204" pitchFamily="34" charset="0"/>
                          <a:cs typeface="Arial" panose="020B0604020202020204" pitchFamily="34" charset="0"/>
                        </a:rPr>
                        <a:t>AS-IS: “Identify gaps, inefficiencies </a:t>
                      </a:r>
                      <a:br>
                        <a:rPr lang="en-GB" sz="800" b="1" dirty="0">
                          <a:effectLst/>
                          <a:latin typeface="Arial" panose="020B0604020202020204" pitchFamily="34" charset="0"/>
                          <a:cs typeface="Arial" panose="020B0604020202020204" pitchFamily="34" charset="0"/>
                        </a:rPr>
                      </a:br>
                      <a:r>
                        <a:rPr lang="en-GB" sz="800" b="1" dirty="0">
                          <a:effectLst/>
                          <a:latin typeface="Arial" panose="020B0604020202020204" pitchFamily="34" charset="0"/>
                          <a:cs typeface="Arial" panose="020B0604020202020204" pitchFamily="34" charset="0"/>
                        </a:rPr>
                        <a:t>&amp; duplications”</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Capture through stakeholder interviews and data analysis — embedded within each workstream, not a separate phase</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738175"/>
                  </a:ext>
                </a:extLst>
              </a:tr>
              <a:tr h="340166">
                <a:tc>
                  <a:txBody>
                    <a:bodyPr/>
                    <a:lstStyle/>
                    <a:p>
                      <a:pPr algn="l">
                        <a:buNone/>
                      </a:pPr>
                      <a:r>
                        <a:rPr lang="en-GB" sz="800" b="1" dirty="0">
                          <a:effectLst/>
                          <a:latin typeface="Arial" panose="020B0604020202020204" pitchFamily="34" charset="0"/>
                          <a:cs typeface="Arial" panose="020B0604020202020204" pitchFamily="34" charset="0"/>
                        </a:rPr>
                        <a:t>AS-IS: “Assess cost base, existing (frame) contracts, SLAs and performance KPIs”</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Core input to WS6 (Transfer Pricing) and cross-cutting Fact Base</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909698"/>
                  </a:ext>
                </a:extLst>
              </a:tr>
              <a:tr h="229343">
                <a:tc>
                  <a:txBody>
                    <a:bodyPr/>
                    <a:lstStyle/>
                    <a:p>
                      <a:pPr algn="l">
                        <a:buNone/>
                      </a:pPr>
                      <a:r>
                        <a:rPr lang="en-GB" sz="800" b="1" dirty="0">
                          <a:effectLst/>
                          <a:latin typeface="Arial" panose="020B0604020202020204" pitchFamily="34" charset="0"/>
                          <a:cs typeface="Arial" panose="020B0604020202020204" pitchFamily="34" charset="0"/>
                        </a:rPr>
                        <a:t>AS-IS: “Assess R&amp;R, and ownership gaps”</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Core input to WS1 (RACI)</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2714433"/>
                  </a:ext>
                </a:extLst>
              </a:tr>
              <a:tr h="229343">
                <a:tc>
                  <a:txBody>
                    <a:bodyPr/>
                    <a:lstStyle/>
                    <a:p>
                      <a:pPr algn="l">
                        <a:buNone/>
                      </a:pPr>
                      <a:r>
                        <a:rPr lang="en-GB" sz="800" b="1" dirty="0">
                          <a:effectLst/>
                          <a:latin typeface="Arial" panose="020B0604020202020204" pitchFamily="34" charset="0"/>
                          <a:cs typeface="Arial" panose="020B0604020202020204" pitchFamily="34" charset="0"/>
                        </a:rPr>
                        <a:t>TO-BE: “Define and agree SSC scope”</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WS1 kick-off activity</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657460"/>
                  </a:ext>
                </a:extLst>
              </a:tr>
              <a:tr h="286681">
                <a:tc>
                  <a:txBody>
                    <a:bodyPr/>
                    <a:lstStyle/>
                    <a:p>
                      <a:pPr algn="l">
                        <a:buNone/>
                      </a:pPr>
                      <a:r>
                        <a:rPr lang="en-GB" sz="800" b="1" dirty="0">
                          <a:effectLst/>
                          <a:latin typeface="Arial" panose="020B0604020202020204" pitchFamily="34" charset="0"/>
                          <a:cs typeface="Arial" panose="020B0604020202020204" pitchFamily="34" charset="0"/>
                        </a:rPr>
                        <a:t>TO-BE: “Design TOM – customer oriented service delivery model”</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WS1 + WS2 + WS3 combined</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720409"/>
                  </a:ext>
                </a:extLst>
              </a:tr>
              <a:tr h="286681">
                <a:tc>
                  <a:txBody>
                    <a:bodyPr/>
                    <a:lstStyle/>
                    <a:p>
                      <a:pPr algn="l">
                        <a:buNone/>
                      </a:pPr>
                      <a:r>
                        <a:rPr lang="en-GB" sz="800" b="1" dirty="0">
                          <a:effectLst/>
                          <a:latin typeface="Arial" panose="020B0604020202020204" pitchFamily="34" charset="0"/>
                          <a:cs typeface="Arial" panose="020B0604020202020204" pitchFamily="34" charset="0"/>
                        </a:rPr>
                        <a:t>TO-BE: “Establish governance, roles </a:t>
                      </a:r>
                      <a:br>
                        <a:rPr lang="en-GB" sz="800" b="1" dirty="0">
                          <a:effectLst/>
                          <a:latin typeface="Arial" panose="020B0604020202020204" pitchFamily="34" charset="0"/>
                          <a:cs typeface="Arial" panose="020B0604020202020204" pitchFamily="34" charset="0"/>
                        </a:rPr>
                      </a:br>
                      <a:r>
                        <a:rPr lang="en-GB" sz="800" b="1" dirty="0">
                          <a:effectLst/>
                          <a:latin typeface="Arial" panose="020B0604020202020204" pitchFamily="34" charset="0"/>
                          <a:cs typeface="Arial" panose="020B0604020202020204" pitchFamily="34" charset="0"/>
                        </a:rPr>
                        <a:t>&amp; accountability”</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WS1: RACI &amp; Governance Charter</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79935"/>
                  </a:ext>
                </a:extLst>
              </a:tr>
              <a:tr h="340166">
                <a:tc>
                  <a:txBody>
                    <a:bodyPr/>
                    <a:lstStyle/>
                    <a:p>
                      <a:pPr algn="l">
                        <a:buNone/>
                      </a:pPr>
                      <a:r>
                        <a:rPr lang="en-GB" sz="800" b="1" dirty="0">
                          <a:effectLst/>
                          <a:latin typeface="Arial" panose="020B0604020202020204" pitchFamily="34" charset="0"/>
                          <a:cs typeface="Arial" panose="020B0604020202020204" pitchFamily="34" charset="0"/>
                        </a:rPr>
                        <a:t>TO-BE: “Review &amp; build Frame </a:t>
                      </a:r>
                      <a:br>
                        <a:rPr lang="en-GB" sz="800" b="1" dirty="0">
                          <a:effectLst/>
                          <a:latin typeface="Arial" panose="020B0604020202020204" pitchFamily="34" charset="0"/>
                          <a:cs typeface="Arial" panose="020B0604020202020204" pitchFamily="34" charset="0"/>
                        </a:rPr>
                      </a:br>
                      <a:r>
                        <a:rPr lang="en-GB" sz="800" b="1" dirty="0">
                          <a:effectLst/>
                          <a:latin typeface="Arial" panose="020B0604020202020204" pitchFamily="34" charset="0"/>
                          <a:cs typeface="Arial" panose="020B0604020202020204" pitchFamily="34" charset="0"/>
                        </a:rPr>
                        <a:t>Agreements, Product &amp; Service Catalogue”</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Cross-cutting deliverable + WS6</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2995835"/>
                  </a:ext>
                </a:extLst>
              </a:tr>
              <a:tr h="286681">
                <a:tc>
                  <a:txBody>
                    <a:bodyPr/>
                    <a:lstStyle/>
                    <a:p>
                      <a:pPr algn="l">
                        <a:buNone/>
                      </a:pPr>
                      <a:r>
                        <a:rPr lang="en-GB" sz="800" b="1" dirty="0">
                          <a:effectLst/>
                          <a:latin typeface="Arial" panose="020B0604020202020204" pitchFamily="34" charset="0"/>
                          <a:cs typeface="Arial" panose="020B0604020202020204" pitchFamily="34" charset="0"/>
                        </a:rPr>
                        <a:t>TO-BE: “Set-up/Update intercompany </a:t>
                      </a:r>
                      <a:br>
                        <a:rPr lang="en-GB" sz="800" b="1" dirty="0">
                          <a:effectLst/>
                          <a:latin typeface="Arial" panose="020B0604020202020204" pitchFamily="34" charset="0"/>
                          <a:cs typeface="Arial" panose="020B0604020202020204" pitchFamily="34" charset="0"/>
                        </a:rPr>
                      </a:br>
                      <a:r>
                        <a:rPr lang="en-GB" sz="800" b="1" dirty="0">
                          <a:effectLst/>
                          <a:latin typeface="Arial" panose="020B0604020202020204" pitchFamily="34" charset="0"/>
                          <a:cs typeface="Arial" panose="020B0604020202020204" pitchFamily="34" charset="0"/>
                        </a:rPr>
                        <a:t>charging model”</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WS6: Transfer Pricing</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668036"/>
                  </a:ext>
                </a:extLst>
              </a:tr>
              <a:tr h="229343">
                <a:tc>
                  <a:txBody>
                    <a:bodyPr/>
                    <a:lstStyle/>
                    <a:p>
                      <a:pPr algn="l">
                        <a:buNone/>
                      </a:pPr>
                      <a:r>
                        <a:rPr lang="en-GB" sz="800" b="1" dirty="0">
                          <a:effectLst/>
                          <a:latin typeface="Arial" panose="020B0604020202020204" pitchFamily="34" charset="0"/>
                          <a:cs typeface="Arial" panose="020B0604020202020204" pitchFamily="34" charset="0"/>
                        </a:rPr>
                        <a:t>TO-BE: “Identify quick wins”</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Each workstream identifies quick wins in Phase 1</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2537395"/>
                  </a:ext>
                </a:extLst>
              </a:tr>
              <a:tr h="340166">
                <a:tc>
                  <a:txBody>
                    <a:bodyPr/>
                    <a:lstStyle/>
                    <a:p>
                      <a:pPr algn="l">
                        <a:buNone/>
                      </a:pPr>
                      <a:r>
                        <a:rPr lang="en-GB" sz="800" b="1" dirty="0">
                          <a:effectLst/>
                          <a:latin typeface="Arial" panose="020B0604020202020204" pitchFamily="34" charset="0"/>
                          <a:cs typeface="Arial" panose="020B0604020202020204" pitchFamily="34" charset="0"/>
                        </a:rPr>
                        <a:t>TO-BE: “Define &amp; approve Roadmap </a:t>
                      </a:r>
                      <a:br>
                        <a:rPr lang="en-GB" sz="800" b="1" dirty="0">
                          <a:effectLst/>
                          <a:latin typeface="Arial" panose="020B0604020202020204" pitchFamily="34" charset="0"/>
                          <a:cs typeface="Arial" panose="020B0604020202020204" pitchFamily="34" charset="0"/>
                        </a:rPr>
                      </a:br>
                      <a:r>
                        <a:rPr lang="en-GB" sz="800" b="1" dirty="0">
                          <a:effectLst/>
                          <a:latin typeface="Arial" panose="020B0604020202020204" pitchFamily="34" charset="0"/>
                          <a:cs typeface="Arial" panose="020B0604020202020204" pitchFamily="34" charset="0"/>
                        </a:rPr>
                        <a:t>phasing &amp; prioritization”</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800" dirty="0">
                          <a:effectLst/>
                          <a:latin typeface="Arial" panose="020B0604020202020204" pitchFamily="34" charset="0"/>
                          <a:cs typeface="Arial" panose="020B0604020202020204" pitchFamily="34" charset="0"/>
                        </a:rPr>
                        <a:t>WS2: PMO; overall roadmap in Slide 18</a:t>
                      </a:r>
                    </a:p>
                  </a:txBody>
                  <a:tcPr marL="0" marR="21731" marT="36000" marB="4346">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9873642"/>
                  </a:ext>
                </a:extLst>
              </a:tr>
            </a:tbl>
          </a:graphicData>
        </a:graphic>
      </p:graphicFrame>
    </p:spTree>
    <p:extLst>
      <p:ext uri="{BB962C8B-B14F-4D97-AF65-F5344CB8AC3E}">
        <p14:creationId xmlns:p14="http://schemas.microsoft.com/office/powerpoint/2010/main" val="1056161127"/>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63833B7-B501-673F-1F24-7026FABA56D0}"/>
              </a:ext>
            </a:extLst>
          </p:cNvPr>
          <p:cNvSpPr/>
          <p:nvPr/>
        </p:nvSpPr>
        <p:spPr>
          <a:xfrm>
            <a:off x="0" y="4338340"/>
            <a:ext cx="12192000" cy="2519660"/>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K"/>
          </a:p>
        </p:txBody>
      </p:sp>
      <p:sp>
        <p:nvSpPr>
          <p:cNvPr id="2" name="Title 1">
            <a:extLst>
              <a:ext uri="{FF2B5EF4-FFF2-40B4-BE49-F238E27FC236}">
                <a16:creationId xmlns:a16="http://schemas.microsoft.com/office/drawing/2014/main" id="{40698681-A9C2-8904-0506-79322548DB05}"/>
              </a:ext>
            </a:extLst>
          </p:cNvPr>
          <p:cNvSpPr>
            <a:spLocks noGrp="1"/>
          </p:cNvSpPr>
          <p:nvPr>
            <p:ph type="title"/>
          </p:nvPr>
        </p:nvSpPr>
        <p:spPr/>
        <p:txBody>
          <a:bodyPr/>
          <a:lstStyle/>
          <a:p>
            <a:r>
              <a:rPr lang="en-GB" dirty="0"/>
              <a:t>Workstream 1: RACI Matrix &amp; Governance Model (1/2)</a:t>
            </a:r>
            <a:br>
              <a:rPr lang="en-GB" dirty="0"/>
            </a:br>
            <a:r>
              <a:rPr lang="en-GB" sz="1600" dirty="0">
                <a:latin typeface="Arial" panose="020B0604020202020204" pitchFamily="34" charset="0"/>
                <a:cs typeface="Arial" panose="020B0604020202020204" pitchFamily="34" charset="0"/>
              </a:rPr>
              <a:t>The Backbone — "Who Decides &amp; Who Is Accountable"</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58ED299A-450C-18E0-8447-AF41489F5CBD}"/>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CF094350-1C6B-1EE8-D2B3-69CEB012A1E9}"/>
              </a:ext>
            </a:extLst>
          </p:cNvPr>
          <p:cNvSpPr>
            <a:spLocks noGrp="1"/>
          </p:cNvSpPr>
          <p:nvPr>
            <p:ph type="sldNum" sz="quarter" idx="4"/>
          </p:nvPr>
        </p:nvSpPr>
        <p:spPr/>
        <p:txBody>
          <a:bodyPr/>
          <a:lstStyle/>
          <a:p>
            <a:fld id="{3E6AC032-1535-134B-A583-D5E1DDD0D167}" type="slidenum">
              <a:rPr lang="en-US" smtClean="0"/>
              <a:pPr/>
              <a:t>17</a:t>
            </a:fld>
            <a:endParaRPr lang="en-US"/>
          </a:p>
        </p:txBody>
      </p:sp>
      <p:sp>
        <p:nvSpPr>
          <p:cNvPr id="6" name="Content Placeholder 3">
            <a:extLst>
              <a:ext uri="{FF2B5EF4-FFF2-40B4-BE49-F238E27FC236}">
                <a16:creationId xmlns:a16="http://schemas.microsoft.com/office/drawing/2014/main" id="{6232FD19-5F8D-E167-1CD4-21AACE6C846C}"/>
              </a:ext>
            </a:extLst>
          </p:cNvPr>
          <p:cNvSpPr txBox="1">
            <a:spLocks/>
          </p:cNvSpPr>
          <p:nvPr/>
        </p:nvSpPr>
        <p:spPr>
          <a:xfrm>
            <a:off x="407447" y="2392887"/>
            <a:ext cx="3194735" cy="1966293"/>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ClrTx/>
            </a:pPr>
            <a:r>
              <a:rPr lang="en-GB" sz="1400" dirty="0">
                <a:solidFill>
                  <a:srgbClr val="000000"/>
                </a:solidFill>
                <a:ea typeface="+mn-lt"/>
                <a:cs typeface="+mn-lt"/>
              </a:rPr>
              <a:t>"Who owns decisions (decision rights — strategic, tactical, operational)“</a:t>
            </a:r>
          </a:p>
          <a:p>
            <a:pPr>
              <a:spcBef>
                <a:spcPts val="0"/>
              </a:spcBef>
              <a:spcAft>
                <a:spcPts val="600"/>
              </a:spcAft>
              <a:buClrTx/>
            </a:pPr>
            <a:r>
              <a:rPr lang="en-GB" sz="1200" dirty="0"/>
              <a:t>Decision Rights Matrix</a:t>
            </a:r>
            <a:r>
              <a:rPr lang="en-GB" sz="1200" b="0" dirty="0"/>
              <a:t> — maps strategic decisions (e.g., new product launch) to Enterprise leadership; tactical decisions (e.g., SLA target-setting) to SSC Head + Business Partners; operational decisions (e.g., daily </a:t>
            </a:r>
            <a:br>
              <a:rPr lang="en-GB" sz="1200" b="0" dirty="0"/>
            </a:br>
            <a:r>
              <a:rPr lang="en-GB" sz="1200" b="0" dirty="0"/>
              <a:t>case routing) to team leads per RACI</a:t>
            </a:r>
            <a:endParaRPr lang="en-US" sz="1200" dirty="0">
              <a:cs typeface="Arial"/>
            </a:endParaRPr>
          </a:p>
        </p:txBody>
      </p:sp>
      <p:sp>
        <p:nvSpPr>
          <p:cNvPr id="7" name="Content Placeholder 5">
            <a:extLst>
              <a:ext uri="{FF2B5EF4-FFF2-40B4-BE49-F238E27FC236}">
                <a16:creationId xmlns:a16="http://schemas.microsoft.com/office/drawing/2014/main" id="{68656F2A-8A15-B464-9277-CA4B6C3E6E83}"/>
              </a:ext>
            </a:extLst>
          </p:cNvPr>
          <p:cNvSpPr txBox="1">
            <a:spLocks/>
          </p:cNvSpPr>
          <p:nvPr/>
        </p:nvSpPr>
        <p:spPr>
          <a:xfrm>
            <a:off x="3826202" y="2392888"/>
            <a:ext cx="2357252" cy="1966293"/>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ClrTx/>
            </a:pPr>
            <a:r>
              <a:rPr lang="en-GB" sz="1400" dirty="0">
                <a:cs typeface="Arial"/>
              </a:rPr>
              <a:t>"How priorities are set (portfolio steering)“</a:t>
            </a:r>
          </a:p>
          <a:p>
            <a:pPr>
              <a:spcBef>
                <a:spcPts val="0"/>
              </a:spcBef>
              <a:spcAft>
                <a:spcPts val="600"/>
              </a:spcAft>
              <a:buClrTx/>
            </a:pPr>
            <a:r>
              <a:rPr lang="en-GB" sz="1200" dirty="0"/>
              <a:t>Portfolio Steering Committee</a:t>
            </a:r>
            <a:r>
              <a:rPr lang="en-GB" sz="1200" b="0" dirty="0"/>
              <a:t> design — membership, cadence (monthly), scoring model for prioritization — linked to WS2 PMO</a:t>
            </a:r>
            <a:endParaRPr lang="en-US" sz="1050" b="0" dirty="0">
              <a:cs typeface="Arial"/>
            </a:endParaRPr>
          </a:p>
        </p:txBody>
      </p:sp>
      <p:sp>
        <p:nvSpPr>
          <p:cNvPr id="8" name="Content Placeholder 7">
            <a:extLst>
              <a:ext uri="{FF2B5EF4-FFF2-40B4-BE49-F238E27FC236}">
                <a16:creationId xmlns:a16="http://schemas.microsoft.com/office/drawing/2014/main" id="{A65A27BB-6DFB-F695-F687-2A27A584D3C7}"/>
              </a:ext>
            </a:extLst>
          </p:cNvPr>
          <p:cNvSpPr txBox="1">
            <a:spLocks/>
          </p:cNvSpPr>
          <p:nvPr/>
        </p:nvSpPr>
        <p:spPr>
          <a:xfrm>
            <a:off x="6635488" y="2392888"/>
            <a:ext cx="2357252" cy="1966292"/>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ClrTx/>
            </a:pPr>
            <a:r>
              <a:rPr lang="en-GB" sz="1400" dirty="0">
                <a:cs typeface="Arial"/>
              </a:rPr>
              <a:t>"How performance is monitored (KPIs, SLAs)“</a:t>
            </a:r>
          </a:p>
          <a:p>
            <a:pPr>
              <a:spcBef>
                <a:spcPts val="0"/>
              </a:spcBef>
              <a:spcAft>
                <a:spcPts val="600"/>
              </a:spcAft>
              <a:buClrTx/>
            </a:pPr>
            <a:r>
              <a:rPr lang="en-GB" sz="1200" dirty="0"/>
              <a:t>KPI Ownership Map</a:t>
            </a:r>
            <a:r>
              <a:rPr lang="en-GB" sz="1200" b="0" dirty="0"/>
              <a:t> — each KPI assigned a single "A" (Accountable) owner; dashboard design (see WS cross-cutting)</a:t>
            </a:r>
            <a:endParaRPr lang="en-US" sz="1200" b="0" dirty="0">
              <a:cs typeface="Arial"/>
            </a:endParaRPr>
          </a:p>
        </p:txBody>
      </p:sp>
      <p:sp>
        <p:nvSpPr>
          <p:cNvPr id="9" name="Content Placeholder 9">
            <a:extLst>
              <a:ext uri="{FF2B5EF4-FFF2-40B4-BE49-F238E27FC236}">
                <a16:creationId xmlns:a16="http://schemas.microsoft.com/office/drawing/2014/main" id="{1F004E83-B7A6-E80E-5CB7-9E1943A03CE6}"/>
              </a:ext>
            </a:extLst>
          </p:cNvPr>
          <p:cNvSpPr txBox="1">
            <a:spLocks/>
          </p:cNvSpPr>
          <p:nvPr/>
        </p:nvSpPr>
        <p:spPr>
          <a:xfrm>
            <a:off x="9444774" y="2392888"/>
            <a:ext cx="2357252" cy="1966290"/>
          </a:xfrm>
          <a:prstGeom prst="rect">
            <a:avLst/>
          </a:prstGeom>
        </p:spPr>
        <p:txBody>
          <a:bodyPr vert="horz" lIns="0" tIns="0" rIns="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ClrTx/>
            </a:pPr>
            <a:r>
              <a:rPr lang="en-GB" sz="1400" dirty="0">
                <a:cs typeface="Arial"/>
              </a:rPr>
              <a:t>"How conflicts are resolved (escalation paths)“</a:t>
            </a:r>
          </a:p>
          <a:p>
            <a:pPr>
              <a:spcBef>
                <a:spcPts val="0"/>
              </a:spcBef>
              <a:spcAft>
                <a:spcPts val="600"/>
              </a:spcAft>
              <a:buClrTx/>
            </a:pPr>
            <a:r>
              <a:rPr lang="en-GB" sz="1200" dirty="0"/>
              <a:t>Escalation Protocol</a:t>
            </a:r>
            <a:r>
              <a:rPr lang="en-GB" sz="1200" b="0" dirty="0"/>
              <a:t> — 3-tier escalation: L1 (operational — team lead, 24h), L2 (tactical — Business Partner, 48h), L3 (strategic — Governance Forum, 5 days)</a:t>
            </a:r>
            <a:endParaRPr lang="en-US" sz="1200" dirty="0">
              <a:cs typeface="Arial"/>
            </a:endParaRPr>
          </a:p>
        </p:txBody>
      </p:sp>
      <p:cxnSp>
        <p:nvCxnSpPr>
          <p:cNvPr id="10" name="Straight Connector 9">
            <a:extLst>
              <a:ext uri="{FF2B5EF4-FFF2-40B4-BE49-F238E27FC236}">
                <a16:creationId xmlns:a16="http://schemas.microsoft.com/office/drawing/2014/main" id="{CAE158B5-E98D-C569-55EF-E1F73340F2DD}"/>
              </a:ext>
            </a:extLst>
          </p:cNvPr>
          <p:cNvCxnSpPr>
            <a:cxnSpLocks/>
          </p:cNvCxnSpPr>
          <p:nvPr/>
        </p:nvCxnSpPr>
        <p:spPr>
          <a:xfrm>
            <a:off x="370586" y="2246455"/>
            <a:ext cx="3231596"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09126DD5-8F15-9D37-39F7-C20D6B2A2CCA}"/>
              </a:ext>
            </a:extLst>
          </p:cNvPr>
          <p:cNvCxnSpPr>
            <a:cxnSpLocks/>
          </p:cNvCxnSpPr>
          <p:nvPr/>
        </p:nvCxnSpPr>
        <p:spPr>
          <a:xfrm>
            <a:off x="3861285" y="2246455"/>
            <a:ext cx="2322169"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pic>
        <p:nvPicPr>
          <p:cNvPr id="15" name="Graphic 14">
            <a:extLst>
              <a:ext uri="{FF2B5EF4-FFF2-40B4-BE49-F238E27FC236}">
                <a16:creationId xmlns:a16="http://schemas.microsoft.com/office/drawing/2014/main" id="{D5439A4D-BDF6-A850-F885-2D42029B06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0586" y="1217275"/>
            <a:ext cx="914400" cy="914400"/>
          </a:xfrm>
          <a:prstGeom prst="rect">
            <a:avLst/>
          </a:prstGeom>
        </p:spPr>
      </p:pic>
      <p:pic>
        <p:nvPicPr>
          <p:cNvPr id="18" name="Graphic 17">
            <a:extLst>
              <a:ext uri="{FF2B5EF4-FFF2-40B4-BE49-F238E27FC236}">
                <a16:creationId xmlns:a16="http://schemas.microsoft.com/office/drawing/2014/main" id="{191383C2-7DC4-E14B-1098-ED7BADA1017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6202" y="1281833"/>
            <a:ext cx="914400" cy="914400"/>
          </a:xfrm>
          <a:prstGeom prst="rect">
            <a:avLst/>
          </a:prstGeom>
        </p:spPr>
      </p:pic>
      <p:pic>
        <p:nvPicPr>
          <p:cNvPr id="19" name="Graphic 18">
            <a:extLst>
              <a:ext uri="{FF2B5EF4-FFF2-40B4-BE49-F238E27FC236}">
                <a16:creationId xmlns:a16="http://schemas.microsoft.com/office/drawing/2014/main" id="{F89AB0F9-81BC-2769-68C2-BCB3442351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35488" y="1280457"/>
            <a:ext cx="914400" cy="914400"/>
          </a:xfrm>
          <a:prstGeom prst="rect">
            <a:avLst/>
          </a:prstGeom>
        </p:spPr>
      </p:pic>
      <p:pic>
        <p:nvPicPr>
          <p:cNvPr id="20" name="Graphic 19">
            <a:extLst>
              <a:ext uri="{FF2B5EF4-FFF2-40B4-BE49-F238E27FC236}">
                <a16:creationId xmlns:a16="http://schemas.microsoft.com/office/drawing/2014/main" id="{AB10F4FD-DF8A-108F-3680-CD7E0AE7873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44774" y="1380633"/>
            <a:ext cx="914400" cy="914400"/>
          </a:xfrm>
          <a:prstGeom prst="rect">
            <a:avLst/>
          </a:prstGeom>
        </p:spPr>
      </p:pic>
      <p:sp>
        <p:nvSpPr>
          <p:cNvPr id="24" name="TextBox 23">
            <a:extLst>
              <a:ext uri="{FF2B5EF4-FFF2-40B4-BE49-F238E27FC236}">
                <a16:creationId xmlns:a16="http://schemas.microsoft.com/office/drawing/2014/main" id="{D7CE186C-29C3-8350-4FCC-60D9F7524FC0}"/>
              </a:ext>
            </a:extLst>
          </p:cNvPr>
          <p:cNvSpPr txBox="1"/>
          <p:nvPr/>
        </p:nvSpPr>
        <p:spPr>
          <a:xfrm>
            <a:off x="402335" y="4719409"/>
            <a:ext cx="2957808" cy="1653540"/>
          </a:xfrm>
          <a:prstGeom prst="rect">
            <a:avLst/>
          </a:prstGeom>
          <a:noFill/>
          <a:ln>
            <a:solidFill>
              <a:srgbClr val="FE7C39"/>
            </a:solidFill>
          </a:ln>
        </p:spPr>
        <p:txBody>
          <a:bodyPr wrap="square" lIns="108000" tIns="108000" rIns="108000" bIns="144000" anchor="ctr">
            <a:noAutofit/>
          </a:bodyPr>
          <a:lstStyle/>
          <a:p>
            <a:r>
              <a:rPr lang="en-GB" sz="1050" dirty="0"/>
              <a:t>The three structural groups the client identifies — </a:t>
            </a:r>
            <a:r>
              <a:rPr lang="en-GB" sz="1050" b="1" dirty="0"/>
              <a:t>PDLC (Products &amp; Tech), SSC Operations &amp; SSC RM for JVs, </a:t>
            </a:r>
            <a:r>
              <a:rPr lang="en-GB" sz="1050" dirty="0"/>
              <a:t>and</a:t>
            </a:r>
            <a:r>
              <a:rPr lang="en-GB" sz="1050" b="1" dirty="0"/>
              <a:t> Customer/JV  </a:t>
            </a:r>
            <a:r>
              <a:rPr lang="en-GB" sz="1050" dirty="0"/>
              <a:t>— become the </a:t>
            </a:r>
            <a:r>
              <a:rPr lang="en-GB" sz="1050" b="1" dirty="0"/>
              <a:t>three axes </a:t>
            </a:r>
            <a:r>
              <a:rPr lang="en-GB" sz="1050" dirty="0"/>
              <a:t>of our RACI design. Every service, process, and technology decision is mapped across these three groups.</a:t>
            </a:r>
          </a:p>
        </p:txBody>
      </p:sp>
      <p:cxnSp>
        <p:nvCxnSpPr>
          <p:cNvPr id="21" name="Straight Connector 20">
            <a:extLst>
              <a:ext uri="{FF2B5EF4-FFF2-40B4-BE49-F238E27FC236}">
                <a16:creationId xmlns:a16="http://schemas.microsoft.com/office/drawing/2014/main" id="{E9277BA9-2D91-3CBA-B029-7672EEAC6867}"/>
              </a:ext>
            </a:extLst>
          </p:cNvPr>
          <p:cNvCxnSpPr>
            <a:cxnSpLocks/>
          </p:cNvCxnSpPr>
          <p:nvPr/>
        </p:nvCxnSpPr>
        <p:spPr>
          <a:xfrm>
            <a:off x="6618340" y="2246455"/>
            <a:ext cx="2322169"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E0BF6CFA-6D51-DA77-2608-01F9DB32C0C3}"/>
              </a:ext>
            </a:extLst>
          </p:cNvPr>
          <p:cNvCxnSpPr>
            <a:cxnSpLocks/>
          </p:cNvCxnSpPr>
          <p:nvPr/>
        </p:nvCxnSpPr>
        <p:spPr>
          <a:xfrm>
            <a:off x="9444667" y="2246455"/>
            <a:ext cx="2322169" cy="0"/>
          </a:xfrm>
          <a:prstGeom prst="line">
            <a:avLst/>
          </a:prstGeom>
          <a:ln>
            <a:solidFill>
              <a:schemeClr val="accent2"/>
            </a:solidFill>
          </a:ln>
        </p:spPr>
        <p:style>
          <a:lnRef idx="1">
            <a:schemeClr val="accent2"/>
          </a:lnRef>
          <a:fillRef idx="0">
            <a:schemeClr val="accent2"/>
          </a:fillRef>
          <a:effectRef idx="0">
            <a:schemeClr val="accent2"/>
          </a:effectRef>
          <a:fontRef idx="minor">
            <a:schemeClr val="tx1"/>
          </a:fontRef>
        </p:style>
      </p:cxnSp>
      <p:graphicFrame>
        <p:nvGraphicFramePr>
          <p:cNvPr id="28" name="Table 27">
            <a:extLst>
              <a:ext uri="{FF2B5EF4-FFF2-40B4-BE49-F238E27FC236}">
                <a16:creationId xmlns:a16="http://schemas.microsoft.com/office/drawing/2014/main" id="{99CA5DD3-F42A-0935-2158-F288668ACA30}"/>
              </a:ext>
            </a:extLst>
          </p:cNvPr>
          <p:cNvGraphicFramePr>
            <a:graphicFrameLocks noGrp="1"/>
          </p:cNvGraphicFramePr>
          <p:nvPr>
            <p:extLst>
              <p:ext uri="{D42A27DB-BD31-4B8C-83A1-F6EECF244321}">
                <p14:modId xmlns:p14="http://schemas.microsoft.com/office/powerpoint/2010/main" val="1508496428"/>
              </p:ext>
            </p:extLst>
          </p:nvPr>
        </p:nvGraphicFramePr>
        <p:xfrm>
          <a:off x="3750115" y="4693257"/>
          <a:ext cx="8051913" cy="1709520"/>
        </p:xfrm>
        <a:graphic>
          <a:graphicData uri="http://schemas.openxmlformats.org/drawingml/2006/table">
            <a:tbl>
              <a:tblPr firstRow="1" bandRow="1">
                <a:tableStyleId>{EC741567-8280-421E-8F88-9B89CA1CAF18}</a:tableStyleId>
              </a:tblPr>
              <a:tblGrid>
                <a:gridCol w="906945">
                  <a:extLst>
                    <a:ext uri="{9D8B030D-6E8A-4147-A177-3AD203B41FA5}">
                      <a16:colId xmlns:a16="http://schemas.microsoft.com/office/drawing/2014/main" val="1400884491"/>
                    </a:ext>
                  </a:extLst>
                </a:gridCol>
                <a:gridCol w="3572484">
                  <a:extLst>
                    <a:ext uri="{9D8B030D-6E8A-4147-A177-3AD203B41FA5}">
                      <a16:colId xmlns:a16="http://schemas.microsoft.com/office/drawing/2014/main" val="4051275666"/>
                    </a:ext>
                  </a:extLst>
                </a:gridCol>
                <a:gridCol w="3572484">
                  <a:extLst>
                    <a:ext uri="{9D8B030D-6E8A-4147-A177-3AD203B41FA5}">
                      <a16:colId xmlns:a16="http://schemas.microsoft.com/office/drawing/2014/main" val="1230332924"/>
                    </a:ext>
                  </a:extLst>
                </a:gridCol>
              </a:tblGrid>
              <a:tr h="216000">
                <a:tc>
                  <a:txBody>
                    <a:bodyPr/>
                    <a:lstStyle/>
                    <a:p>
                      <a:r>
                        <a:rPr lang="en-GB" sz="1050" b="1" dirty="0">
                          <a:solidFill>
                            <a:schemeClr val="tx1"/>
                          </a:solidFill>
                        </a:rPr>
                        <a:t>Dimension </a:t>
                      </a:r>
                    </a:p>
                  </a:txBody>
                  <a:tcPr marR="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2"/>
                    </a:solidFill>
                  </a:tcPr>
                </a:tc>
                <a:tc>
                  <a:txBody>
                    <a:bodyPr/>
                    <a:lstStyle/>
                    <a:p>
                      <a:r>
                        <a:rPr lang="en-GB" sz="1050" b="1" dirty="0">
                          <a:solidFill>
                            <a:schemeClr val="tx1"/>
                          </a:solidFill>
                        </a:rPr>
                        <a:t>What It Covers </a:t>
                      </a:r>
                    </a:p>
                  </a:txBody>
                  <a:tcPr marR="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2"/>
                    </a:solidFill>
                  </a:tcPr>
                </a:tc>
                <a:tc>
                  <a:txBody>
                    <a:bodyPr/>
                    <a:lstStyle/>
                    <a:p>
                      <a:r>
                        <a:rPr lang="en-GB" sz="1050" b="1" dirty="0">
                          <a:solidFill>
                            <a:schemeClr val="tx1"/>
                          </a:solidFill>
                        </a:rPr>
                        <a:t>Example </a:t>
                      </a:r>
                    </a:p>
                  </a:txBody>
                  <a:tcPr marR="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097204651"/>
                  </a:ext>
                </a:extLst>
              </a:tr>
              <a:tr h="449379">
                <a:tc>
                  <a:txBody>
                    <a:bodyPr/>
                    <a:lstStyle/>
                    <a:p>
                      <a:r>
                        <a:rPr lang="en-SK" sz="1000" b="1" dirty="0">
                          <a:solidFill>
                            <a:schemeClr val="tx1"/>
                          </a:solidFill>
                        </a:rPr>
                        <a:t>People</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solidFill>
                            <a:schemeClr val="tx1"/>
                          </a:solidFill>
                        </a:rPr>
                        <a:t>Roles, reporting lines (direct &amp; dotted) across Prague, Poland, Spain; PDLC (Products &amp; Tech), SSC Operations, SSC RM for JVs, Customer/JV</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solidFill>
                            <a:schemeClr val="tx1"/>
                          </a:solidFill>
                        </a:rPr>
                        <a:t>Who is Responsible for KYC onboarding in Prague vs. who is Accountable in the JV business unit? </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6491965"/>
                  </a:ext>
                </a:extLst>
              </a:tr>
              <a:tr h="449379">
                <a:tc>
                  <a:txBody>
                    <a:bodyPr/>
                    <a:lstStyle/>
                    <a:p>
                      <a:r>
                        <a:rPr lang="en-SK" sz="1000" b="1" dirty="0">
                          <a:solidFill>
                            <a:schemeClr val="tx1"/>
                          </a:solidFill>
                        </a:rPr>
                        <a:t>Process</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a:solidFill>
                            <a:schemeClr val="tx1"/>
                          </a:solidFill>
                        </a:rPr>
                        <a:t>End-to-end </a:t>
                      </a:r>
                      <a:r>
                        <a:rPr lang="en-GB" sz="1000" dirty="0">
                          <a:solidFill>
                            <a:schemeClr val="tx1"/>
                          </a:solidFill>
                        </a:rPr>
                        <a:t>service delivery processes (KYC, Fraud Investigation &amp; Prevention, Dispute Management, Risk Monitoring, Tech Development)</a:t>
                      </a:r>
                      <a:endParaRPr lang="en-SK" sz="10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solidFill>
                            <a:schemeClr val="tx1"/>
                          </a:solidFill>
                        </a:rPr>
                        <a:t>Who is Consulted when a dispute SLA is breached? Who is Informed?</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3403503"/>
                  </a:ext>
                </a:extLst>
              </a:tr>
              <a:tr h="324551">
                <a:tc>
                  <a:txBody>
                    <a:bodyPr/>
                    <a:lstStyle/>
                    <a:p>
                      <a:r>
                        <a:rPr lang="en-SK" sz="1000" b="1" dirty="0">
                          <a:solidFill>
                            <a:schemeClr val="tx1"/>
                          </a:solidFill>
                        </a:rPr>
                        <a:t>Technology</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2"/>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GB" sz="1000" dirty="0">
                          <a:solidFill>
                            <a:schemeClr val="tx1"/>
                          </a:solidFill>
                        </a:rPr>
                        <a:t>System ownership, data stewardship, platform decisions, automation roadmap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2"/>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GB" sz="1000" dirty="0">
                          <a:solidFill>
                            <a:schemeClr val="tx1"/>
                          </a:solidFill>
                        </a:rPr>
                        <a:t>Who is Accountable for the fraud detection platform roadmap within PDLC (Products &amp; Tech)?</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2"/>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45010229"/>
                  </a:ext>
                </a:extLst>
              </a:tr>
            </a:tbl>
          </a:graphicData>
        </a:graphic>
      </p:graphicFrame>
      <p:sp>
        <p:nvSpPr>
          <p:cNvPr id="30" name="TextBox 29">
            <a:extLst>
              <a:ext uri="{FF2B5EF4-FFF2-40B4-BE49-F238E27FC236}">
                <a16:creationId xmlns:a16="http://schemas.microsoft.com/office/drawing/2014/main" id="{B2FB8D0D-5AA2-885F-661C-84ECFF5C89C4}"/>
              </a:ext>
            </a:extLst>
          </p:cNvPr>
          <p:cNvSpPr txBox="1"/>
          <p:nvPr/>
        </p:nvSpPr>
        <p:spPr>
          <a:xfrm>
            <a:off x="3750114" y="4374916"/>
            <a:ext cx="8051911" cy="276999"/>
          </a:xfrm>
          <a:prstGeom prst="rect">
            <a:avLst/>
          </a:prstGeom>
          <a:noFill/>
        </p:spPr>
        <p:txBody>
          <a:bodyPr wrap="square" lIns="0">
            <a:spAutoFit/>
          </a:bodyPr>
          <a:lstStyle/>
          <a:p>
            <a:pPr>
              <a:buNone/>
            </a:pPr>
            <a:r>
              <a:rPr lang="en-GB" sz="1200" b="1" dirty="0">
                <a:effectLst/>
                <a:latin typeface="Arial" panose="020B0604020202020204" pitchFamily="34" charset="0"/>
                <a:cs typeface="Arial" panose="020B0604020202020204" pitchFamily="34" charset="0"/>
              </a:rPr>
              <a:t>PwC’s 3D RACI Methodology </a:t>
            </a:r>
          </a:p>
        </p:txBody>
      </p:sp>
    </p:spTree>
    <p:extLst>
      <p:ext uri="{BB962C8B-B14F-4D97-AF65-F5344CB8AC3E}">
        <p14:creationId xmlns:p14="http://schemas.microsoft.com/office/powerpoint/2010/main" val="44841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F02E82-A8BF-B47C-6FE0-61AB65B03F01}"/>
              </a:ext>
            </a:extLst>
          </p:cNvPr>
          <p:cNvSpPr/>
          <p:nvPr/>
        </p:nvSpPr>
        <p:spPr>
          <a:xfrm>
            <a:off x="0" y="0"/>
            <a:ext cx="5076966" cy="685800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K"/>
          </a:p>
        </p:txBody>
      </p:sp>
      <p:sp>
        <p:nvSpPr>
          <p:cNvPr id="2" name="Title 1">
            <a:extLst>
              <a:ext uri="{FF2B5EF4-FFF2-40B4-BE49-F238E27FC236}">
                <a16:creationId xmlns:a16="http://schemas.microsoft.com/office/drawing/2014/main" id="{5BE098B7-FABF-21E4-251D-BAFA6364F9DA}"/>
              </a:ext>
            </a:extLst>
          </p:cNvPr>
          <p:cNvSpPr>
            <a:spLocks noGrp="1"/>
          </p:cNvSpPr>
          <p:nvPr>
            <p:ph type="title"/>
          </p:nvPr>
        </p:nvSpPr>
        <p:spPr>
          <a:xfrm>
            <a:off x="402335" y="402336"/>
            <a:ext cx="4517137" cy="915289"/>
          </a:xfrm>
        </p:spPr>
        <p:txBody>
          <a:bodyPr/>
          <a:lstStyle/>
          <a:p>
            <a:r>
              <a:rPr lang="en-GB" dirty="0"/>
              <a:t>Workstream 1: RACI Matrix &amp; Governance Model (2/2)</a:t>
            </a:r>
            <a:br>
              <a:rPr lang="en-GB" dirty="0"/>
            </a:br>
            <a:r>
              <a:rPr lang="en-GB" sz="1600" dirty="0">
                <a:latin typeface="Arial" panose="020B0604020202020204" pitchFamily="34" charset="0"/>
                <a:cs typeface="Arial" panose="020B0604020202020204" pitchFamily="34" charset="0"/>
              </a:rPr>
              <a:t>Making RACI Operational — Not Shelfware</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C61C00EB-BC87-70B3-CA5D-B67937D0D8FE}"/>
              </a:ext>
            </a:extLst>
          </p:cNvPr>
          <p:cNvSpPr>
            <a:spLocks noGrp="1"/>
          </p:cNvSpPr>
          <p:nvPr>
            <p:ph type="ftr" sz="quarter" idx="3"/>
          </p:nvPr>
        </p:nvSpPr>
        <p:spPr>
          <a:xfrm>
            <a:off x="5866304" y="6497441"/>
            <a:ext cx="5400000" cy="161583"/>
          </a:xfrm>
        </p:spPr>
        <p:txBody>
          <a:bodyPr/>
          <a:lstStyle/>
          <a:p>
            <a:r>
              <a:rPr lang="en-GB" dirty="0"/>
              <a:t>Proposal for Global Payments Prague Shared Service </a:t>
            </a:r>
            <a:r>
              <a:rPr lang="en-GB" dirty="0" err="1"/>
              <a:t>Center</a:t>
            </a:r>
            <a:r>
              <a:rPr lang="en-GB" dirty="0"/>
              <a:t> Transformation</a:t>
            </a:r>
            <a:endParaRPr lang="en-US" dirty="0"/>
          </a:p>
        </p:txBody>
      </p:sp>
      <p:sp>
        <p:nvSpPr>
          <p:cNvPr id="4" name="Slide Number Placeholder 3">
            <a:extLst>
              <a:ext uri="{FF2B5EF4-FFF2-40B4-BE49-F238E27FC236}">
                <a16:creationId xmlns:a16="http://schemas.microsoft.com/office/drawing/2014/main" id="{4A1B8A58-BEEB-42F2-62BE-854FE25E6952}"/>
              </a:ext>
            </a:extLst>
          </p:cNvPr>
          <p:cNvSpPr>
            <a:spLocks noGrp="1"/>
          </p:cNvSpPr>
          <p:nvPr>
            <p:ph type="sldNum" sz="quarter" idx="4"/>
          </p:nvPr>
        </p:nvSpPr>
        <p:spPr/>
        <p:txBody>
          <a:bodyPr/>
          <a:lstStyle/>
          <a:p>
            <a:fld id="{3E6AC032-1535-134B-A583-D5E1DDD0D167}" type="slidenum">
              <a:rPr lang="en-US" smtClean="0"/>
              <a:pPr/>
              <a:t>18</a:t>
            </a:fld>
            <a:endParaRPr lang="en-US"/>
          </a:p>
        </p:txBody>
      </p:sp>
      <p:sp>
        <p:nvSpPr>
          <p:cNvPr id="5" name="TextBox 4">
            <a:extLst>
              <a:ext uri="{FF2B5EF4-FFF2-40B4-BE49-F238E27FC236}">
                <a16:creationId xmlns:a16="http://schemas.microsoft.com/office/drawing/2014/main" id="{4B7E058E-7DE9-5474-9536-5A2CDFD4C5A8}"/>
              </a:ext>
            </a:extLst>
          </p:cNvPr>
          <p:cNvSpPr txBox="1"/>
          <p:nvPr/>
        </p:nvSpPr>
        <p:spPr>
          <a:xfrm>
            <a:off x="1224930" y="3113583"/>
            <a:ext cx="3678221" cy="3434349"/>
          </a:xfrm>
          <a:prstGeom prst="rect">
            <a:avLst/>
          </a:prstGeom>
          <a:noFill/>
        </p:spPr>
        <p:txBody>
          <a:bodyPr wrap="square" lIns="0" tIns="0" rIns="0" bIns="0" rtlCol="0">
            <a:noAutofit/>
          </a:bodyPr>
          <a:lstStyle/>
          <a:p>
            <a:r>
              <a:rPr lang="en-GB" sz="1200" b="1" dirty="0"/>
              <a:t>Dual-Axis RACI</a:t>
            </a:r>
            <a:r>
              <a:rPr lang="en-GB" sz="1200" dirty="0"/>
              <a:t> — For each process/service, </a:t>
            </a:r>
            <a:br>
              <a:rPr lang="en-GB" sz="1200" dirty="0"/>
            </a:br>
            <a:r>
              <a:rPr lang="en-GB" sz="1200" dirty="0"/>
              <a:t>the RACI explicitly shows both the </a:t>
            </a:r>
            <a:r>
              <a:rPr lang="en-GB" sz="1200" i="1" dirty="0"/>
              <a:t>functional</a:t>
            </a:r>
            <a:r>
              <a:rPr lang="en-GB" sz="1200" dirty="0"/>
              <a:t> accountability (Prague SSC) and </a:t>
            </a:r>
            <a:r>
              <a:rPr lang="en-GB" sz="1200" i="1" dirty="0"/>
              <a:t>business line</a:t>
            </a:r>
            <a:r>
              <a:rPr lang="en-GB" sz="1200" dirty="0"/>
              <a:t> accountability (country/product group)</a:t>
            </a:r>
          </a:p>
          <a:p>
            <a:endParaRPr lang="en-GB" sz="1200" dirty="0"/>
          </a:p>
          <a:p>
            <a:r>
              <a:rPr lang="en-GB" sz="1200" b="1" dirty="0"/>
              <a:t>Conflict Resolution Protocol</a:t>
            </a:r>
            <a:r>
              <a:rPr lang="en-GB" sz="1200" dirty="0"/>
              <a:t> — Where RACI reveals two groups claiming "A", PwC facilitates resolution workshops with a structured decision framework</a:t>
            </a:r>
          </a:p>
          <a:p>
            <a:endParaRPr lang="en-GB" sz="1200" dirty="0"/>
          </a:p>
          <a:p>
            <a:r>
              <a:rPr lang="en-GB" sz="1200" b="1" dirty="0"/>
              <a:t>Business Partner as Alignment Broker</a:t>
            </a:r>
            <a:r>
              <a:rPr lang="en-GB" sz="1200" dirty="0"/>
              <a:t> (WS2) — BPs serve as the ongoing mechanism to keep direct and dotted-line stakeholders aligned</a:t>
            </a:r>
          </a:p>
          <a:p>
            <a:endParaRPr lang="en-GB" sz="1200" dirty="0"/>
          </a:p>
          <a:p>
            <a:r>
              <a:rPr lang="en-GB" sz="1200" b="1" dirty="0"/>
              <a:t>Governance Forum</a:t>
            </a:r>
            <a:r>
              <a:rPr lang="en-GB" sz="1200" dirty="0"/>
              <a:t> — Quarterly session where RACI conflicts are surfaced and resolved </a:t>
            </a:r>
            <a:br>
              <a:rPr lang="en-GB" sz="1200" dirty="0"/>
            </a:br>
            <a:r>
              <a:rPr lang="en-GB" sz="1200" dirty="0"/>
              <a:t>at leadership level</a:t>
            </a:r>
          </a:p>
        </p:txBody>
      </p:sp>
      <p:sp>
        <p:nvSpPr>
          <p:cNvPr id="6" name="TextBox 5">
            <a:extLst>
              <a:ext uri="{FF2B5EF4-FFF2-40B4-BE49-F238E27FC236}">
                <a16:creationId xmlns:a16="http://schemas.microsoft.com/office/drawing/2014/main" id="{18ADEC73-8AD6-5D37-605D-FF153913B078}"/>
              </a:ext>
            </a:extLst>
          </p:cNvPr>
          <p:cNvSpPr txBox="1"/>
          <p:nvPr/>
        </p:nvSpPr>
        <p:spPr>
          <a:xfrm>
            <a:off x="389974" y="1694075"/>
            <a:ext cx="4513177" cy="1108445"/>
          </a:xfrm>
          <a:prstGeom prst="rect">
            <a:avLst/>
          </a:prstGeom>
          <a:noFill/>
        </p:spPr>
        <p:txBody>
          <a:bodyPr wrap="square" lIns="0">
            <a:spAutoFit/>
          </a:bodyPr>
          <a:lstStyle/>
          <a:p>
            <a:pPr algn="l">
              <a:lnSpc>
                <a:spcPct val="125000"/>
              </a:lnSpc>
              <a:spcAft>
                <a:spcPts val="600"/>
              </a:spcAft>
            </a:pPr>
            <a:r>
              <a:rPr lang="en-GB" b="1" dirty="0">
                <a:latin typeface="+mn-lt"/>
              </a:rPr>
              <a:t>Addressing the Direct vs. Dotted-Line Complexity</a:t>
            </a:r>
          </a:p>
          <a:p>
            <a:pPr>
              <a:lnSpc>
                <a:spcPct val="125000"/>
              </a:lnSpc>
              <a:spcAft>
                <a:spcPts val="1200"/>
              </a:spcAft>
            </a:pPr>
            <a:r>
              <a:rPr lang="en-GB" sz="1200" dirty="0"/>
              <a:t>The Prague SSC has people with direct reporting lines to Prague leadership and dotted lines to other countries and locations (&amp; vice versa). PwC addresses this through:</a:t>
            </a:r>
            <a:endParaRPr lang="en-US" b="1" dirty="0">
              <a:latin typeface="+mn-lt"/>
            </a:endParaRPr>
          </a:p>
        </p:txBody>
      </p:sp>
      <p:cxnSp>
        <p:nvCxnSpPr>
          <p:cNvPr id="16" name="Straight Connector 15">
            <a:extLst>
              <a:ext uri="{FF2B5EF4-FFF2-40B4-BE49-F238E27FC236}">
                <a16:creationId xmlns:a16="http://schemas.microsoft.com/office/drawing/2014/main" id="{75AD5D64-FC6A-3EA5-169D-507E9FC0A192}"/>
              </a:ext>
            </a:extLst>
          </p:cNvPr>
          <p:cNvCxnSpPr>
            <a:cxnSpLocks/>
          </p:cNvCxnSpPr>
          <p:nvPr/>
        </p:nvCxnSpPr>
        <p:spPr>
          <a:xfrm>
            <a:off x="5305486" y="3814969"/>
            <a:ext cx="6496540" cy="0"/>
          </a:xfrm>
          <a:prstGeom prst="line">
            <a:avLst/>
          </a:prstGeom>
          <a:ln/>
        </p:spPr>
        <p:style>
          <a:lnRef idx="1">
            <a:schemeClr val="accent2"/>
          </a:lnRef>
          <a:fillRef idx="0">
            <a:schemeClr val="accent2"/>
          </a:fillRef>
          <a:effectRef idx="0">
            <a:schemeClr val="accent2"/>
          </a:effectRef>
          <a:fontRef idx="minor">
            <a:schemeClr val="tx1"/>
          </a:fontRef>
        </p:style>
      </p:cxnSp>
      <p:grpSp>
        <p:nvGrpSpPr>
          <p:cNvPr id="7" name="Group 6">
            <a:extLst>
              <a:ext uri="{FF2B5EF4-FFF2-40B4-BE49-F238E27FC236}">
                <a16:creationId xmlns:a16="http://schemas.microsoft.com/office/drawing/2014/main" id="{9282429C-2F57-6A6D-83E5-ECA6834D1FDF}"/>
              </a:ext>
            </a:extLst>
          </p:cNvPr>
          <p:cNvGrpSpPr/>
          <p:nvPr/>
        </p:nvGrpSpPr>
        <p:grpSpPr>
          <a:xfrm>
            <a:off x="5267121" y="3972387"/>
            <a:ext cx="6534905" cy="2392165"/>
            <a:chOff x="5076967" y="4249880"/>
            <a:chExt cx="6725060" cy="2392165"/>
          </a:xfrm>
        </p:grpSpPr>
        <p:sp>
          <p:nvSpPr>
            <p:cNvPr id="11" name="TextBox 10">
              <a:extLst>
                <a:ext uri="{FF2B5EF4-FFF2-40B4-BE49-F238E27FC236}">
                  <a16:creationId xmlns:a16="http://schemas.microsoft.com/office/drawing/2014/main" id="{33A3E31F-B966-490D-4CC2-A83888F4725C}"/>
                </a:ext>
              </a:extLst>
            </p:cNvPr>
            <p:cNvSpPr txBox="1"/>
            <p:nvPr/>
          </p:nvSpPr>
          <p:spPr>
            <a:xfrm>
              <a:off x="9226279" y="4904973"/>
              <a:ext cx="1214389" cy="1737072"/>
            </a:xfrm>
            <a:prstGeom prst="rect">
              <a:avLst/>
            </a:prstGeom>
            <a:noFill/>
          </p:spPr>
          <p:txBody>
            <a:bodyPr wrap="square" lIns="91440" tIns="0" rIns="0" bIns="0" rtlCol="0">
              <a:noAutofit/>
            </a:bodyPr>
            <a:lstStyle/>
            <a:p>
              <a:pPr algn="l">
                <a:spcAft>
                  <a:spcPts val="600"/>
                </a:spcAft>
              </a:pPr>
              <a:r>
                <a:rPr lang="en-GB" sz="1200" b="1" dirty="0"/>
                <a:t>Straight-Through Processing (STP)</a:t>
              </a:r>
            </a:p>
            <a:p>
              <a:pPr>
                <a:spcAft>
                  <a:spcPts val="600"/>
                </a:spcAft>
              </a:pPr>
              <a:r>
                <a:rPr lang="en-US" sz="1200" dirty="0"/>
                <a:t>End-to-end automation for PO-backed invoices</a:t>
              </a:r>
              <a:endParaRPr lang="en-GB" sz="1200" dirty="0"/>
            </a:p>
          </p:txBody>
        </p:sp>
        <p:sp>
          <p:nvSpPr>
            <p:cNvPr id="12" name="TextBox 11">
              <a:extLst>
                <a:ext uri="{FF2B5EF4-FFF2-40B4-BE49-F238E27FC236}">
                  <a16:creationId xmlns:a16="http://schemas.microsoft.com/office/drawing/2014/main" id="{8F054267-AC51-B395-8460-F1E445EDD1CE}"/>
                </a:ext>
              </a:extLst>
            </p:cNvPr>
            <p:cNvSpPr txBox="1"/>
            <p:nvPr/>
          </p:nvSpPr>
          <p:spPr>
            <a:xfrm>
              <a:off x="7839602" y="4904973"/>
              <a:ext cx="1214388" cy="1737072"/>
            </a:xfrm>
            <a:prstGeom prst="rect">
              <a:avLst/>
            </a:prstGeom>
            <a:noFill/>
          </p:spPr>
          <p:txBody>
            <a:bodyPr wrap="square" lIns="91440" tIns="0" rIns="0" bIns="0" rtlCol="0">
              <a:noAutofit/>
            </a:bodyPr>
            <a:lstStyle/>
            <a:p>
              <a:pPr algn="l">
                <a:spcAft>
                  <a:spcPts val="600"/>
                </a:spcAft>
              </a:pPr>
              <a:r>
                <a:rPr lang="en-GB" sz="1200" b="1" dirty="0"/>
                <a:t>Exception-Based Processing</a:t>
              </a:r>
            </a:p>
            <a:p>
              <a:pPr>
                <a:spcAft>
                  <a:spcPts val="600"/>
                </a:spcAft>
              </a:pPr>
              <a:r>
                <a:rPr lang="en-US" sz="1200" dirty="0"/>
                <a:t>Human intervention only for outliers</a:t>
              </a:r>
              <a:endParaRPr lang="en-GB" sz="1200" dirty="0"/>
            </a:p>
          </p:txBody>
        </p:sp>
        <p:sp>
          <p:nvSpPr>
            <p:cNvPr id="13" name="TextBox 12">
              <a:extLst>
                <a:ext uri="{FF2B5EF4-FFF2-40B4-BE49-F238E27FC236}">
                  <a16:creationId xmlns:a16="http://schemas.microsoft.com/office/drawing/2014/main" id="{83CAA4E2-7E2F-7020-830C-BE6B07BD28D8}"/>
                </a:ext>
              </a:extLst>
            </p:cNvPr>
            <p:cNvSpPr txBox="1"/>
            <p:nvPr/>
          </p:nvSpPr>
          <p:spPr>
            <a:xfrm>
              <a:off x="6465170" y="4904973"/>
              <a:ext cx="1214388" cy="1737072"/>
            </a:xfrm>
            <a:prstGeom prst="rect">
              <a:avLst/>
            </a:prstGeom>
            <a:noFill/>
          </p:spPr>
          <p:txBody>
            <a:bodyPr wrap="square" lIns="91440" tIns="0" rIns="0" bIns="0" rtlCol="0">
              <a:noAutofit/>
            </a:bodyPr>
            <a:lstStyle/>
            <a:p>
              <a:pPr algn="l">
                <a:spcAft>
                  <a:spcPts val="600"/>
                </a:spcAft>
              </a:pPr>
              <a:r>
                <a:rPr lang="en-GB" sz="1200" b="1" dirty="0"/>
                <a:t>Three-Way Matching Automation</a:t>
              </a:r>
            </a:p>
            <a:p>
              <a:pPr>
                <a:spcAft>
                  <a:spcPts val="600"/>
                </a:spcAft>
              </a:pPr>
              <a:r>
                <a:rPr lang="en-GB" sz="1200" dirty="0"/>
                <a:t>PO, Receipt, Invoice matching</a:t>
              </a:r>
            </a:p>
          </p:txBody>
        </p:sp>
        <p:sp>
          <p:nvSpPr>
            <p:cNvPr id="14" name="TextBox 13">
              <a:extLst>
                <a:ext uri="{FF2B5EF4-FFF2-40B4-BE49-F238E27FC236}">
                  <a16:creationId xmlns:a16="http://schemas.microsoft.com/office/drawing/2014/main" id="{BD153070-1089-4FD3-7897-9D0D82ECB867}"/>
                </a:ext>
              </a:extLst>
            </p:cNvPr>
            <p:cNvSpPr txBox="1"/>
            <p:nvPr/>
          </p:nvSpPr>
          <p:spPr>
            <a:xfrm>
              <a:off x="5076967" y="4904973"/>
              <a:ext cx="1214388" cy="1737072"/>
            </a:xfrm>
            <a:prstGeom prst="rect">
              <a:avLst/>
            </a:prstGeom>
            <a:noFill/>
          </p:spPr>
          <p:txBody>
            <a:bodyPr wrap="square" lIns="91440" tIns="0" rIns="0" bIns="0" rtlCol="0">
              <a:noAutofit/>
            </a:bodyPr>
            <a:lstStyle/>
            <a:p>
              <a:pPr algn="l">
                <a:spcAft>
                  <a:spcPts val="600"/>
                </a:spcAft>
              </a:pPr>
              <a:r>
                <a:rPr lang="en-GB" sz="1200" b="1" dirty="0"/>
                <a:t>Centralized intake</a:t>
              </a:r>
            </a:p>
            <a:p>
              <a:pPr>
                <a:spcAft>
                  <a:spcPts val="600"/>
                </a:spcAft>
              </a:pPr>
              <a:r>
                <a:rPr lang="en-US" sz="1200" dirty="0"/>
                <a:t>Single point of invoice submission replacing multiple email addresses</a:t>
              </a:r>
              <a:endParaRPr lang="en-GB" sz="1200" dirty="0"/>
            </a:p>
          </p:txBody>
        </p:sp>
        <p:sp>
          <p:nvSpPr>
            <p:cNvPr id="15" name="TextBox 14">
              <a:extLst>
                <a:ext uri="{FF2B5EF4-FFF2-40B4-BE49-F238E27FC236}">
                  <a16:creationId xmlns:a16="http://schemas.microsoft.com/office/drawing/2014/main" id="{7D4348CC-A377-C8C8-E62A-13E1EA2B7D3D}"/>
                </a:ext>
              </a:extLst>
            </p:cNvPr>
            <p:cNvSpPr txBox="1"/>
            <p:nvPr/>
          </p:nvSpPr>
          <p:spPr>
            <a:xfrm>
              <a:off x="10587639" y="4904973"/>
              <a:ext cx="1214388" cy="1737072"/>
            </a:xfrm>
            <a:prstGeom prst="rect">
              <a:avLst/>
            </a:prstGeom>
            <a:noFill/>
          </p:spPr>
          <p:txBody>
            <a:bodyPr wrap="square" lIns="91440" tIns="0" rIns="0" bIns="0" rtlCol="0">
              <a:noAutofit/>
            </a:bodyPr>
            <a:lstStyle/>
            <a:p>
              <a:pPr algn="l">
                <a:spcAft>
                  <a:spcPts val="600"/>
                </a:spcAft>
              </a:pPr>
              <a:r>
                <a:rPr lang="en-GB" sz="1200" b="1" dirty="0"/>
                <a:t>Continuous Vendor Management</a:t>
              </a:r>
            </a:p>
            <a:p>
              <a:pPr>
                <a:spcAft>
                  <a:spcPts val="600"/>
                </a:spcAft>
              </a:pPr>
              <a:r>
                <a:rPr lang="en-GB" sz="1200" dirty="0"/>
                <a:t>Proactive communication &amp; relationship building</a:t>
              </a:r>
            </a:p>
          </p:txBody>
        </p:sp>
        <p:sp>
          <p:nvSpPr>
            <p:cNvPr id="17" name="TextBox 16">
              <a:extLst>
                <a:ext uri="{FF2B5EF4-FFF2-40B4-BE49-F238E27FC236}">
                  <a16:creationId xmlns:a16="http://schemas.microsoft.com/office/drawing/2014/main" id="{68185BC2-CF4F-E298-65C0-1C3FAF49B99E}"/>
                </a:ext>
              </a:extLst>
            </p:cNvPr>
            <p:cNvSpPr txBox="1"/>
            <p:nvPr/>
          </p:nvSpPr>
          <p:spPr>
            <a:xfrm>
              <a:off x="9226279" y="4249880"/>
              <a:ext cx="1214389" cy="521149"/>
            </a:xfrm>
            <a:prstGeom prst="rect">
              <a:avLst/>
            </a:prstGeom>
            <a:noFill/>
          </p:spPr>
          <p:txBody>
            <a:bodyPr wrap="square" lIns="91440" tIns="0" rIns="0" bIns="0" rtlCol="0">
              <a:noAutofit/>
            </a:bodyPr>
            <a:lstStyle/>
            <a:p>
              <a:pPr algn="l">
                <a:spcAft>
                  <a:spcPts val="600"/>
                </a:spcAft>
              </a:pPr>
              <a:r>
                <a:rPr lang="en-US" sz="3200" dirty="0">
                  <a:solidFill>
                    <a:schemeClr val="accent1"/>
                  </a:solidFill>
                </a:rPr>
                <a:t>04</a:t>
              </a:r>
              <a:endParaRPr lang="en-GB" sz="3200" dirty="0">
                <a:solidFill>
                  <a:schemeClr val="accent1"/>
                </a:solidFill>
              </a:endParaRPr>
            </a:p>
          </p:txBody>
        </p:sp>
        <p:sp>
          <p:nvSpPr>
            <p:cNvPr id="18" name="TextBox 17">
              <a:extLst>
                <a:ext uri="{FF2B5EF4-FFF2-40B4-BE49-F238E27FC236}">
                  <a16:creationId xmlns:a16="http://schemas.microsoft.com/office/drawing/2014/main" id="{EE1AF98C-4399-263B-77D2-A842807695B9}"/>
                </a:ext>
              </a:extLst>
            </p:cNvPr>
            <p:cNvSpPr txBox="1"/>
            <p:nvPr/>
          </p:nvSpPr>
          <p:spPr>
            <a:xfrm>
              <a:off x="7839602" y="4249880"/>
              <a:ext cx="1214388" cy="521149"/>
            </a:xfrm>
            <a:prstGeom prst="rect">
              <a:avLst/>
            </a:prstGeom>
            <a:noFill/>
          </p:spPr>
          <p:txBody>
            <a:bodyPr wrap="square" lIns="91440" tIns="0" rIns="0" bIns="0" rtlCol="0">
              <a:noAutofit/>
            </a:bodyPr>
            <a:lstStyle/>
            <a:p>
              <a:pPr algn="l">
                <a:spcAft>
                  <a:spcPts val="600"/>
                </a:spcAft>
              </a:pPr>
              <a:r>
                <a:rPr lang="en-US" sz="3200" dirty="0">
                  <a:solidFill>
                    <a:schemeClr val="accent1"/>
                  </a:solidFill>
                </a:rPr>
                <a:t>03</a:t>
              </a:r>
              <a:endParaRPr lang="en-GB" sz="3200" dirty="0">
                <a:solidFill>
                  <a:schemeClr val="accent1"/>
                </a:solidFill>
              </a:endParaRPr>
            </a:p>
          </p:txBody>
        </p:sp>
        <p:sp>
          <p:nvSpPr>
            <p:cNvPr id="19" name="TextBox 18">
              <a:extLst>
                <a:ext uri="{FF2B5EF4-FFF2-40B4-BE49-F238E27FC236}">
                  <a16:creationId xmlns:a16="http://schemas.microsoft.com/office/drawing/2014/main" id="{67E1FE49-52F8-764A-E83D-C9CE10404857}"/>
                </a:ext>
              </a:extLst>
            </p:cNvPr>
            <p:cNvSpPr txBox="1"/>
            <p:nvPr/>
          </p:nvSpPr>
          <p:spPr>
            <a:xfrm>
              <a:off x="6465170" y="4249880"/>
              <a:ext cx="1214388" cy="521149"/>
            </a:xfrm>
            <a:prstGeom prst="rect">
              <a:avLst/>
            </a:prstGeom>
            <a:noFill/>
          </p:spPr>
          <p:txBody>
            <a:bodyPr wrap="square" lIns="91440" tIns="0" rIns="0" bIns="0" rtlCol="0">
              <a:noAutofit/>
            </a:bodyPr>
            <a:lstStyle/>
            <a:p>
              <a:pPr algn="l">
                <a:spcAft>
                  <a:spcPts val="600"/>
                </a:spcAft>
              </a:pPr>
              <a:r>
                <a:rPr lang="en-GB" sz="3200" dirty="0">
                  <a:solidFill>
                    <a:schemeClr val="accent1"/>
                  </a:solidFill>
                </a:rPr>
                <a:t>02</a:t>
              </a:r>
            </a:p>
          </p:txBody>
        </p:sp>
        <p:sp>
          <p:nvSpPr>
            <p:cNvPr id="20" name="TextBox 19">
              <a:extLst>
                <a:ext uri="{FF2B5EF4-FFF2-40B4-BE49-F238E27FC236}">
                  <a16:creationId xmlns:a16="http://schemas.microsoft.com/office/drawing/2014/main" id="{36ECB422-6CDC-F0A6-E92E-AB3FF5A7BC8C}"/>
                </a:ext>
              </a:extLst>
            </p:cNvPr>
            <p:cNvSpPr txBox="1"/>
            <p:nvPr/>
          </p:nvSpPr>
          <p:spPr>
            <a:xfrm>
              <a:off x="5076967" y="4249880"/>
              <a:ext cx="1214388" cy="521149"/>
            </a:xfrm>
            <a:prstGeom prst="rect">
              <a:avLst/>
            </a:prstGeom>
            <a:noFill/>
          </p:spPr>
          <p:txBody>
            <a:bodyPr wrap="square" lIns="91440" tIns="0" rIns="0" bIns="0" rtlCol="0">
              <a:noAutofit/>
            </a:bodyPr>
            <a:lstStyle/>
            <a:p>
              <a:pPr algn="l">
                <a:spcAft>
                  <a:spcPts val="600"/>
                </a:spcAft>
              </a:pPr>
              <a:r>
                <a:rPr lang="en-US" sz="3200" dirty="0">
                  <a:solidFill>
                    <a:schemeClr val="accent1"/>
                  </a:solidFill>
                </a:rPr>
                <a:t>01</a:t>
              </a:r>
              <a:endParaRPr lang="en-GB" sz="3200" dirty="0">
                <a:solidFill>
                  <a:schemeClr val="accent1"/>
                </a:solidFill>
              </a:endParaRPr>
            </a:p>
          </p:txBody>
        </p:sp>
        <p:sp>
          <p:nvSpPr>
            <p:cNvPr id="21" name="TextBox 20">
              <a:extLst>
                <a:ext uri="{FF2B5EF4-FFF2-40B4-BE49-F238E27FC236}">
                  <a16:creationId xmlns:a16="http://schemas.microsoft.com/office/drawing/2014/main" id="{E2F70292-C68B-1A4D-666B-A4A5416A1F90}"/>
                </a:ext>
              </a:extLst>
            </p:cNvPr>
            <p:cNvSpPr txBox="1"/>
            <p:nvPr/>
          </p:nvSpPr>
          <p:spPr>
            <a:xfrm>
              <a:off x="10587639" y="4249880"/>
              <a:ext cx="1214388" cy="521149"/>
            </a:xfrm>
            <a:prstGeom prst="rect">
              <a:avLst/>
            </a:prstGeom>
            <a:noFill/>
          </p:spPr>
          <p:txBody>
            <a:bodyPr wrap="square" lIns="91440" tIns="0" rIns="0" bIns="0" rtlCol="0">
              <a:noAutofit/>
            </a:bodyPr>
            <a:lstStyle/>
            <a:p>
              <a:pPr algn="l">
                <a:spcAft>
                  <a:spcPts val="600"/>
                </a:spcAft>
              </a:pPr>
              <a:r>
                <a:rPr lang="en-GB" sz="3200" dirty="0">
                  <a:solidFill>
                    <a:schemeClr val="accent1"/>
                  </a:solidFill>
                </a:rPr>
                <a:t>05</a:t>
              </a:r>
            </a:p>
          </p:txBody>
        </p:sp>
      </p:grpSp>
      <p:pic>
        <p:nvPicPr>
          <p:cNvPr id="22" name="Graphic 21">
            <a:extLst>
              <a:ext uri="{FF2B5EF4-FFF2-40B4-BE49-F238E27FC236}">
                <a16:creationId xmlns:a16="http://schemas.microsoft.com/office/drawing/2014/main" id="{ED25B466-8EAE-4DF3-AB26-F315435647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0261" y="3239625"/>
            <a:ext cx="714513" cy="714513"/>
          </a:xfrm>
          <a:prstGeom prst="rect">
            <a:avLst/>
          </a:prstGeom>
        </p:spPr>
      </p:pic>
      <p:pic>
        <p:nvPicPr>
          <p:cNvPr id="23" name="Graphic 22">
            <a:extLst>
              <a:ext uri="{FF2B5EF4-FFF2-40B4-BE49-F238E27FC236}">
                <a16:creationId xmlns:a16="http://schemas.microsoft.com/office/drawing/2014/main" id="{BFC73F24-3077-F6B4-A685-8D1BB95956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181" y="5002214"/>
            <a:ext cx="816672" cy="816672"/>
          </a:xfrm>
          <a:prstGeom prst="rect">
            <a:avLst/>
          </a:prstGeom>
        </p:spPr>
      </p:pic>
      <p:pic>
        <p:nvPicPr>
          <p:cNvPr id="24" name="Graphic 23">
            <a:extLst>
              <a:ext uri="{FF2B5EF4-FFF2-40B4-BE49-F238E27FC236}">
                <a16:creationId xmlns:a16="http://schemas.microsoft.com/office/drawing/2014/main" id="{CE9DEFDE-271B-6487-BE6D-74F8BF655D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1632" y="4216431"/>
            <a:ext cx="713142" cy="713142"/>
          </a:xfrm>
          <a:prstGeom prst="rect">
            <a:avLst/>
          </a:prstGeom>
        </p:spPr>
      </p:pic>
      <p:pic>
        <p:nvPicPr>
          <p:cNvPr id="25" name="Graphic 24">
            <a:extLst>
              <a:ext uri="{FF2B5EF4-FFF2-40B4-BE49-F238E27FC236}">
                <a16:creationId xmlns:a16="http://schemas.microsoft.com/office/drawing/2014/main" id="{749BF681-2FC6-633B-C10E-670F014B523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1288" y="5731260"/>
            <a:ext cx="816672" cy="816672"/>
          </a:xfrm>
          <a:prstGeom prst="rect">
            <a:avLst/>
          </a:prstGeom>
        </p:spPr>
      </p:pic>
      <p:sp>
        <p:nvSpPr>
          <p:cNvPr id="10" name="TextBox 9">
            <a:extLst>
              <a:ext uri="{FF2B5EF4-FFF2-40B4-BE49-F238E27FC236}">
                <a16:creationId xmlns:a16="http://schemas.microsoft.com/office/drawing/2014/main" id="{0B9D6572-E7E1-8295-E312-9E510182A767}"/>
              </a:ext>
            </a:extLst>
          </p:cNvPr>
          <p:cNvSpPr txBox="1"/>
          <p:nvPr/>
        </p:nvSpPr>
        <p:spPr>
          <a:xfrm>
            <a:off x="5338254"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graphicFrame>
        <p:nvGraphicFramePr>
          <p:cNvPr id="26" name="Table 25">
            <a:extLst>
              <a:ext uri="{FF2B5EF4-FFF2-40B4-BE49-F238E27FC236}">
                <a16:creationId xmlns:a16="http://schemas.microsoft.com/office/drawing/2014/main" id="{1D093617-979C-6B83-2478-EA3A5D443C43}"/>
              </a:ext>
            </a:extLst>
          </p:cNvPr>
          <p:cNvGraphicFramePr>
            <a:graphicFrameLocks noGrp="1"/>
          </p:cNvGraphicFramePr>
          <p:nvPr>
            <p:extLst>
              <p:ext uri="{D42A27DB-BD31-4B8C-83A1-F6EECF244321}">
                <p14:modId xmlns:p14="http://schemas.microsoft.com/office/powerpoint/2010/main" val="233192690"/>
              </p:ext>
            </p:extLst>
          </p:nvPr>
        </p:nvGraphicFramePr>
        <p:xfrm>
          <a:off x="5310639" y="354097"/>
          <a:ext cx="6479025" cy="3217443"/>
        </p:xfrm>
        <a:graphic>
          <a:graphicData uri="http://schemas.openxmlformats.org/drawingml/2006/table">
            <a:tbl>
              <a:tblPr/>
              <a:tblGrid>
                <a:gridCol w="1249187">
                  <a:extLst>
                    <a:ext uri="{9D8B030D-6E8A-4147-A177-3AD203B41FA5}">
                      <a16:colId xmlns:a16="http://schemas.microsoft.com/office/drawing/2014/main" val="2431301523"/>
                    </a:ext>
                  </a:extLst>
                </a:gridCol>
                <a:gridCol w="3432313">
                  <a:extLst>
                    <a:ext uri="{9D8B030D-6E8A-4147-A177-3AD203B41FA5}">
                      <a16:colId xmlns:a16="http://schemas.microsoft.com/office/drawing/2014/main" val="3856191673"/>
                    </a:ext>
                  </a:extLst>
                </a:gridCol>
                <a:gridCol w="1797525">
                  <a:extLst>
                    <a:ext uri="{9D8B030D-6E8A-4147-A177-3AD203B41FA5}">
                      <a16:colId xmlns:a16="http://schemas.microsoft.com/office/drawing/2014/main" val="1721080144"/>
                    </a:ext>
                  </a:extLst>
                </a:gridCol>
              </a:tblGrid>
              <a:tr h="174888">
                <a:tc>
                  <a:txBody>
                    <a:bodyPr/>
                    <a:lstStyle/>
                    <a:p>
                      <a:pPr algn="l">
                        <a:buNone/>
                      </a:pPr>
                      <a:r>
                        <a:rPr lang="en-GB" sz="1200" b="1" dirty="0">
                          <a:solidFill>
                            <a:schemeClr val="accent1"/>
                          </a:solidFill>
                          <a:effectLst/>
                          <a:latin typeface="Arial" panose="020B0604020202020204" pitchFamily="34" charset="0"/>
                          <a:cs typeface="Arial" panose="020B0604020202020204" pitchFamily="34" charset="0"/>
                        </a:rPr>
                        <a:t>Deliverable</a:t>
                      </a:r>
                      <a:endParaRPr lang="en-GB" sz="1200" dirty="0">
                        <a:solidFill>
                          <a:schemeClr val="accent1"/>
                        </a:solidFill>
                        <a:effectLst/>
                        <a:latin typeface="Arial" panose="020B0604020202020204" pitchFamily="34" charset="0"/>
                        <a:cs typeface="Arial" panose="020B0604020202020204" pitchFamily="34" charset="0"/>
                      </a:endParaRP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b="1" dirty="0">
                          <a:solidFill>
                            <a:schemeClr val="accent1"/>
                          </a:solidFill>
                          <a:effectLst/>
                          <a:latin typeface="Arial" panose="020B0604020202020204" pitchFamily="34" charset="0"/>
                          <a:cs typeface="Arial" panose="020B0604020202020204" pitchFamily="34" charset="0"/>
                        </a:rPr>
                        <a:t>Description</a:t>
                      </a:r>
                      <a:endParaRPr lang="en-GB" sz="1200" dirty="0">
                        <a:solidFill>
                          <a:schemeClr val="accent1"/>
                        </a:solidFill>
                        <a:effectLst/>
                        <a:latin typeface="Arial" panose="020B0604020202020204" pitchFamily="34" charset="0"/>
                        <a:cs typeface="Arial" panose="020B0604020202020204" pitchFamily="34" charset="0"/>
                      </a:endParaRP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b="1" dirty="0">
                          <a:solidFill>
                            <a:schemeClr val="accent1"/>
                          </a:solidFill>
                          <a:effectLst/>
                          <a:latin typeface="Arial" panose="020B0604020202020204" pitchFamily="34" charset="0"/>
                          <a:cs typeface="Arial" panose="020B0604020202020204" pitchFamily="34" charset="0"/>
                        </a:rPr>
                        <a:t>Linked to Client’s TOM</a:t>
                      </a:r>
                      <a:endParaRPr lang="en-GB" sz="1200" dirty="0">
                        <a:solidFill>
                          <a:schemeClr val="accent1"/>
                        </a:solidFill>
                        <a:effectLst/>
                        <a:latin typeface="Arial" panose="020B0604020202020204" pitchFamily="34" charset="0"/>
                        <a:cs typeface="Arial" panose="020B0604020202020204" pitchFamily="34" charset="0"/>
                      </a:endParaRP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955631"/>
                  </a:ext>
                </a:extLst>
              </a:tr>
              <a:tr h="775144">
                <a:tc>
                  <a:txBody>
                    <a:bodyPr/>
                    <a:lstStyle/>
                    <a:p>
                      <a:pPr algn="l">
                        <a:buNone/>
                      </a:pPr>
                      <a:r>
                        <a:rPr lang="en-GB" sz="1050" b="1" dirty="0">
                          <a:effectLst/>
                          <a:latin typeface="Arial" panose="020B0604020202020204" pitchFamily="34" charset="0"/>
                          <a:cs typeface="Arial" panose="020B0604020202020204" pitchFamily="34" charset="0"/>
                        </a:rPr>
                        <a:t>Master RACI Matrix</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dirty="0">
                          <a:effectLst/>
                          <a:latin typeface="Arial" panose="020B0604020202020204" pitchFamily="34" charset="0"/>
                          <a:cs typeface="Arial" panose="020B0604020202020204" pitchFamily="34" charset="0"/>
                        </a:rPr>
                        <a:t>Interactive digital artifact (SharePoint/Confluence) covering People × Process × Technology for all Prague SSC services across PDLC, SSC Ops, SSC RM, and Customer/JV groups</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dirty="0">
                          <a:effectLst/>
                          <a:latin typeface="Arial" panose="020B0604020202020204" pitchFamily="34" charset="0"/>
                          <a:cs typeface="Arial" panose="020B0604020202020204" pitchFamily="34" charset="0"/>
                        </a:rPr>
                        <a:t>Pillar 1: Clear Structure</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583328"/>
                  </a:ext>
                </a:extLst>
              </a:tr>
              <a:tr h="606203">
                <a:tc>
                  <a:txBody>
                    <a:bodyPr/>
                    <a:lstStyle/>
                    <a:p>
                      <a:pPr algn="l">
                        <a:buNone/>
                      </a:pPr>
                      <a:r>
                        <a:rPr lang="en-GB" sz="1050" b="1" dirty="0">
                          <a:effectLst/>
                          <a:latin typeface="Arial" panose="020B0604020202020204" pitchFamily="34" charset="0"/>
                          <a:cs typeface="Arial" panose="020B0604020202020204" pitchFamily="34" charset="0"/>
                        </a:rPr>
                        <a:t>RACI Heat Map</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dirty="0">
                          <a:effectLst/>
                          <a:latin typeface="Arial" panose="020B0604020202020204" pitchFamily="34" charset="0"/>
                          <a:cs typeface="Arial" panose="020B0604020202020204" pitchFamily="34" charset="0"/>
                        </a:rPr>
                        <a:t>Visual overlay showing concentration of Accountability — identifying single points of failure or over-centralized decision-making</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a:effectLst/>
                          <a:latin typeface="Arial" panose="020B0604020202020204" pitchFamily="34" charset="0"/>
                          <a:cs typeface="Arial" panose="020B0604020202020204" pitchFamily="34" charset="0"/>
                        </a:rPr>
                        <a:t>Pillar 1</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2786138"/>
                  </a:ext>
                </a:extLst>
              </a:tr>
              <a:tr h="574293">
                <a:tc>
                  <a:txBody>
                    <a:bodyPr/>
                    <a:lstStyle/>
                    <a:p>
                      <a:pPr algn="l">
                        <a:buNone/>
                      </a:pPr>
                      <a:r>
                        <a:rPr lang="en-GB" sz="1050" b="1" dirty="0">
                          <a:effectLst/>
                          <a:latin typeface="Arial" panose="020B0604020202020204" pitchFamily="34" charset="0"/>
                          <a:cs typeface="Arial" panose="020B0604020202020204" pitchFamily="34" charset="0"/>
                        </a:rPr>
                        <a:t>Governance Charter</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a:effectLst/>
                          <a:latin typeface="Arial" panose="020B0604020202020204" pitchFamily="34" charset="0"/>
                          <a:cs typeface="Arial" panose="020B0604020202020204" pitchFamily="34" charset="0"/>
                        </a:rPr>
                        <a:t>Rules of engagement: decision rights at strategic/tactical/operational levels; escalation protocols; cadence of review (quarterly recommended)</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a:effectLst/>
                          <a:latin typeface="Arial" panose="020B0604020202020204" pitchFamily="34" charset="0"/>
                          <a:cs typeface="Arial" panose="020B0604020202020204" pitchFamily="34" charset="0"/>
                        </a:rPr>
                        <a:t>Governance Framework</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0095003"/>
                  </a:ext>
                </a:extLst>
              </a:tr>
              <a:tr h="509599">
                <a:tc>
                  <a:txBody>
                    <a:bodyPr/>
                    <a:lstStyle/>
                    <a:p>
                      <a:pPr algn="l">
                        <a:buNone/>
                      </a:pPr>
                      <a:r>
                        <a:rPr lang="en-GB" sz="1050" b="1" dirty="0">
                          <a:effectLst/>
                          <a:latin typeface="Arial" panose="020B0604020202020204" pitchFamily="34" charset="0"/>
                          <a:cs typeface="Arial" panose="020B0604020202020204" pitchFamily="34" charset="0"/>
                        </a:rPr>
                        <a:t>KPI </a:t>
                      </a:r>
                      <a:br>
                        <a:rPr lang="en-GB" sz="1050" b="1" dirty="0">
                          <a:effectLst/>
                          <a:latin typeface="Arial" panose="020B0604020202020204" pitchFamily="34" charset="0"/>
                          <a:cs typeface="Arial" panose="020B0604020202020204" pitchFamily="34" charset="0"/>
                        </a:rPr>
                      </a:br>
                      <a:r>
                        <a:rPr lang="en-GB" sz="1050" b="1" dirty="0">
                          <a:effectLst/>
                          <a:latin typeface="Arial" panose="020B0604020202020204" pitchFamily="34" charset="0"/>
                          <a:cs typeface="Arial" panose="020B0604020202020204" pitchFamily="34" charset="0"/>
                        </a:rPr>
                        <a:t>Ownership Map</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a:effectLst/>
                          <a:latin typeface="Arial" panose="020B0604020202020204" pitchFamily="34" charset="0"/>
                          <a:cs typeface="Arial" panose="020B0604020202020204" pitchFamily="34" charset="0"/>
                        </a:rPr>
                        <a:t>Each KPI (service availability, processing quality, as referenced by the client) assigned to a single “A” owner</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a:effectLst/>
                          <a:latin typeface="Arial" panose="020B0604020202020204" pitchFamily="34" charset="0"/>
                          <a:cs typeface="Arial" panose="020B0604020202020204" pitchFamily="34" charset="0"/>
                        </a:rPr>
                        <a:t>Pillar 4: Commercial Transparency &amp; Performance</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109076"/>
                  </a:ext>
                </a:extLst>
              </a:tr>
              <a:tr h="509599">
                <a:tc>
                  <a:txBody>
                    <a:bodyPr/>
                    <a:lstStyle/>
                    <a:p>
                      <a:pPr algn="l">
                        <a:buNone/>
                      </a:pPr>
                      <a:r>
                        <a:rPr lang="en-GB" sz="1050" b="1" dirty="0">
                          <a:effectLst/>
                          <a:latin typeface="Arial" panose="020B0604020202020204" pitchFamily="34" charset="0"/>
                          <a:cs typeface="Arial" panose="020B0604020202020204" pitchFamily="34" charset="0"/>
                        </a:rPr>
                        <a:t>RACI Change Procedure</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dirty="0">
                          <a:effectLst/>
                          <a:latin typeface="Arial" panose="020B0604020202020204" pitchFamily="34" charset="0"/>
                          <a:cs typeface="Arial" panose="020B0604020202020204" pitchFamily="34" charset="0"/>
                        </a:rPr>
                        <a:t>Formal process for updating RACI when new services, acquisitions, or org changes occur — gated through PMO (WS2)</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50" dirty="0">
                          <a:effectLst/>
                          <a:latin typeface="Arial" panose="020B0604020202020204" pitchFamily="34" charset="0"/>
                          <a:cs typeface="Arial" panose="020B0604020202020204" pitchFamily="34" charset="0"/>
                        </a:rPr>
                        <a:t>Pillar 5: Continuous Improvement</a:t>
                      </a:r>
                    </a:p>
                  </a:txBody>
                  <a:tcPr marL="72000" marR="72000" marT="36000" marB="3601">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19691"/>
                  </a:ext>
                </a:extLst>
              </a:tr>
            </a:tbl>
          </a:graphicData>
        </a:graphic>
      </p:graphicFrame>
    </p:spTree>
    <p:extLst>
      <p:ext uri="{BB962C8B-B14F-4D97-AF65-F5344CB8AC3E}">
        <p14:creationId xmlns:p14="http://schemas.microsoft.com/office/powerpoint/2010/main" val="1439909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F7D29-9039-92D2-46AE-9A192957926D}"/>
              </a:ext>
            </a:extLst>
          </p:cNvPr>
          <p:cNvSpPr>
            <a:spLocks noGrp="1"/>
          </p:cNvSpPr>
          <p:nvPr>
            <p:ph type="title"/>
          </p:nvPr>
        </p:nvSpPr>
        <p:spPr/>
        <p:txBody>
          <a:bodyPr/>
          <a:lstStyle/>
          <a:p>
            <a:r>
              <a:rPr lang="en-GB" dirty="0"/>
              <a:t>Workstream 2: Business Partnering &amp; PMO Function Design (1/2)</a:t>
            </a:r>
            <a:br>
              <a:rPr lang="en-GB" dirty="0"/>
            </a:br>
            <a:r>
              <a:rPr lang="en-GB" sz="1600" dirty="0">
                <a:latin typeface="Arial" panose="020B0604020202020204" pitchFamily="34" charset="0"/>
                <a:cs typeface="Arial" panose="020B0604020202020204" pitchFamily="34" charset="0"/>
              </a:rPr>
              <a:t>The Connective Tissue — Dedicated Relationship Management &amp; Portfolio Steering</a:t>
            </a:r>
            <a:endParaRPr lang="en-GB" sz="3200"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D64B8EFD-CBEA-4CE5-5CE1-580C15A536B1}"/>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07C9B5F5-EC2C-355A-8B73-DC612CBFCA3C}"/>
              </a:ext>
            </a:extLst>
          </p:cNvPr>
          <p:cNvSpPr>
            <a:spLocks noGrp="1"/>
          </p:cNvSpPr>
          <p:nvPr>
            <p:ph type="sldNum" sz="quarter" idx="4"/>
          </p:nvPr>
        </p:nvSpPr>
        <p:spPr/>
        <p:txBody>
          <a:bodyPr/>
          <a:lstStyle/>
          <a:p>
            <a:fld id="{3E6AC032-1535-134B-A583-D5E1DDD0D167}" type="slidenum">
              <a:rPr lang="en-US" smtClean="0"/>
              <a:pPr/>
              <a:t>19</a:t>
            </a:fld>
            <a:endParaRPr lang="en-US"/>
          </a:p>
        </p:txBody>
      </p:sp>
      <p:sp>
        <p:nvSpPr>
          <p:cNvPr id="76" name="Hexagon 75">
            <a:extLst>
              <a:ext uri="{FF2B5EF4-FFF2-40B4-BE49-F238E27FC236}">
                <a16:creationId xmlns:a16="http://schemas.microsoft.com/office/drawing/2014/main" id="{AC0DE168-C008-CAF6-CA7C-91C51750B523}"/>
              </a:ext>
            </a:extLst>
          </p:cNvPr>
          <p:cNvSpPr/>
          <p:nvPr/>
        </p:nvSpPr>
        <p:spPr>
          <a:xfrm>
            <a:off x="3653126" y="1722383"/>
            <a:ext cx="4885748" cy="4211850"/>
          </a:xfrm>
          <a:prstGeom prst="hexagon">
            <a:avLst>
              <a:gd name="adj" fmla="val 28719"/>
              <a:gd name="vf" fmla="val 115470"/>
            </a:avLst>
          </a:prstGeom>
          <a:solidFill>
            <a:srgbClr val="DFE3E6"/>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cxnSp>
        <p:nvCxnSpPr>
          <p:cNvPr id="77" name="Straight Connector 76">
            <a:extLst>
              <a:ext uri="{FF2B5EF4-FFF2-40B4-BE49-F238E27FC236}">
                <a16:creationId xmlns:a16="http://schemas.microsoft.com/office/drawing/2014/main" id="{D100629F-3653-6FE8-CFDA-C4D9E3AFEA8E}"/>
              </a:ext>
            </a:extLst>
          </p:cNvPr>
          <p:cNvCxnSpPr>
            <a:cxnSpLocks/>
            <a:stCxn id="76" idx="5"/>
            <a:endCxn id="76" idx="2"/>
          </p:cNvCxnSpPr>
          <p:nvPr/>
        </p:nvCxnSpPr>
        <p:spPr>
          <a:xfrm flipH="1">
            <a:off x="4862727" y="1722384"/>
            <a:ext cx="2466546" cy="4211848"/>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2DAB5622-7ED4-0CDC-086D-F5FC2C389091}"/>
              </a:ext>
            </a:extLst>
          </p:cNvPr>
          <p:cNvCxnSpPr>
            <a:cxnSpLocks/>
            <a:stCxn id="76" idx="4"/>
            <a:endCxn id="76" idx="1"/>
          </p:cNvCxnSpPr>
          <p:nvPr/>
        </p:nvCxnSpPr>
        <p:spPr>
          <a:xfrm>
            <a:off x="4862727" y="1722384"/>
            <a:ext cx="2466546" cy="4211848"/>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B0D115FD-CC87-93E3-3DD6-1185085CB9A6}"/>
              </a:ext>
            </a:extLst>
          </p:cNvPr>
          <p:cNvCxnSpPr>
            <a:cxnSpLocks/>
            <a:stCxn id="76" idx="3"/>
          </p:cNvCxnSpPr>
          <p:nvPr/>
        </p:nvCxnSpPr>
        <p:spPr>
          <a:xfrm>
            <a:off x="3653126" y="3828308"/>
            <a:ext cx="4885748" cy="0"/>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FCF7FDE7-E967-BB06-C2F0-C079207F2788}"/>
              </a:ext>
            </a:extLst>
          </p:cNvPr>
          <p:cNvSpPr txBox="1"/>
          <p:nvPr/>
        </p:nvSpPr>
        <p:spPr>
          <a:xfrm>
            <a:off x="400431" y="1260540"/>
            <a:ext cx="2932561" cy="1548244"/>
          </a:xfrm>
          <a:prstGeom prst="rect">
            <a:avLst/>
          </a:prstGeom>
          <a:noFill/>
        </p:spPr>
        <p:txBody>
          <a:bodyPr wrap="square" lIns="0" tIns="0" rIns="0" bIns="0" rtlCol="0">
            <a:spAutoFit/>
          </a:bodyPr>
          <a:lstStyle/>
          <a:p>
            <a:pPr>
              <a:lnSpc>
                <a:spcPct val="125000"/>
              </a:lnSpc>
              <a:spcAft>
                <a:spcPts val="1000"/>
              </a:spcAft>
            </a:pPr>
            <a:r>
              <a:rPr lang="en-GB" sz="1500" b="1" dirty="0"/>
              <a:t>Role Definition</a:t>
            </a:r>
          </a:p>
          <a:p>
            <a:pPr marL="4763" lvl="1">
              <a:lnSpc>
                <a:spcPct val="125000"/>
              </a:lnSpc>
              <a:spcAft>
                <a:spcPts val="1000"/>
              </a:spcAft>
            </a:pPr>
            <a:r>
              <a:rPr lang="en-GB" sz="1200" dirty="0"/>
              <a:t>Business Partners are translators, aligners, and relationship managers — NOT doers. They represent the Prague SSC to JV/Enterprise customers and represent customer needs back to the SSC</a:t>
            </a:r>
          </a:p>
        </p:txBody>
      </p:sp>
      <p:sp>
        <p:nvSpPr>
          <p:cNvPr id="81" name="TextBox 80">
            <a:extLst>
              <a:ext uri="{FF2B5EF4-FFF2-40B4-BE49-F238E27FC236}">
                <a16:creationId xmlns:a16="http://schemas.microsoft.com/office/drawing/2014/main" id="{76842246-66A9-2055-5575-5B0B4815DCC0}"/>
              </a:ext>
            </a:extLst>
          </p:cNvPr>
          <p:cNvSpPr txBox="1"/>
          <p:nvPr/>
        </p:nvSpPr>
        <p:spPr>
          <a:xfrm>
            <a:off x="404201" y="2960814"/>
            <a:ext cx="2928792" cy="1317477"/>
          </a:xfrm>
          <a:prstGeom prst="rect">
            <a:avLst/>
          </a:prstGeom>
          <a:noFill/>
        </p:spPr>
        <p:txBody>
          <a:bodyPr wrap="square" lIns="0" tIns="0" rIns="0" bIns="0" rtlCol="0">
            <a:spAutoFit/>
          </a:bodyPr>
          <a:lstStyle/>
          <a:p>
            <a:pPr>
              <a:lnSpc>
                <a:spcPct val="125000"/>
              </a:lnSpc>
              <a:spcAft>
                <a:spcPts val="1000"/>
              </a:spcAft>
            </a:pPr>
            <a:r>
              <a:rPr lang="en-GB" sz="1500" b="1" dirty="0"/>
              <a:t>Scope</a:t>
            </a:r>
          </a:p>
          <a:p>
            <a:pPr marL="4763" lvl="1">
              <a:lnSpc>
                <a:spcPct val="125000"/>
              </a:lnSpc>
              <a:spcAft>
                <a:spcPts val="1000"/>
              </a:spcAft>
            </a:pPr>
            <a:r>
              <a:rPr lang="en-GB" sz="1200" dirty="0"/>
              <a:t>Each BP covers a defined portfolio of customers (JVs and/or Enterprises) and a mapped set of services from the Product &amp; Service Catalogue</a:t>
            </a:r>
          </a:p>
        </p:txBody>
      </p:sp>
      <p:sp>
        <p:nvSpPr>
          <p:cNvPr id="82" name="TextBox 81">
            <a:extLst>
              <a:ext uri="{FF2B5EF4-FFF2-40B4-BE49-F238E27FC236}">
                <a16:creationId xmlns:a16="http://schemas.microsoft.com/office/drawing/2014/main" id="{8ADC374C-64B4-C342-2E5F-539944EA45BB}"/>
              </a:ext>
            </a:extLst>
          </p:cNvPr>
          <p:cNvSpPr txBox="1"/>
          <p:nvPr/>
        </p:nvSpPr>
        <p:spPr>
          <a:xfrm>
            <a:off x="400431" y="4403488"/>
            <a:ext cx="2928791" cy="2009974"/>
          </a:xfrm>
          <a:prstGeom prst="rect">
            <a:avLst/>
          </a:prstGeom>
          <a:noFill/>
        </p:spPr>
        <p:txBody>
          <a:bodyPr wrap="square" lIns="0" tIns="0" rIns="0" bIns="0" rtlCol="0">
            <a:spAutoFit/>
          </a:bodyPr>
          <a:lstStyle/>
          <a:p>
            <a:pPr>
              <a:lnSpc>
                <a:spcPct val="125000"/>
              </a:lnSpc>
              <a:spcAft>
                <a:spcPts val="1000"/>
              </a:spcAft>
            </a:pPr>
            <a:r>
              <a:rPr lang="en-GB" sz="1500" b="1" dirty="0"/>
              <a:t>Key Activities</a:t>
            </a:r>
          </a:p>
          <a:p>
            <a:pPr>
              <a:lnSpc>
                <a:spcPct val="125000"/>
              </a:lnSpc>
              <a:spcAft>
                <a:spcPts val="1000"/>
              </a:spcAft>
            </a:pPr>
            <a:r>
              <a:rPr lang="en-GB" sz="1200" dirty="0"/>
              <a:t>Quarterly RACI alignment sessions; SLA performance reviews with customers; demand management and intake facilitation; dispute facilitation; new workload onboarding; regular service reviews &amp; feedback loops (as specified by the client</a:t>
            </a:r>
          </a:p>
        </p:txBody>
      </p:sp>
      <p:cxnSp>
        <p:nvCxnSpPr>
          <p:cNvPr id="83" name="Straight Connector 82">
            <a:extLst>
              <a:ext uri="{FF2B5EF4-FFF2-40B4-BE49-F238E27FC236}">
                <a16:creationId xmlns:a16="http://schemas.microsoft.com/office/drawing/2014/main" id="{B2CE09DF-3C95-3152-E324-63F6F5B6A5ED}"/>
              </a:ext>
            </a:extLst>
          </p:cNvPr>
          <p:cNvCxnSpPr/>
          <p:nvPr/>
        </p:nvCxnSpPr>
        <p:spPr>
          <a:xfrm>
            <a:off x="400432" y="2921736"/>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37D509D6-BBBF-C8BE-354A-CF60040CE5A1}"/>
              </a:ext>
            </a:extLst>
          </p:cNvPr>
          <p:cNvCxnSpPr/>
          <p:nvPr/>
        </p:nvCxnSpPr>
        <p:spPr>
          <a:xfrm>
            <a:off x="404201" y="4324328"/>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97BE1259-9E63-EE80-A6AB-349DEB25FA62}"/>
              </a:ext>
            </a:extLst>
          </p:cNvPr>
          <p:cNvSpPr txBox="1"/>
          <p:nvPr/>
        </p:nvSpPr>
        <p:spPr>
          <a:xfrm>
            <a:off x="9042434" y="1428750"/>
            <a:ext cx="2767012" cy="1087221"/>
          </a:xfrm>
          <a:prstGeom prst="rect">
            <a:avLst/>
          </a:prstGeom>
          <a:noFill/>
        </p:spPr>
        <p:txBody>
          <a:bodyPr wrap="square" lIns="0" tIns="0" rIns="0" bIns="0" rtlCol="0">
            <a:spAutoFit/>
          </a:bodyPr>
          <a:lstStyle/>
          <a:p>
            <a:pPr>
              <a:lnSpc>
                <a:spcPct val="125000"/>
              </a:lnSpc>
              <a:spcAft>
                <a:spcPts val="1000"/>
              </a:spcAft>
            </a:pPr>
            <a:r>
              <a:rPr lang="en-GB" sz="1500" b="1" dirty="0"/>
              <a:t>Reporting</a:t>
            </a:r>
          </a:p>
          <a:p>
            <a:pPr marL="4763" lvl="1">
              <a:lnSpc>
                <a:spcPct val="125000"/>
              </a:lnSpc>
              <a:spcAft>
                <a:spcPts val="1000"/>
              </a:spcAft>
            </a:pPr>
            <a:r>
              <a:rPr lang="en-GB" sz="1200" dirty="0"/>
              <a:t>Reports to Prague SSC Head; dotted line to relevant business/product group leads (mirrors the structure it governs)</a:t>
            </a:r>
          </a:p>
        </p:txBody>
      </p:sp>
      <p:sp>
        <p:nvSpPr>
          <p:cNvPr id="86" name="TextBox 85">
            <a:extLst>
              <a:ext uri="{FF2B5EF4-FFF2-40B4-BE49-F238E27FC236}">
                <a16:creationId xmlns:a16="http://schemas.microsoft.com/office/drawing/2014/main" id="{D861EFEA-9B49-E407-74AF-718394E72DAC}"/>
              </a:ext>
            </a:extLst>
          </p:cNvPr>
          <p:cNvSpPr txBox="1"/>
          <p:nvPr/>
        </p:nvSpPr>
        <p:spPr>
          <a:xfrm>
            <a:off x="9042434" y="2898822"/>
            <a:ext cx="2767012" cy="1317477"/>
          </a:xfrm>
          <a:prstGeom prst="rect">
            <a:avLst/>
          </a:prstGeom>
          <a:noFill/>
        </p:spPr>
        <p:txBody>
          <a:bodyPr wrap="square" lIns="0" tIns="0" rIns="0" bIns="0" rtlCol="0">
            <a:spAutoFit/>
          </a:bodyPr>
          <a:lstStyle/>
          <a:p>
            <a:pPr>
              <a:lnSpc>
                <a:spcPct val="125000"/>
              </a:lnSpc>
              <a:spcAft>
                <a:spcPts val="1000"/>
              </a:spcAft>
            </a:pPr>
            <a:r>
              <a:rPr lang="en-GB" sz="1500" b="1" dirty="0"/>
              <a:t>KPIs</a:t>
            </a:r>
          </a:p>
          <a:p>
            <a:pPr marL="4763" lvl="1">
              <a:lnSpc>
                <a:spcPct val="125000"/>
              </a:lnSpc>
              <a:spcAft>
                <a:spcPts val="1000"/>
              </a:spcAft>
            </a:pPr>
            <a:r>
              <a:rPr lang="en-GB" sz="1200" dirty="0"/>
              <a:t>Customer satisfaction (NPS), workload migration success rate, SLA attainment, dispute resolution time, new competency onboarding rate</a:t>
            </a:r>
          </a:p>
        </p:txBody>
      </p:sp>
      <p:sp>
        <p:nvSpPr>
          <p:cNvPr id="87" name="TextBox 86">
            <a:extLst>
              <a:ext uri="{FF2B5EF4-FFF2-40B4-BE49-F238E27FC236}">
                <a16:creationId xmlns:a16="http://schemas.microsoft.com/office/drawing/2014/main" id="{1CCA837D-97AE-0C72-FDB2-96AEE06CC6C1}"/>
              </a:ext>
            </a:extLst>
          </p:cNvPr>
          <p:cNvSpPr txBox="1"/>
          <p:nvPr/>
        </p:nvSpPr>
        <p:spPr>
          <a:xfrm>
            <a:off x="9042434" y="4514182"/>
            <a:ext cx="2767012" cy="1548309"/>
          </a:xfrm>
          <a:prstGeom prst="rect">
            <a:avLst/>
          </a:prstGeom>
          <a:noFill/>
        </p:spPr>
        <p:txBody>
          <a:bodyPr wrap="square" lIns="0" tIns="0" rIns="0" bIns="0" rtlCol="0">
            <a:spAutoFit/>
          </a:bodyPr>
          <a:lstStyle/>
          <a:p>
            <a:pPr>
              <a:lnSpc>
                <a:spcPct val="125000"/>
              </a:lnSpc>
              <a:spcAft>
                <a:spcPts val="1000"/>
              </a:spcAft>
            </a:pPr>
            <a:r>
              <a:rPr lang="en-GB" sz="1500" b="1" dirty="0"/>
              <a:t>Interface Role</a:t>
            </a:r>
          </a:p>
          <a:p>
            <a:pPr marL="4763" lvl="1">
              <a:lnSpc>
                <a:spcPct val="125000"/>
              </a:lnSpc>
              <a:spcAft>
                <a:spcPts val="1000"/>
              </a:spcAft>
            </a:pPr>
            <a:r>
              <a:rPr lang="en-GB" sz="1200" dirty="0"/>
              <a:t>BPs play the critical interface between Prague SSC and PDLC (Products &amp; Tech), SSC Operations, and Customer/JV groups — regularly aligning the RACI matrices</a:t>
            </a:r>
          </a:p>
        </p:txBody>
      </p:sp>
      <p:cxnSp>
        <p:nvCxnSpPr>
          <p:cNvPr id="88" name="Straight Connector 87">
            <a:extLst>
              <a:ext uri="{FF2B5EF4-FFF2-40B4-BE49-F238E27FC236}">
                <a16:creationId xmlns:a16="http://schemas.microsoft.com/office/drawing/2014/main" id="{667E319C-3223-EFFB-9C60-0010B88F95CF}"/>
              </a:ext>
            </a:extLst>
          </p:cNvPr>
          <p:cNvCxnSpPr/>
          <p:nvPr/>
        </p:nvCxnSpPr>
        <p:spPr>
          <a:xfrm>
            <a:off x="9042434" y="2784286"/>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4EBFDD09-4A60-63E3-D14D-4A9C14B8D449}"/>
              </a:ext>
            </a:extLst>
          </p:cNvPr>
          <p:cNvCxnSpPr/>
          <p:nvPr/>
        </p:nvCxnSpPr>
        <p:spPr>
          <a:xfrm>
            <a:off x="9042434" y="4324328"/>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18DC442B-0A08-45FD-5ED0-4C597B5F977C}"/>
              </a:ext>
            </a:extLst>
          </p:cNvPr>
          <p:cNvCxnSpPr/>
          <p:nvPr/>
        </p:nvCxnSpPr>
        <p:spPr>
          <a:xfrm>
            <a:off x="5115389" y="1565599"/>
            <a:ext cx="2049340"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E6F3BB46-2306-D74A-8CDB-37F364ADC128}"/>
              </a:ext>
            </a:extLst>
          </p:cNvPr>
          <p:cNvCxnSpPr/>
          <p:nvPr/>
        </p:nvCxnSpPr>
        <p:spPr>
          <a:xfrm>
            <a:off x="7561845" y="1833706"/>
            <a:ext cx="977029" cy="1689903"/>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4BF9FBB0-45B7-4607-CF89-40A1F17F0DD9}"/>
              </a:ext>
            </a:extLst>
          </p:cNvPr>
          <p:cNvCxnSpPr/>
          <p:nvPr/>
        </p:nvCxnSpPr>
        <p:spPr>
          <a:xfrm flipH="1">
            <a:off x="7561845" y="4056045"/>
            <a:ext cx="1061294" cy="1878187"/>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9B9AD2B-D464-0810-1901-70E34E1B6A46}"/>
              </a:ext>
            </a:extLst>
          </p:cNvPr>
          <p:cNvCxnSpPr/>
          <p:nvPr/>
        </p:nvCxnSpPr>
        <p:spPr>
          <a:xfrm flipH="1">
            <a:off x="5000263" y="6093189"/>
            <a:ext cx="2164466"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2B326B41-5DAE-52F3-9DA2-05BEF5E41D8B}"/>
              </a:ext>
            </a:extLst>
          </p:cNvPr>
          <p:cNvCxnSpPr>
            <a:cxnSpLocks/>
          </p:cNvCxnSpPr>
          <p:nvPr/>
        </p:nvCxnSpPr>
        <p:spPr>
          <a:xfrm flipH="1" flipV="1">
            <a:off x="3653126" y="4160217"/>
            <a:ext cx="977029" cy="168916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A2CBA33C-E011-F580-89BA-D4994661CDDF}"/>
              </a:ext>
            </a:extLst>
          </p:cNvPr>
          <p:cNvCxnSpPr/>
          <p:nvPr/>
        </p:nvCxnSpPr>
        <p:spPr>
          <a:xfrm flipV="1">
            <a:off x="3653126" y="1833706"/>
            <a:ext cx="956939" cy="1689903"/>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96" name="Rectangle 95">
            <a:extLst>
              <a:ext uri="{FF2B5EF4-FFF2-40B4-BE49-F238E27FC236}">
                <a16:creationId xmlns:a16="http://schemas.microsoft.com/office/drawing/2014/main" id="{FEA10DC5-B198-D8A6-D1CD-39232C8EBEE5}"/>
              </a:ext>
            </a:extLst>
          </p:cNvPr>
          <p:cNvSpPr/>
          <p:nvPr/>
        </p:nvSpPr>
        <p:spPr>
          <a:xfrm>
            <a:off x="5549187" y="1994942"/>
            <a:ext cx="1055661" cy="6579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Role Definition</a:t>
            </a:r>
          </a:p>
        </p:txBody>
      </p:sp>
      <p:sp>
        <p:nvSpPr>
          <p:cNvPr id="97" name="Rectangle 96">
            <a:extLst>
              <a:ext uri="{FF2B5EF4-FFF2-40B4-BE49-F238E27FC236}">
                <a16:creationId xmlns:a16="http://schemas.microsoft.com/office/drawing/2014/main" id="{8B0D316B-6CFD-95AF-27C2-4844760A5DE1}"/>
              </a:ext>
            </a:extLst>
          </p:cNvPr>
          <p:cNvSpPr/>
          <p:nvPr/>
        </p:nvSpPr>
        <p:spPr>
          <a:xfrm>
            <a:off x="6881283" y="2791324"/>
            <a:ext cx="977029" cy="6124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Scope</a:t>
            </a:r>
            <a:r>
              <a:rPr lang="en-US" b="1" dirty="0">
                <a:solidFill>
                  <a:schemeClr val="tx1"/>
                </a:solidFill>
              </a:rPr>
              <a:t> </a:t>
            </a:r>
          </a:p>
        </p:txBody>
      </p:sp>
      <p:sp>
        <p:nvSpPr>
          <p:cNvPr id="98" name="Rectangle 97">
            <a:extLst>
              <a:ext uri="{FF2B5EF4-FFF2-40B4-BE49-F238E27FC236}">
                <a16:creationId xmlns:a16="http://schemas.microsoft.com/office/drawing/2014/main" id="{8C22D38E-EE19-E4DD-B47A-BF9ED21726E2}"/>
              </a:ext>
            </a:extLst>
          </p:cNvPr>
          <p:cNvSpPr/>
          <p:nvPr/>
        </p:nvSpPr>
        <p:spPr>
          <a:xfrm>
            <a:off x="4146691" y="2735386"/>
            <a:ext cx="1313394" cy="8306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Interface Role</a:t>
            </a:r>
          </a:p>
        </p:txBody>
      </p:sp>
      <p:sp>
        <p:nvSpPr>
          <p:cNvPr id="99" name="Rectangle 98">
            <a:extLst>
              <a:ext uri="{FF2B5EF4-FFF2-40B4-BE49-F238E27FC236}">
                <a16:creationId xmlns:a16="http://schemas.microsoft.com/office/drawing/2014/main" id="{7D1D4196-DA72-B9A8-0E45-92D278F3BDB2}"/>
              </a:ext>
            </a:extLst>
          </p:cNvPr>
          <p:cNvSpPr/>
          <p:nvPr/>
        </p:nvSpPr>
        <p:spPr>
          <a:xfrm>
            <a:off x="5432520" y="4956261"/>
            <a:ext cx="1326089" cy="675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Reporting</a:t>
            </a:r>
          </a:p>
        </p:txBody>
      </p:sp>
      <p:sp>
        <p:nvSpPr>
          <p:cNvPr id="100" name="Rectangle 99">
            <a:extLst>
              <a:ext uri="{FF2B5EF4-FFF2-40B4-BE49-F238E27FC236}">
                <a16:creationId xmlns:a16="http://schemas.microsoft.com/office/drawing/2014/main" id="{B82F7E99-8810-95D8-74BA-6FF4BD3EA236}"/>
              </a:ext>
            </a:extLst>
          </p:cNvPr>
          <p:cNvSpPr/>
          <p:nvPr/>
        </p:nvSpPr>
        <p:spPr>
          <a:xfrm>
            <a:off x="6897788" y="4254550"/>
            <a:ext cx="1061294" cy="601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Key Activities</a:t>
            </a:r>
          </a:p>
        </p:txBody>
      </p:sp>
      <p:sp>
        <p:nvSpPr>
          <p:cNvPr id="101" name="Rectangle 100">
            <a:extLst>
              <a:ext uri="{FF2B5EF4-FFF2-40B4-BE49-F238E27FC236}">
                <a16:creationId xmlns:a16="http://schemas.microsoft.com/office/drawing/2014/main" id="{74CF7922-C4B8-0E96-E5A8-2E50E4025B07}"/>
              </a:ext>
            </a:extLst>
          </p:cNvPr>
          <p:cNvSpPr/>
          <p:nvPr/>
        </p:nvSpPr>
        <p:spPr>
          <a:xfrm>
            <a:off x="4511780" y="4261251"/>
            <a:ext cx="633116"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KPIs</a:t>
            </a:r>
          </a:p>
        </p:txBody>
      </p:sp>
      <p:sp>
        <p:nvSpPr>
          <p:cNvPr id="102" name="Hexagon 101">
            <a:extLst>
              <a:ext uri="{FF2B5EF4-FFF2-40B4-BE49-F238E27FC236}">
                <a16:creationId xmlns:a16="http://schemas.microsoft.com/office/drawing/2014/main" id="{CEDC512E-F6C3-A0D3-B9A5-426C3979C037}"/>
              </a:ext>
            </a:extLst>
          </p:cNvPr>
          <p:cNvSpPr/>
          <p:nvPr/>
        </p:nvSpPr>
        <p:spPr>
          <a:xfrm>
            <a:off x="5144896" y="3035455"/>
            <a:ext cx="1864244" cy="1607106"/>
          </a:xfrm>
          <a:prstGeom prst="hexagon">
            <a:avLst>
              <a:gd name="adj" fmla="val 28719"/>
              <a:gd name="vf" fmla="val 115470"/>
            </a:avLst>
          </a:prstGeom>
          <a:solidFill>
            <a:schemeClr val="bg1"/>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103" name="TextBox 102">
            <a:extLst>
              <a:ext uri="{FF2B5EF4-FFF2-40B4-BE49-F238E27FC236}">
                <a16:creationId xmlns:a16="http://schemas.microsoft.com/office/drawing/2014/main" id="{552BB269-B68A-9546-201C-6FED9D7FED07}"/>
              </a:ext>
            </a:extLst>
          </p:cNvPr>
          <p:cNvSpPr txBox="1"/>
          <p:nvPr/>
        </p:nvSpPr>
        <p:spPr>
          <a:xfrm>
            <a:off x="5210901" y="3109294"/>
            <a:ext cx="1770198" cy="1432952"/>
          </a:xfrm>
          <a:prstGeom prst="rect">
            <a:avLst/>
          </a:prstGeom>
          <a:noFill/>
        </p:spPr>
        <p:txBody>
          <a:bodyPr wrap="square" lIns="0" tIns="0" rIns="0" bIns="0" rtlCol="0" anchor="ctr">
            <a:noAutofit/>
          </a:bodyPr>
          <a:lstStyle/>
          <a:p>
            <a:pPr algn="ctr"/>
            <a:r>
              <a:rPr lang="en-US" sz="1600" dirty="0">
                <a:solidFill>
                  <a:schemeClr val="tx1"/>
                </a:solidFill>
                <a:latin typeface="Georgia" panose="02040502050405020303" pitchFamily="18" charset="0"/>
              </a:rPr>
              <a:t>A. Business Partnering Function</a:t>
            </a:r>
          </a:p>
        </p:txBody>
      </p:sp>
    </p:spTree>
    <p:extLst>
      <p:ext uri="{BB962C8B-B14F-4D97-AF65-F5344CB8AC3E}">
        <p14:creationId xmlns:p14="http://schemas.microsoft.com/office/powerpoint/2010/main" val="1735464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697D-FC9E-C2FC-AD91-5A0A08468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9220E-8E39-56BE-2854-46638F41FB80}"/>
              </a:ext>
            </a:extLst>
          </p:cNvPr>
          <p:cNvSpPr>
            <a:spLocks noGrp="1"/>
          </p:cNvSpPr>
          <p:nvPr>
            <p:ph type="title"/>
          </p:nvPr>
        </p:nvSpPr>
        <p:spPr/>
        <p:txBody>
          <a:bodyPr/>
          <a:lstStyle/>
          <a:p>
            <a:r>
              <a:rPr lang="en-GB" dirty="0"/>
              <a:t>Workstream 2: Business Partnering &amp; PMO Function Design (1/2)</a:t>
            </a:r>
            <a:br>
              <a:rPr lang="en-GB" dirty="0"/>
            </a:br>
            <a:r>
              <a:rPr lang="en-GB" sz="1600" dirty="0">
                <a:latin typeface="Arial" panose="020B0604020202020204" pitchFamily="34" charset="0"/>
                <a:cs typeface="Arial" panose="020B0604020202020204" pitchFamily="34" charset="0"/>
              </a:rPr>
              <a:t>The Connective Tissue — Dedicated Relationship Management &amp; Portfolio Steering</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2DF70E50-96EA-E71F-2EEC-53F019D340BD}"/>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8FDA5A0A-DDB1-45DD-6353-1FB68F7D8C35}"/>
              </a:ext>
            </a:extLst>
          </p:cNvPr>
          <p:cNvSpPr>
            <a:spLocks noGrp="1"/>
          </p:cNvSpPr>
          <p:nvPr>
            <p:ph type="sldNum" sz="quarter" idx="4"/>
          </p:nvPr>
        </p:nvSpPr>
        <p:spPr/>
        <p:txBody>
          <a:bodyPr/>
          <a:lstStyle/>
          <a:p>
            <a:fld id="{3E6AC032-1535-134B-A583-D5E1DDD0D167}" type="slidenum">
              <a:rPr lang="en-US" smtClean="0"/>
              <a:pPr/>
              <a:t>20</a:t>
            </a:fld>
            <a:endParaRPr lang="en-US"/>
          </a:p>
        </p:txBody>
      </p:sp>
      <p:sp>
        <p:nvSpPr>
          <p:cNvPr id="76" name="Hexagon 75">
            <a:extLst>
              <a:ext uri="{FF2B5EF4-FFF2-40B4-BE49-F238E27FC236}">
                <a16:creationId xmlns:a16="http://schemas.microsoft.com/office/drawing/2014/main" id="{0DAF7DE7-D5F7-AE09-7D2F-69A9EA68C9BC}"/>
              </a:ext>
            </a:extLst>
          </p:cNvPr>
          <p:cNvSpPr/>
          <p:nvPr/>
        </p:nvSpPr>
        <p:spPr>
          <a:xfrm>
            <a:off x="3653126" y="1722382"/>
            <a:ext cx="4885748" cy="4211850"/>
          </a:xfrm>
          <a:prstGeom prst="hexagon">
            <a:avLst>
              <a:gd name="adj" fmla="val 28719"/>
              <a:gd name="vf" fmla="val 115470"/>
            </a:avLst>
          </a:prstGeom>
          <a:solidFill>
            <a:srgbClr val="DFE3E6"/>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cxnSp>
        <p:nvCxnSpPr>
          <p:cNvPr id="77" name="Straight Connector 76">
            <a:extLst>
              <a:ext uri="{FF2B5EF4-FFF2-40B4-BE49-F238E27FC236}">
                <a16:creationId xmlns:a16="http://schemas.microsoft.com/office/drawing/2014/main" id="{CD3255DA-1D4E-7482-F776-693997852DCC}"/>
              </a:ext>
            </a:extLst>
          </p:cNvPr>
          <p:cNvCxnSpPr>
            <a:cxnSpLocks/>
            <a:stCxn id="76" idx="5"/>
            <a:endCxn id="76" idx="2"/>
          </p:cNvCxnSpPr>
          <p:nvPr/>
        </p:nvCxnSpPr>
        <p:spPr>
          <a:xfrm flipH="1">
            <a:off x="4862727" y="1722383"/>
            <a:ext cx="2466546" cy="4211848"/>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DE09595-EFB1-5477-4A68-0496D423E07B}"/>
              </a:ext>
            </a:extLst>
          </p:cNvPr>
          <p:cNvCxnSpPr>
            <a:cxnSpLocks/>
            <a:stCxn id="76" idx="4"/>
            <a:endCxn id="76" idx="1"/>
          </p:cNvCxnSpPr>
          <p:nvPr/>
        </p:nvCxnSpPr>
        <p:spPr>
          <a:xfrm>
            <a:off x="4862727" y="1722383"/>
            <a:ext cx="2466546" cy="4211848"/>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C31CA023-6B67-A645-CD84-A28ACE4CF7F3}"/>
              </a:ext>
            </a:extLst>
          </p:cNvPr>
          <p:cNvCxnSpPr>
            <a:cxnSpLocks/>
            <a:stCxn id="76" idx="3"/>
          </p:cNvCxnSpPr>
          <p:nvPr/>
        </p:nvCxnSpPr>
        <p:spPr>
          <a:xfrm>
            <a:off x="3653126" y="3828307"/>
            <a:ext cx="4885748" cy="0"/>
          </a:xfrm>
          <a:prstGeom prst="line">
            <a:avLst/>
          </a:prstGeom>
          <a:ln w="101600">
            <a:solidFill>
              <a:schemeClr val="bg1"/>
            </a:solidFill>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273F1033-DDAF-2E0C-5979-C977D1D01B1C}"/>
              </a:ext>
            </a:extLst>
          </p:cNvPr>
          <p:cNvSpPr txBox="1"/>
          <p:nvPr/>
        </p:nvSpPr>
        <p:spPr>
          <a:xfrm>
            <a:off x="400432" y="1260538"/>
            <a:ext cx="2767012" cy="1548309"/>
          </a:xfrm>
          <a:prstGeom prst="rect">
            <a:avLst/>
          </a:prstGeom>
          <a:noFill/>
        </p:spPr>
        <p:txBody>
          <a:bodyPr wrap="square" lIns="0" tIns="0" rIns="0" bIns="0" rtlCol="0">
            <a:spAutoFit/>
          </a:bodyPr>
          <a:lstStyle/>
          <a:p>
            <a:pPr>
              <a:lnSpc>
                <a:spcPct val="125000"/>
              </a:lnSpc>
              <a:spcAft>
                <a:spcPts val="1000"/>
              </a:spcAft>
            </a:pPr>
            <a:r>
              <a:rPr lang="en-GB" sz="1500" b="1" dirty="0"/>
              <a:t>Intake Gate</a:t>
            </a:r>
          </a:p>
          <a:p>
            <a:pPr marL="4763" lvl="1">
              <a:lnSpc>
                <a:spcPct val="125000"/>
              </a:lnSpc>
              <a:spcAft>
                <a:spcPts val="1000"/>
              </a:spcAft>
            </a:pPr>
            <a:r>
              <a:rPr lang="en-GB" sz="1200" dirty="0"/>
              <a:t>Every new initiative (project, product, acquisition workaround, customer request) must pass through a PMO intake gate — RACI impact assessed, resources allocated, SLA defined</a:t>
            </a:r>
          </a:p>
        </p:txBody>
      </p:sp>
      <p:sp>
        <p:nvSpPr>
          <p:cNvPr id="81" name="TextBox 80">
            <a:extLst>
              <a:ext uri="{FF2B5EF4-FFF2-40B4-BE49-F238E27FC236}">
                <a16:creationId xmlns:a16="http://schemas.microsoft.com/office/drawing/2014/main" id="{AA7D4B0D-323B-D855-2E93-7B7DBF9DD6DE}"/>
              </a:ext>
            </a:extLst>
          </p:cNvPr>
          <p:cNvSpPr txBox="1"/>
          <p:nvPr/>
        </p:nvSpPr>
        <p:spPr>
          <a:xfrm>
            <a:off x="404201" y="3053802"/>
            <a:ext cx="2767012" cy="1779141"/>
          </a:xfrm>
          <a:prstGeom prst="rect">
            <a:avLst/>
          </a:prstGeom>
          <a:noFill/>
        </p:spPr>
        <p:txBody>
          <a:bodyPr wrap="square" lIns="0" tIns="0" rIns="0" bIns="0" rtlCol="0">
            <a:spAutoFit/>
          </a:bodyPr>
          <a:lstStyle/>
          <a:p>
            <a:pPr>
              <a:lnSpc>
                <a:spcPct val="125000"/>
              </a:lnSpc>
              <a:spcAft>
                <a:spcPts val="1000"/>
              </a:spcAft>
            </a:pPr>
            <a:r>
              <a:rPr lang="en-GB" sz="1500" b="1" dirty="0"/>
              <a:t>Prioritization Framework </a:t>
            </a:r>
          </a:p>
          <a:p>
            <a:pPr marL="4763" lvl="1">
              <a:lnSpc>
                <a:spcPct val="125000"/>
              </a:lnSpc>
              <a:spcAft>
                <a:spcPts val="1000"/>
              </a:spcAft>
            </a:pPr>
            <a:r>
              <a:rPr lang="en-GB" sz="1200" dirty="0"/>
              <a:t>Weighted scoring model (strategic alignment with SSC vision, customer impact, resource/capacity availability, risk, time-to-value) — directly addressing the client's call for </a:t>
            </a:r>
            <a:r>
              <a:rPr lang="en-GB" sz="1200" b="1" dirty="0"/>
              <a:t>"transparent, centralized portfolio steering"</a:t>
            </a:r>
            <a:endParaRPr lang="en-GB" sz="1100" dirty="0"/>
          </a:p>
        </p:txBody>
      </p:sp>
      <p:sp>
        <p:nvSpPr>
          <p:cNvPr id="82" name="TextBox 81">
            <a:extLst>
              <a:ext uri="{FF2B5EF4-FFF2-40B4-BE49-F238E27FC236}">
                <a16:creationId xmlns:a16="http://schemas.microsoft.com/office/drawing/2014/main" id="{0D30869C-F7D3-6291-2442-E92F3E4EBE73}"/>
              </a:ext>
            </a:extLst>
          </p:cNvPr>
          <p:cNvSpPr txBox="1"/>
          <p:nvPr/>
        </p:nvSpPr>
        <p:spPr>
          <a:xfrm>
            <a:off x="382554" y="5045938"/>
            <a:ext cx="2930281" cy="1086644"/>
          </a:xfrm>
          <a:prstGeom prst="rect">
            <a:avLst/>
          </a:prstGeom>
          <a:noFill/>
        </p:spPr>
        <p:txBody>
          <a:bodyPr wrap="square" lIns="0" tIns="0" rIns="0" bIns="0" rtlCol="0">
            <a:spAutoFit/>
          </a:bodyPr>
          <a:lstStyle/>
          <a:p>
            <a:pPr>
              <a:lnSpc>
                <a:spcPct val="125000"/>
              </a:lnSpc>
              <a:spcAft>
                <a:spcPts val="1000"/>
              </a:spcAft>
            </a:pPr>
            <a:r>
              <a:rPr lang="en-GB" sz="1500" b="1" dirty="0"/>
              <a:t>Capacity &amp; Resource Allocation</a:t>
            </a:r>
          </a:p>
          <a:p>
            <a:pPr>
              <a:lnSpc>
                <a:spcPct val="125000"/>
              </a:lnSpc>
              <a:spcAft>
                <a:spcPts val="1000"/>
              </a:spcAft>
            </a:pPr>
            <a:r>
              <a:rPr lang="en-GB" sz="1200" dirty="0"/>
              <a:t>PMO manages resource allocation across workloads — as specified in the client's TOM Pillar 3</a:t>
            </a:r>
          </a:p>
        </p:txBody>
      </p:sp>
      <p:cxnSp>
        <p:nvCxnSpPr>
          <p:cNvPr id="83" name="Straight Connector 82">
            <a:extLst>
              <a:ext uri="{FF2B5EF4-FFF2-40B4-BE49-F238E27FC236}">
                <a16:creationId xmlns:a16="http://schemas.microsoft.com/office/drawing/2014/main" id="{19EA0E95-94DE-3BC0-967E-8B98241F89C1}"/>
              </a:ext>
            </a:extLst>
          </p:cNvPr>
          <p:cNvCxnSpPr/>
          <p:nvPr/>
        </p:nvCxnSpPr>
        <p:spPr>
          <a:xfrm>
            <a:off x="400432" y="2921736"/>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19028DE3-D1C7-1490-37E6-AE2C159919DC}"/>
              </a:ext>
            </a:extLst>
          </p:cNvPr>
          <p:cNvCxnSpPr/>
          <p:nvPr/>
        </p:nvCxnSpPr>
        <p:spPr>
          <a:xfrm>
            <a:off x="400432" y="4929511"/>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75D46333-FB13-C4F3-5310-A24ED76CA333}"/>
              </a:ext>
            </a:extLst>
          </p:cNvPr>
          <p:cNvSpPr txBox="1"/>
          <p:nvPr/>
        </p:nvSpPr>
        <p:spPr>
          <a:xfrm>
            <a:off x="9042434" y="1428750"/>
            <a:ext cx="2767012" cy="1086644"/>
          </a:xfrm>
          <a:prstGeom prst="rect">
            <a:avLst/>
          </a:prstGeom>
          <a:noFill/>
        </p:spPr>
        <p:txBody>
          <a:bodyPr wrap="square" lIns="0" tIns="0" rIns="0" bIns="0" rtlCol="0">
            <a:spAutoFit/>
          </a:bodyPr>
          <a:lstStyle/>
          <a:p>
            <a:pPr>
              <a:lnSpc>
                <a:spcPct val="125000"/>
              </a:lnSpc>
              <a:spcAft>
                <a:spcPts val="1000"/>
              </a:spcAft>
            </a:pPr>
            <a:r>
              <a:rPr lang="en-GB" sz="1500" b="1" dirty="0"/>
              <a:t>Portfolio Dashboard</a:t>
            </a:r>
          </a:p>
          <a:p>
            <a:pPr marL="4763" lvl="1">
              <a:lnSpc>
                <a:spcPct val="125000"/>
              </a:lnSpc>
              <a:spcAft>
                <a:spcPts val="1000"/>
              </a:spcAft>
            </a:pPr>
            <a:r>
              <a:rPr lang="en-GB" sz="1200" dirty="0"/>
              <a:t>Real-time consolidated view of all active projects, their RACI owners, status, and resource consumption</a:t>
            </a:r>
          </a:p>
        </p:txBody>
      </p:sp>
      <p:sp>
        <p:nvSpPr>
          <p:cNvPr id="86" name="TextBox 85">
            <a:extLst>
              <a:ext uri="{FF2B5EF4-FFF2-40B4-BE49-F238E27FC236}">
                <a16:creationId xmlns:a16="http://schemas.microsoft.com/office/drawing/2014/main" id="{9C27DAC6-9ED2-D550-BEA5-9D150EE6D1F2}"/>
              </a:ext>
            </a:extLst>
          </p:cNvPr>
          <p:cNvSpPr txBox="1"/>
          <p:nvPr/>
        </p:nvSpPr>
        <p:spPr>
          <a:xfrm>
            <a:off x="9042434" y="2898822"/>
            <a:ext cx="2767012" cy="1317477"/>
          </a:xfrm>
          <a:prstGeom prst="rect">
            <a:avLst/>
          </a:prstGeom>
          <a:noFill/>
        </p:spPr>
        <p:txBody>
          <a:bodyPr wrap="square" lIns="0" tIns="0" rIns="0" bIns="0" rtlCol="0">
            <a:spAutoFit/>
          </a:bodyPr>
          <a:lstStyle/>
          <a:p>
            <a:pPr>
              <a:lnSpc>
                <a:spcPct val="125000"/>
              </a:lnSpc>
              <a:spcAft>
                <a:spcPts val="1000"/>
              </a:spcAft>
            </a:pPr>
            <a:r>
              <a:rPr lang="en-GB" sz="1500" b="1" dirty="0"/>
              <a:t>Cadence</a:t>
            </a:r>
          </a:p>
          <a:p>
            <a:pPr marL="4763" lvl="1">
              <a:lnSpc>
                <a:spcPct val="125000"/>
              </a:lnSpc>
              <a:spcAft>
                <a:spcPts val="1000"/>
              </a:spcAft>
            </a:pPr>
            <a:r>
              <a:rPr lang="en-GB" sz="1200" dirty="0"/>
              <a:t>Weekly PMO stand-ups; monthly portfolio reviews with leadership; quarterly alignment with Governance Forum</a:t>
            </a:r>
          </a:p>
        </p:txBody>
      </p:sp>
      <p:sp>
        <p:nvSpPr>
          <p:cNvPr id="87" name="TextBox 86">
            <a:extLst>
              <a:ext uri="{FF2B5EF4-FFF2-40B4-BE49-F238E27FC236}">
                <a16:creationId xmlns:a16="http://schemas.microsoft.com/office/drawing/2014/main" id="{522B3E86-E457-743C-D7C5-628E43AF64F0}"/>
              </a:ext>
            </a:extLst>
          </p:cNvPr>
          <p:cNvSpPr txBox="1"/>
          <p:nvPr/>
        </p:nvSpPr>
        <p:spPr>
          <a:xfrm>
            <a:off x="9042434" y="4514182"/>
            <a:ext cx="2767012" cy="1548309"/>
          </a:xfrm>
          <a:prstGeom prst="rect">
            <a:avLst/>
          </a:prstGeom>
          <a:noFill/>
        </p:spPr>
        <p:txBody>
          <a:bodyPr wrap="square" lIns="0" tIns="0" rIns="0" bIns="0" rtlCol="0">
            <a:spAutoFit/>
          </a:bodyPr>
          <a:lstStyle/>
          <a:p>
            <a:pPr>
              <a:lnSpc>
                <a:spcPct val="125000"/>
              </a:lnSpc>
              <a:spcAft>
                <a:spcPts val="1000"/>
              </a:spcAft>
            </a:pPr>
            <a:r>
              <a:rPr lang="en-GB" sz="1500" b="1" dirty="0"/>
              <a:t>Quick Wins Tracking</a:t>
            </a:r>
          </a:p>
          <a:p>
            <a:pPr>
              <a:lnSpc>
                <a:spcPct val="125000"/>
              </a:lnSpc>
              <a:spcAft>
                <a:spcPts val="1000"/>
              </a:spcAft>
            </a:pPr>
            <a:r>
              <a:rPr lang="en-GB" sz="1200" dirty="0"/>
              <a:t>PMO maintains a dedicated quick-wins register — the client's transformation approach calls for </a:t>
            </a:r>
            <a:r>
              <a:rPr lang="en-GB" sz="1200" b="1" dirty="0"/>
              <a:t>"Identify quick wins"</a:t>
            </a:r>
            <a:r>
              <a:rPr lang="en-GB" sz="1200" dirty="0"/>
              <a:t> and the PMO ensures these are tracked to completion</a:t>
            </a:r>
            <a:endParaRPr lang="en-GB" sz="1100" dirty="0"/>
          </a:p>
        </p:txBody>
      </p:sp>
      <p:cxnSp>
        <p:nvCxnSpPr>
          <p:cNvPr id="88" name="Straight Connector 87">
            <a:extLst>
              <a:ext uri="{FF2B5EF4-FFF2-40B4-BE49-F238E27FC236}">
                <a16:creationId xmlns:a16="http://schemas.microsoft.com/office/drawing/2014/main" id="{27DB1C54-B778-6996-7EA2-DD0F68EDB6A8}"/>
              </a:ext>
            </a:extLst>
          </p:cNvPr>
          <p:cNvCxnSpPr/>
          <p:nvPr/>
        </p:nvCxnSpPr>
        <p:spPr>
          <a:xfrm>
            <a:off x="9042434" y="2784286"/>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19175520-7F9B-6103-BC34-A3607B8EFF94}"/>
              </a:ext>
            </a:extLst>
          </p:cNvPr>
          <p:cNvCxnSpPr/>
          <p:nvPr/>
        </p:nvCxnSpPr>
        <p:spPr>
          <a:xfrm>
            <a:off x="9042434" y="4324328"/>
            <a:ext cx="2767012"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FE853D1C-DA09-3CE4-A53A-E66D7FF3003E}"/>
              </a:ext>
            </a:extLst>
          </p:cNvPr>
          <p:cNvCxnSpPr/>
          <p:nvPr/>
        </p:nvCxnSpPr>
        <p:spPr>
          <a:xfrm>
            <a:off x="5115389" y="1565598"/>
            <a:ext cx="2049340"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115E2025-135F-F0D5-C4BB-81C8D02B4F39}"/>
              </a:ext>
            </a:extLst>
          </p:cNvPr>
          <p:cNvCxnSpPr/>
          <p:nvPr/>
        </p:nvCxnSpPr>
        <p:spPr>
          <a:xfrm>
            <a:off x="7561845" y="1833705"/>
            <a:ext cx="977029" cy="1689903"/>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4815921-307D-73E4-C3E4-5BF5A8F441DA}"/>
              </a:ext>
            </a:extLst>
          </p:cNvPr>
          <p:cNvCxnSpPr/>
          <p:nvPr/>
        </p:nvCxnSpPr>
        <p:spPr>
          <a:xfrm flipH="1">
            <a:off x="7561845" y="4056044"/>
            <a:ext cx="1061294" cy="1878187"/>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632E33C0-DA21-0E02-5DBF-22980423134F}"/>
              </a:ext>
            </a:extLst>
          </p:cNvPr>
          <p:cNvCxnSpPr/>
          <p:nvPr/>
        </p:nvCxnSpPr>
        <p:spPr>
          <a:xfrm flipH="1">
            <a:off x="5000263" y="6093188"/>
            <a:ext cx="2164466" cy="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31FA949E-960E-3767-EF1F-403BB27AB717}"/>
              </a:ext>
            </a:extLst>
          </p:cNvPr>
          <p:cNvCxnSpPr>
            <a:cxnSpLocks/>
          </p:cNvCxnSpPr>
          <p:nvPr/>
        </p:nvCxnSpPr>
        <p:spPr>
          <a:xfrm flipH="1" flipV="1">
            <a:off x="3653126" y="4160216"/>
            <a:ext cx="977029" cy="1689160"/>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E2F371D1-2EF2-6771-489D-282BF96DA75E}"/>
              </a:ext>
            </a:extLst>
          </p:cNvPr>
          <p:cNvCxnSpPr/>
          <p:nvPr/>
        </p:nvCxnSpPr>
        <p:spPr>
          <a:xfrm flipV="1">
            <a:off x="3653126" y="1833705"/>
            <a:ext cx="956939" cy="1689903"/>
          </a:xfrm>
          <a:prstGeom prst="straightConnector1">
            <a:avLst/>
          </a:prstGeom>
          <a:ln w="1270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96" name="Rectangle 95">
            <a:extLst>
              <a:ext uri="{FF2B5EF4-FFF2-40B4-BE49-F238E27FC236}">
                <a16:creationId xmlns:a16="http://schemas.microsoft.com/office/drawing/2014/main" id="{F6F7B836-695F-C072-B543-DD64CBA0387F}"/>
              </a:ext>
            </a:extLst>
          </p:cNvPr>
          <p:cNvSpPr/>
          <p:nvPr/>
        </p:nvSpPr>
        <p:spPr>
          <a:xfrm>
            <a:off x="5549187" y="1994941"/>
            <a:ext cx="1055661" cy="6579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Intake Gate</a:t>
            </a:r>
          </a:p>
        </p:txBody>
      </p:sp>
      <p:sp>
        <p:nvSpPr>
          <p:cNvPr id="97" name="Rectangle 96">
            <a:extLst>
              <a:ext uri="{FF2B5EF4-FFF2-40B4-BE49-F238E27FC236}">
                <a16:creationId xmlns:a16="http://schemas.microsoft.com/office/drawing/2014/main" id="{A5A57B3E-60A7-27AB-CC92-3FE75B06E98F}"/>
              </a:ext>
            </a:extLst>
          </p:cNvPr>
          <p:cNvSpPr/>
          <p:nvPr/>
        </p:nvSpPr>
        <p:spPr>
          <a:xfrm>
            <a:off x="6719935" y="2824692"/>
            <a:ext cx="1325374" cy="6520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Prioritization Framework</a:t>
            </a:r>
            <a:r>
              <a:rPr lang="en-US" b="1" dirty="0">
                <a:solidFill>
                  <a:schemeClr val="tx1"/>
                </a:solidFill>
              </a:rPr>
              <a:t> </a:t>
            </a:r>
          </a:p>
        </p:txBody>
      </p:sp>
      <p:sp>
        <p:nvSpPr>
          <p:cNvPr id="98" name="Rectangle 97">
            <a:extLst>
              <a:ext uri="{FF2B5EF4-FFF2-40B4-BE49-F238E27FC236}">
                <a16:creationId xmlns:a16="http://schemas.microsoft.com/office/drawing/2014/main" id="{B40E037F-BC8C-6EC7-399F-198F77EB1C76}"/>
              </a:ext>
            </a:extLst>
          </p:cNvPr>
          <p:cNvSpPr/>
          <p:nvPr/>
        </p:nvSpPr>
        <p:spPr>
          <a:xfrm>
            <a:off x="4146691" y="2735385"/>
            <a:ext cx="1313394" cy="8306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Quick Wins Tracking</a:t>
            </a:r>
          </a:p>
        </p:txBody>
      </p:sp>
      <p:sp>
        <p:nvSpPr>
          <p:cNvPr id="99" name="Rectangle 98">
            <a:extLst>
              <a:ext uri="{FF2B5EF4-FFF2-40B4-BE49-F238E27FC236}">
                <a16:creationId xmlns:a16="http://schemas.microsoft.com/office/drawing/2014/main" id="{78A38D1A-A805-8897-1302-C2110814B51A}"/>
              </a:ext>
            </a:extLst>
          </p:cNvPr>
          <p:cNvSpPr/>
          <p:nvPr/>
        </p:nvSpPr>
        <p:spPr>
          <a:xfrm>
            <a:off x="5432520" y="4956260"/>
            <a:ext cx="1326089" cy="675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Portfolio Dashboard</a:t>
            </a:r>
          </a:p>
        </p:txBody>
      </p:sp>
      <p:sp>
        <p:nvSpPr>
          <p:cNvPr id="100" name="Rectangle 99">
            <a:extLst>
              <a:ext uri="{FF2B5EF4-FFF2-40B4-BE49-F238E27FC236}">
                <a16:creationId xmlns:a16="http://schemas.microsoft.com/office/drawing/2014/main" id="{45701D32-E694-E28C-F8E9-9548E7DF108C}"/>
              </a:ext>
            </a:extLst>
          </p:cNvPr>
          <p:cNvSpPr/>
          <p:nvPr/>
        </p:nvSpPr>
        <p:spPr>
          <a:xfrm>
            <a:off x="6776186" y="4255701"/>
            <a:ext cx="1327395" cy="601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Capacity &amp; Resource Allocation</a:t>
            </a:r>
          </a:p>
        </p:txBody>
      </p:sp>
      <p:sp>
        <p:nvSpPr>
          <p:cNvPr id="101" name="Rectangle 100">
            <a:extLst>
              <a:ext uri="{FF2B5EF4-FFF2-40B4-BE49-F238E27FC236}">
                <a16:creationId xmlns:a16="http://schemas.microsoft.com/office/drawing/2014/main" id="{27F9F257-F7F3-BCAA-EFD4-C96CDEBA5A60}"/>
              </a:ext>
            </a:extLst>
          </p:cNvPr>
          <p:cNvSpPr/>
          <p:nvPr/>
        </p:nvSpPr>
        <p:spPr>
          <a:xfrm>
            <a:off x="4310219" y="4290165"/>
            <a:ext cx="977029" cy="505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Cadence</a:t>
            </a:r>
          </a:p>
        </p:txBody>
      </p:sp>
      <p:sp>
        <p:nvSpPr>
          <p:cNvPr id="102" name="Hexagon 101">
            <a:extLst>
              <a:ext uri="{FF2B5EF4-FFF2-40B4-BE49-F238E27FC236}">
                <a16:creationId xmlns:a16="http://schemas.microsoft.com/office/drawing/2014/main" id="{43DEFE78-11CA-5CE4-F0BA-C3F9AF41C8C8}"/>
              </a:ext>
            </a:extLst>
          </p:cNvPr>
          <p:cNvSpPr/>
          <p:nvPr/>
        </p:nvSpPr>
        <p:spPr>
          <a:xfrm>
            <a:off x="5144896" y="3035454"/>
            <a:ext cx="1864244" cy="1607106"/>
          </a:xfrm>
          <a:prstGeom prst="hexagon">
            <a:avLst>
              <a:gd name="adj" fmla="val 28719"/>
              <a:gd name="vf" fmla="val 115470"/>
            </a:avLst>
          </a:prstGeom>
          <a:solidFill>
            <a:schemeClr val="bg1"/>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103" name="TextBox 102">
            <a:extLst>
              <a:ext uri="{FF2B5EF4-FFF2-40B4-BE49-F238E27FC236}">
                <a16:creationId xmlns:a16="http://schemas.microsoft.com/office/drawing/2014/main" id="{3A1B8EE3-B30E-C9F3-F3F6-3D37C86A58D1}"/>
              </a:ext>
            </a:extLst>
          </p:cNvPr>
          <p:cNvSpPr txBox="1"/>
          <p:nvPr/>
        </p:nvSpPr>
        <p:spPr>
          <a:xfrm>
            <a:off x="5210901" y="3109293"/>
            <a:ext cx="1770198" cy="1432952"/>
          </a:xfrm>
          <a:prstGeom prst="rect">
            <a:avLst/>
          </a:prstGeom>
          <a:noFill/>
        </p:spPr>
        <p:txBody>
          <a:bodyPr wrap="square" lIns="0" tIns="0" rIns="0" bIns="0" rtlCol="0" anchor="ctr">
            <a:noAutofit/>
          </a:bodyPr>
          <a:lstStyle/>
          <a:p>
            <a:pPr algn="ctr"/>
            <a:r>
              <a:rPr lang="en-US" sz="1600" dirty="0">
                <a:solidFill>
                  <a:schemeClr val="tx1"/>
                </a:solidFill>
                <a:latin typeface="Georgia" panose="02040502050405020303" pitchFamily="18" charset="0"/>
              </a:rPr>
              <a:t>B. PMO </a:t>
            </a:r>
            <a:br>
              <a:rPr lang="en-US" sz="1600" dirty="0">
                <a:solidFill>
                  <a:schemeClr val="tx1"/>
                </a:solidFill>
                <a:latin typeface="Georgia" panose="02040502050405020303" pitchFamily="18" charset="0"/>
              </a:rPr>
            </a:br>
            <a:r>
              <a:rPr lang="en-US" sz="1600" dirty="0">
                <a:solidFill>
                  <a:schemeClr val="tx1"/>
                </a:solidFill>
                <a:latin typeface="Georgia" panose="02040502050405020303" pitchFamily="18" charset="0"/>
              </a:rPr>
              <a:t>Function</a:t>
            </a:r>
          </a:p>
        </p:txBody>
      </p:sp>
    </p:spTree>
    <p:extLst>
      <p:ext uri="{BB962C8B-B14F-4D97-AF65-F5344CB8AC3E}">
        <p14:creationId xmlns:p14="http://schemas.microsoft.com/office/powerpoint/2010/main" val="3602910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BE6ADA7-BC9E-ABFF-0CD7-D9C043A28EFC}"/>
              </a:ext>
            </a:extLst>
          </p:cNvPr>
          <p:cNvSpPr/>
          <p:nvPr/>
        </p:nvSpPr>
        <p:spPr>
          <a:xfrm>
            <a:off x="6187860" y="0"/>
            <a:ext cx="6004140" cy="6858000"/>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K"/>
          </a:p>
        </p:txBody>
      </p:sp>
      <p:sp>
        <p:nvSpPr>
          <p:cNvPr id="2" name="Title 1">
            <a:extLst>
              <a:ext uri="{FF2B5EF4-FFF2-40B4-BE49-F238E27FC236}">
                <a16:creationId xmlns:a16="http://schemas.microsoft.com/office/drawing/2014/main" id="{10FC8AAE-1A26-B175-EB4B-97D736D2F1F5}"/>
              </a:ext>
            </a:extLst>
          </p:cNvPr>
          <p:cNvSpPr>
            <a:spLocks noGrp="1"/>
          </p:cNvSpPr>
          <p:nvPr>
            <p:ph type="title"/>
          </p:nvPr>
        </p:nvSpPr>
        <p:spPr>
          <a:xfrm>
            <a:off x="402336" y="402336"/>
            <a:ext cx="5378632" cy="915289"/>
          </a:xfrm>
        </p:spPr>
        <p:txBody>
          <a:bodyPr/>
          <a:lstStyle/>
          <a:p>
            <a:r>
              <a:rPr lang="en-GB" dirty="0"/>
              <a:t>Workstream 3: Intake Mechanism &amp; Case Management</a:t>
            </a:r>
            <a:br>
              <a:rPr lang="en-GB" dirty="0"/>
            </a:br>
            <a:r>
              <a:rPr lang="en-GB" sz="1600" dirty="0">
                <a:latin typeface="Arial" panose="020B0604020202020204" pitchFamily="34" charset="0"/>
                <a:cs typeface="Arial" panose="020B0604020202020204" pitchFamily="34" charset="0"/>
              </a:rPr>
              <a:t>From "Unstructured INTAKE" to a Single Front Door</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CA34BD7F-C657-0EED-FDB6-C1D649436A23}"/>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1D6CE0CF-26BA-C5DD-5530-DA8308014018}"/>
              </a:ext>
            </a:extLst>
          </p:cNvPr>
          <p:cNvSpPr>
            <a:spLocks noGrp="1"/>
          </p:cNvSpPr>
          <p:nvPr>
            <p:ph type="sldNum" sz="quarter" idx="4"/>
          </p:nvPr>
        </p:nvSpPr>
        <p:spPr/>
        <p:txBody>
          <a:bodyPr/>
          <a:lstStyle/>
          <a:p>
            <a:fld id="{3E6AC032-1535-134B-A583-D5E1DDD0D167}" type="slidenum">
              <a:rPr lang="en-US" smtClean="0"/>
              <a:pPr/>
              <a:t>21</a:t>
            </a:fld>
            <a:endParaRPr lang="en-US"/>
          </a:p>
        </p:txBody>
      </p:sp>
      <p:grpSp>
        <p:nvGrpSpPr>
          <p:cNvPr id="8" name="Group 7">
            <a:extLst>
              <a:ext uri="{FF2B5EF4-FFF2-40B4-BE49-F238E27FC236}">
                <a16:creationId xmlns:a16="http://schemas.microsoft.com/office/drawing/2014/main" id="{9F1A3A02-79EF-E0F8-88EA-C96C924864BA}"/>
              </a:ext>
            </a:extLst>
          </p:cNvPr>
          <p:cNvGrpSpPr/>
          <p:nvPr/>
        </p:nvGrpSpPr>
        <p:grpSpPr>
          <a:xfrm>
            <a:off x="389974" y="1619176"/>
            <a:ext cx="5614166" cy="1677825"/>
            <a:chOff x="389974" y="1162010"/>
            <a:chExt cx="4880397" cy="1924598"/>
          </a:xfrm>
        </p:grpSpPr>
        <p:sp>
          <p:nvSpPr>
            <p:cNvPr id="5" name="Rectangle 4">
              <a:extLst>
                <a:ext uri="{FF2B5EF4-FFF2-40B4-BE49-F238E27FC236}">
                  <a16:creationId xmlns:a16="http://schemas.microsoft.com/office/drawing/2014/main" id="{C744BDC9-5187-02A4-6CEB-324EBBE0DB39}"/>
                </a:ext>
              </a:extLst>
            </p:cNvPr>
            <p:cNvSpPr/>
            <p:nvPr/>
          </p:nvSpPr>
          <p:spPr>
            <a:xfrm>
              <a:off x="389974" y="1162010"/>
              <a:ext cx="1310549" cy="71834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dirty="0">
                  <a:solidFill>
                    <a:schemeClr val="tx1"/>
                  </a:solidFill>
                </a:rPr>
                <a:t>Single intake portal</a:t>
              </a:r>
              <a:endParaRPr lang="en-GB" sz="900" dirty="0">
                <a:solidFill>
                  <a:schemeClr val="tx1"/>
                </a:solidFill>
              </a:endParaRPr>
            </a:p>
          </p:txBody>
        </p:sp>
        <p:sp>
          <p:nvSpPr>
            <p:cNvPr id="6" name="Rectangle 5">
              <a:extLst>
                <a:ext uri="{FF2B5EF4-FFF2-40B4-BE49-F238E27FC236}">
                  <a16:creationId xmlns:a16="http://schemas.microsoft.com/office/drawing/2014/main" id="{A8C0ED6F-5751-CDEC-7646-B8E451131751}"/>
                </a:ext>
              </a:extLst>
            </p:cNvPr>
            <p:cNvSpPr/>
            <p:nvPr/>
          </p:nvSpPr>
          <p:spPr>
            <a:xfrm>
              <a:off x="2174898" y="1164299"/>
              <a:ext cx="1310549" cy="71834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dirty="0">
                  <a:solidFill>
                    <a:schemeClr val="tx1"/>
                  </a:solidFill>
                </a:rPr>
                <a:t>Triage &amp; classification engine</a:t>
              </a:r>
              <a:endParaRPr lang="en-GB" sz="900" dirty="0">
                <a:solidFill>
                  <a:schemeClr val="tx1"/>
                </a:solidFill>
              </a:endParaRPr>
            </a:p>
          </p:txBody>
        </p:sp>
        <p:sp>
          <p:nvSpPr>
            <p:cNvPr id="7" name="Rectangle 6">
              <a:extLst>
                <a:ext uri="{FF2B5EF4-FFF2-40B4-BE49-F238E27FC236}">
                  <a16:creationId xmlns:a16="http://schemas.microsoft.com/office/drawing/2014/main" id="{09ED919D-F522-D284-A735-962A7E7CD648}"/>
                </a:ext>
              </a:extLst>
            </p:cNvPr>
            <p:cNvSpPr/>
            <p:nvPr/>
          </p:nvSpPr>
          <p:spPr>
            <a:xfrm>
              <a:off x="3959822" y="1181790"/>
              <a:ext cx="1310549" cy="71834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dirty="0">
                  <a:solidFill>
                    <a:schemeClr val="tx1"/>
                  </a:solidFill>
                </a:rPr>
                <a:t>Assignment and SLA clock start</a:t>
              </a:r>
              <a:endParaRPr lang="en-GB" sz="900" dirty="0">
                <a:solidFill>
                  <a:schemeClr val="tx1"/>
                </a:solidFill>
              </a:endParaRPr>
            </a:p>
          </p:txBody>
        </p:sp>
        <p:sp>
          <p:nvSpPr>
            <p:cNvPr id="9" name="Rectangle 8">
              <a:extLst>
                <a:ext uri="{FF2B5EF4-FFF2-40B4-BE49-F238E27FC236}">
                  <a16:creationId xmlns:a16="http://schemas.microsoft.com/office/drawing/2014/main" id="{2E28D33C-671E-4415-879C-87FE77C15159}"/>
                </a:ext>
              </a:extLst>
            </p:cNvPr>
            <p:cNvSpPr/>
            <p:nvPr/>
          </p:nvSpPr>
          <p:spPr>
            <a:xfrm>
              <a:off x="2174898" y="2361586"/>
              <a:ext cx="1310549" cy="71834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dirty="0">
                  <a:solidFill>
                    <a:schemeClr val="tx1"/>
                  </a:solidFill>
                </a:rPr>
                <a:t>Autoroute by category: dispute, incident, project, acquisition workaround</a:t>
              </a:r>
              <a:endParaRPr lang="en-GB" sz="900" dirty="0">
                <a:solidFill>
                  <a:schemeClr val="tx1"/>
                </a:solidFill>
              </a:endParaRPr>
            </a:p>
          </p:txBody>
        </p:sp>
        <p:sp>
          <p:nvSpPr>
            <p:cNvPr id="10" name="Rectangle 9">
              <a:extLst>
                <a:ext uri="{FF2B5EF4-FFF2-40B4-BE49-F238E27FC236}">
                  <a16:creationId xmlns:a16="http://schemas.microsoft.com/office/drawing/2014/main" id="{8A1BFF5E-1C72-BF16-2C2C-F78D831C74EB}"/>
                </a:ext>
              </a:extLst>
            </p:cNvPr>
            <p:cNvSpPr/>
            <p:nvPr/>
          </p:nvSpPr>
          <p:spPr>
            <a:xfrm>
              <a:off x="3939538" y="2368260"/>
              <a:ext cx="1310549" cy="71834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dirty="0">
                  <a:solidFill>
                    <a:schemeClr val="tx1"/>
                  </a:solidFill>
                </a:rPr>
                <a:t>RACI-based assignment; SLA per category; real-time dashboard</a:t>
              </a:r>
              <a:endParaRPr lang="en-GB" sz="900" dirty="0">
                <a:solidFill>
                  <a:schemeClr val="tx1"/>
                </a:solidFill>
              </a:endParaRPr>
            </a:p>
          </p:txBody>
        </p:sp>
        <p:cxnSp>
          <p:nvCxnSpPr>
            <p:cNvPr id="11" name="Straight Arrow Connector 10" descr="Up arrow">
              <a:extLst>
                <a:ext uri="{FF2B5EF4-FFF2-40B4-BE49-F238E27FC236}">
                  <a16:creationId xmlns:a16="http://schemas.microsoft.com/office/drawing/2014/main" id="{54B6E282-842F-3FBB-FA66-A8808FF515F7}"/>
                </a:ext>
              </a:extLst>
            </p:cNvPr>
            <p:cNvCxnSpPr>
              <a:cxnSpLocks/>
            </p:cNvCxnSpPr>
            <p:nvPr/>
          </p:nvCxnSpPr>
          <p:spPr>
            <a:xfrm>
              <a:off x="1809707" y="1521214"/>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descr="Up arrow">
              <a:extLst>
                <a:ext uri="{FF2B5EF4-FFF2-40B4-BE49-F238E27FC236}">
                  <a16:creationId xmlns:a16="http://schemas.microsoft.com/office/drawing/2014/main" id="{0B8B0943-899C-190F-3DD8-C9E69C2718ED}"/>
                </a:ext>
              </a:extLst>
            </p:cNvPr>
            <p:cNvCxnSpPr>
              <a:cxnSpLocks/>
            </p:cNvCxnSpPr>
            <p:nvPr/>
          </p:nvCxnSpPr>
          <p:spPr>
            <a:xfrm>
              <a:off x="3583916" y="1521214"/>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descr="Up arrow">
              <a:extLst>
                <a:ext uri="{FF2B5EF4-FFF2-40B4-BE49-F238E27FC236}">
                  <a16:creationId xmlns:a16="http://schemas.microsoft.com/office/drawing/2014/main" id="{ED83E204-9D87-C7A4-BE8C-96D399D4E12C}"/>
                </a:ext>
              </a:extLst>
            </p:cNvPr>
            <p:cNvCxnSpPr>
              <a:cxnSpLocks/>
            </p:cNvCxnSpPr>
            <p:nvPr/>
          </p:nvCxnSpPr>
          <p:spPr>
            <a:xfrm rot="5400000">
              <a:off x="2683163" y="2137325"/>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descr="Up arrow">
              <a:extLst>
                <a:ext uri="{FF2B5EF4-FFF2-40B4-BE49-F238E27FC236}">
                  <a16:creationId xmlns:a16="http://schemas.microsoft.com/office/drawing/2014/main" id="{4A6195E2-0EAC-2FB0-5820-5A6EAA7D307F}"/>
                </a:ext>
              </a:extLst>
            </p:cNvPr>
            <p:cNvCxnSpPr>
              <a:cxnSpLocks/>
            </p:cNvCxnSpPr>
            <p:nvPr/>
          </p:nvCxnSpPr>
          <p:spPr>
            <a:xfrm rot="5400000">
              <a:off x="4457375" y="2137326"/>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10F150EB-E555-371F-ABFB-80C2159AAB58}"/>
                </a:ext>
              </a:extLst>
            </p:cNvPr>
            <p:cNvSpPr/>
            <p:nvPr/>
          </p:nvSpPr>
          <p:spPr>
            <a:xfrm>
              <a:off x="389974" y="2361586"/>
              <a:ext cx="1310549" cy="71834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b="1" dirty="0">
                  <a:solidFill>
                    <a:schemeClr val="tx1"/>
                  </a:solidFill>
                </a:rPr>
                <a:t>Web form, API, email to ticket</a:t>
              </a:r>
              <a:endParaRPr lang="en-GB" sz="900" dirty="0">
                <a:solidFill>
                  <a:schemeClr val="tx1"/>
                </a:solidFill>
              </a:endParaRPr>
            </a:p>
          </p:txBody>
        </p:sp>
        <p:cxnSp>
          <p:nvCxnSpPr>
            <p:cNvPr id="17" name="Straight Arrow Connector 16" descr="Up arrow">
              <a:extLst>
                <a:ext uri="{FF2B5EF4-FFF2-40B4-BE49-F238E27FC236}">
                  <a16:creationId xmlns:a16="http://schemas.microsoft.com/office/drawing/2014/main" id="{3C8D0490-3F1B-55FF-624A-430660956135}"/>
                </a:ext>
              </a:extLst>
            </p:cNvPr>
            <p:cNvCxnSpPr>
              <a:cxnSpLocks/>
            </p:cNvCxnSpPr>
            <p:nvPr/>
          </p:nvCxnSpPr>
          <p:spPr>
            <a:xfrm rot="5400000">
              <a:off x="898239" y="2137325"/>
              <a:ext cx="280599" cy="0"/>
            </a:xfrm>
            <a:prstGeom prst="straightConnector1">
              <a:avLst/>
            </a:prstGeom>
            <a:ln w="28575"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EA45C091-885A-1877-E4A9-D29E376CDB2F}"/>
              </a:ext>
            </a:extLst>
          </p:cNvPr>
          <p:cNvSpPr txBox="1"/>
          <p:nvPr/>
        </p:nvSpPr>
        <p:spPr>
          <a:xfrm>
            <a:off x="6533323" y="4816568"/>
            <a:ext cx="5268703" cy="1384995"/>
          </a:xfrm>
          <a:prstGeom prst="rect">
            <a:avLst/>
          </a:prstGeom>
          <a:noFill/>
        </p:spPr>
        <p:txBody>
          <a:bodyPr wrap="square" lIns="0" rIns="0">
            <a:spAutoFit/>
          </a:bodyPr>
          <a:lstStyle/>
          <a:p>
            <a:r>
              <a:rPr lang="en-GB" sz="1200" b="1" dirty="0"/>
              <a:t>PwC Recommendation: </a:t>
            </a:r>
            <a:br>
              <a:rPr lang="en-GB" sz="1200" b="1" dirty="0"/>
            </a:br>
            <a:r>
              <a:rPr lang="en-GB" sz="1200" dirty="0"/>
              <a:t>ServiceNow CSM + ITSM — unified intake for both business and technology requests, with native SLA management, real-time reporting, and integration capability to feed the KPI dashboards that the client's TOM Pillar 4 demands.</a:t>
            </a:r>
            <a:br>
              <a:rPr lang="en-GB" sz="1200" dirty="0"/>
            </a:br>
            <a:br>
              <a:rPr lang="en-GB" sz="1200" dirty="0"/>
            </a:br>
            <a:r>
              <a:rPr lang="en-GB" sz="1200" b="1" dirty="0"/>
              <a:t>Alternatively PwC can build an intake and workflow management software on demand.</a:t>
            </a:r>
          </a:p>
        </p:txBody>
      </p:sp>
      <p:graphicFrame>
        <p:nvGraphicFramePr>
          <p:cNvPr id="13" name="Table 12">
            <a:extLst>
              <a:ext uri="{FF2B5EF4-FFF2-40B4-BE49-F238E27FC236}">
                <a16:creationId xmlns:a16="http://schemas.microsoft.com/office/drawing/2014/main" id="{51F6C3F9-8E35-7BE5-D42E-EF887D284EA5}"/>
              </a:ext>
            </a:extLst>
          </p:cNvPr>
          <p:cNvGraphicFramePr>
            <a:graphicFrameLocks noGrp="1"/>
          </p:cNvGraphicFramePr>
          <p:nvPr>
            <p:extLst>
              <p:ext uri="{D42A27DB-BD31-4B8C-83A1-F6EECF244321}">
                <p14:modId xmlns:p14="http://schemas.microsoft.com/office/powerpoint/2010/main" val="2251032683"/>
              </p:ext>
            </p:extLst>
          </p:nvPr>
        </p:nvGraphicFramePr>
        <p:xfrm>
          <a:off x="6533323" y="1004280"/>
          <a:ext cx="5268699" cy="3161707"/>
        </p:xfrm>
        <a:graphic>
          <a:graphicData uri="http://schemas.openxmlformats.org/drawingml/2006/table">
            <a:tbl>
              <a:tblPr/>
              <a:tblGrid>
                <a:gridCol w="1470990">
                  <a:extLst>
                    <a:ext uri="{9D8B030D-6E8A-4147-A177-3AD203B41FA5}">
                      <a16:colId xmlns:a16="http://schemas.microsoft.com/office/drawing/2014/main" val="887940650"/>
                    </a:ext>
                  </a:extLst>
                </a:gridCol>
                <a:gridCol w="2146852">
                  <a:extLst>
                    <a:ext uri="{9D8B030D-6E8A-4147-A177-3AD203B41FA5}">
                      <a16:colId xmlns:a16="http://schemas.microsoft.com/office/drawing/2014/main" val="2146638192"/>
                    </a:ext>
                  </a:extLst>
                </a:gridCol>
                <a:gridCol w="1650857">
                  <a:extLst>
                    <a:ext uri="{9D8B030D-6E8A-4147-A177-3AD203B41FA5}">
                      <a16:colId xmlns:a16="http://schemas.microsoft.com/office/drawing/2014/main" val="3497800244"/>
                    </a:ext>
                  </a:extLst>
                </a:gridCol>
              </a:tblGrid>
              <a:tr h="293370">
                <a:tc>
                  <a:txBody>
                    <a:bodyPr/>
                    <a:lstStyle/>
                    <a:p>
                      <a:pPr algn="l">
                        <a:buNone/>
                      </a:pPr>
                      <a:r>
                        <a:rPr lang="en-GB" sz="1400" b="1" dirty="0">
                          <a:solidFill>
                            <a:schemeClr val="accent1"/>
                          </a:solidFill>
                          <a:effectLst/>
                          <a:latin typeface="Arial" panose="020B0604020202020204" pitchFamily="34" charset="0"/>
                          <a:cs typeface="Arial" panose="020B0604020202020204" pitchFamily="34" charset="0"/>
                        </a:rPr>
                        <a:t>Platform</a:t>
                      </a:r>
                      <a:endParaRPr lang="en-GB" sz="1400" dirty="0">
                        <a:solidFill>
                          <a:schemeClr val="accent1"/>
                        </a:solidFill>
                        <a:effectLst/>
                        <a:latin typeface="Arial" panose="020B0604020202020204" pitchFamily="34" charset="0"/>
                        <a:cs typeface="Arial" panose="020B0604020202020204" pitchFamily="34" charset="0"/>
                      </a:endParaRP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400" b="1" dirty="0">
                          <a:solidFill>
                            <a:schemeClr val="accent1"/>
                          </a:solidFill>
                          <a:effectLst/>
                          <a:latin typeface="Arial" panose="020B0604020202020204" pitchFamily="34" charset="0"/>
                          <a:cs typeface="Arial" panose="020B0604020202020204" pitchFamily="34" charset="0"/>
                        </a:rPr>
                        <a:t>Strengths</a:t>
                      </a:r>
                      <a:endParaRPr lang="en-GB" sz="1400" dirty="0">
                        <a:solidFill>
                          <a:schemeClr val="accent1"/>
                        </a:solidFill>
                        <a:effectLst/>
                        <a:latin typeface="Arial" panose="020B0604020202020204" pitchFamily="34" charset="0"/>
                        <a:cs typeface="Arial" panose="020B0604020202020204" pitchFamily="34" charset="0"/>
                      </a:endParaRP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400" b="1" dirty="0">
                          <a:solidFill>
                            <a:schemeClr val="accent1"/>
                          </a:solidFill>
                          <a:effectLst/>
                          <a:latin typeface="Arial" panose="020B0604020202020204" pitchFamily="34" charset="0"/>
                          <a:cs typeface="Arial" panose="020B0604020202020204" pitchFamily="34" charset="0"/>
                        </a:rPr>
                        <a:t>Fit for GP</a:t>
                      </a:r>
                      <a:endParaRPr lang="en-GB" sz="1400" dirty="0">
                        <a:solidFill>
                          <a:schemeClr val="accent1"/>
                        </a:solidFill>
                        <a:effectLst/>
                        <a:latin typeface="Arial" panose="020B0604020202020204" pitchFamily="34" charset="0"/>
                        <a:cs typeface="Arial" panose="020B0604020202020204" pitchFamily="34" charset="0"/>
                      </a:endParaRP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987944"/>
                  </a:ext>
                </a:extLst>
              </a:tr>
              <a:tr h="773430">
                <a:tc>
                  <a:txBody>
                    <a:bodyPr/>
                    <a:lstStyle/>
                    <a:p>
                      <a:pPr algn="l">
                        <a:buNone/>
                      </a:pPr>
                      <a:r>
                        <a:rPr lang="en-GB" sz="1200" b="1" dirty="0">
                          <a:effectLst/>
                          <a:latin typeface="Arial" panose="020B0604020202020204" pitchFamily="34" charset="0"/>
                          <a:cs typeface="Arial" panose="020B0604020202020204" pitchFamily="34" charset="0"/>
                        </a:rPr>
                        <a:t>ServiceNow CSM + ITSM</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dirty="0">
                          <a:effectLst/>
                          <a:latin typeface="Arial" panose="020B0604020202020204" pitchFamily="34" charset="0"/>
                          <a:cs typeface="Arial" panose="020B0604020202020204" pitchFamily="34" charset="0"/>
                        </a:rPr>
                        <a:t>Market leader; strong multi-category intake; enterprise-grade SLA engine</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dirty="0">
                          <a:effectLst/>
                          <a:latin typeface="Arial" panose="020B0604020202020204" pitchFamily="34" charset="0"/>
                          <a:cs typeface="Arial" panose="020B0604020202020204" pitchFamily="34" charset="0"/>
                        </a:rPr>
                        <a:t>High</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3326622"/>
                  </a:ext>
                </a:extLst>
              </a:tr>
              <a:tr h="773430">
                <a:tc>
                  <a:txBody>
                    <a:bodyPr/>
                    <a:lstStyle/>
                    <a:p>
                      <a:pPr algn="l">
                        <a:buNone/>
                      </a:pPr>
                      <a:r>
                        <a:rPr lang="en-GB" sz="1200" b="1" dirty="0">
                          <a:effectLst/>
                          <a:latin typeface="Arial" panose="020B0604020202020204" pitchFamily="34" charset="0"/>
                          <a:cs typeface="Arial" panose="020B0604020202020204" pitchFamily="34" charset="0"/>
                        </a:rPr>
                        <a:t>Salesforce Service Cloud</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dirty="0">
                          <a:effectLst/>
                          <a:latin typeface="Arial" panose="020B0604020202020204" pitchFamily="34" charset="0"/>
                          <a:cs typeface="Arial" panose="020B0604020202020204" pitchFamily="34" charset="0"/>
                        </a:rPr>
                        <a:t>Strong CRM-native case management; customer-facing portal</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a:effectLst/>
                          <a:latin typeface="Arial" panose="020B0604020202020204" pitchFamily="34" charset="0"/>
                          <a:cs typeface="Arial" panose="020B0604020202020204" pitchFamily="34" charset="0"/>
                        </a:rPr>
                        <a:t>Medium</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0622141"/>
                  </a:ext>
                </a:extLst>
              </a:tr>
              <a:tr h="548047">
                <a:tc>
                  <a:txBody>
                    <a:bodyPr/>
                    <a:lstStyle/>
                    <a:p>
                      <a:pPr algn="l">
                        <a:buNone/>
                      </a:pPr>
                      <a:r>
                        <a:rPr lang="en-GB" sz="1200" b="1" dirty="0">
                          <a:effectLst/>
                          <a:latin typeface="Arial" panose="020B0604020202020204" pitchFamily="34" charset="0"/>
                          <a:cs typeface="Arial" panose="020B0604020202020204" pitchFamily="34" charset="0"/>
                        </a:rPr>
                        <a:t>Jira Service Management</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dirty="0">
                          <a:effectLst/>
                          <a:latin typeface="Arial" panose="020B0604020202020204" pitchFamily="34" charset="0"/>
                          <a:cs typeface="Arial" panose="020B0604020202020204" pitchFamily="34" charset="0"/>
                        </a:rPr>
                        <a:t>Agile-friendly; good for tech dev intake</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dirty="0">
                          <a:effectLst/>
                          <a:latin typeface="Arial" panose="020B0604020202020204" pitchFamily="34" charset="0"/>
                          <a:cs typeface="Arial" panose="020B0604020202020204" pitchFamily="34" charset="0"/>
                        </a:rPr>
                        <a:t>Medium — supplement for PDLC</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7193529"/>
                  </a:ext>
                </a:extLst>
              </a:tr>
              <a:tr h="773430">
                <a:tc>
                  <a:txBody>
                    <a:bodyPr/>
                    <a:lstStyle/>
                    <a:p>
                      <a:pPr algn="l">
                        <a:buNone/>
                      </a:pPr>
                      <a:r>
                        <a:rPr lang="en-GB" sz="1200" b="1" dirty="0">
                          <a:effectLst/>
                          <a:latin typeface="Arial" panose="020B0604020202020204" pitchFamily="34" charset="0"/>
                          <a:cs typeface="Arial" panose="020B0604020202020204" pitchFamily="34" charset="0"/>
                        </a:rPr>
                        <a:t>BMC Helix (Remedy)</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a:effectLst/>
                          <a:latin typeface="Arial" panose="020B0604020202020204" pitchFamily="34" charset="0"/>
                          <a:cs typeface="Arial" panose="020B0604020202020204" pitchFamily="34" charset="0"/>
                        </a:rPr>
                        <a:t>Legacy ITSM; strong in financial services</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200" dirty="0">
                          <a:effectLst/>
                          <a:latin typeface="Arial" panose="020B0604020202020204" pitchFamily="34" charset="0"/>
                          <a:cs typeface="Arial" panose="020B0604020202020204" pitchFamily="34" charset="0"/>
                        </a:rPr>
                        <a:t>Medium — if existing footprint</a:t>
                      </a:r>
                    </a:p>
                  </a:txBody>
                  <a:tcPr marL="72000" marR="72000" marT="36000" marB="9525">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606737"/>
                  </a:ext>
                </a:extLst>
              </a:tr>
            </a:tbl>
          </a:graphicData>
        </a:graphic>
      </p:graphicFrame>
      <p:sp>
        <p:nvSpPr>
          <p:cNvPr id="18" name="TextBox 17">
            <a:extLst>
              <a:ext uri="{FF2B5EF4-FFF2-40B4-BE49-F238E27FC236}">
                <a16:creationId xmlns:a16="http://schemas.microsoft.com/office/drawing/2014/main" id="{5A87F6EB-6BAC-7583-CFA2-66AE13ABB126}"/>
              </a:ext>
            </a:extLst>
          </p:cNvPr>
          <p:cNvSpPr txBox="1"/>
          <p:nvPr/>
        </p:nvSpPr>
        <p:spPr>
          <a:xfrm>
            <a:off x="6533323" y="478559"/>
            <a:ext cx="5268699" cy="441604"/>
          </a:xfrm>
          <a:prstGeom prst="rect">
            <a:avLst/>
          </a:prstGeom>
          <a:noFill/>
        </p:spPr>
        <p:txBody>
          <a:bodyPr wrap="square" lIns="0" tIns="0" rIns="0" bIns="0" rtlCol="0">
            <a:noAutofit/>
          </a:bodyPr>
          <a:lstStyle/>
          <a:p>
            <a:r>
              <a:rPr lang="en-US" sz="1500" b="1" dirty="0">
                <a:latin typeface="Arial" panose="020B0604020202020204" pitchFamily="34" charset="0"/>
                <a:cs typeface="Arial" panose="020B0604020202020204" pitchFamily="34" charset="0"/>
              </a:rPr>
              <a:t>Technology options</a:t>
            </a:r>
            <a:endParaRPr lang="en-GB" sz="1500" b="1" dirty="0" err="1">
              <a:latin typeface="Arial" panose="020B0604020202020204" pitchFamily="34" charset="0"/>
              <a:cs typeface="Arial" panose="020B0604020202020204" pitchFamily="34" charset="0"/>
            </a:endParaRPr>
          </a:p>
        </p:txBody>
      </p:sp>
      <p:cxnSp>
        <p:nvCxnSpPr>
          <p:cNvPr id="23" name="Straight Connector 22">
            <a:extLst>
              <a:ext uri="{FF2B5EF4-FFF2-40B4-BE49-F238E27FC236}">
                <a16:creationId xmlns:a16="http://schemas.microsoft.com/office/drawing/2014/main" id="{E725BCB8-E8F6-7660-7FDB-6E0CB03467B6}"/>
              </a:ext>
            </a:extLst>
          </p:cNvPr>
          <p:cNvCxnSpPr/>
          <p:nvPr/>
        </p:nvCxnSpPr>
        <p:spPr>
          <a:xfrm>
            <a:off x="6523082" y="4504998"/>
            <a:ext cx="5278940" cy="0"/>
          </a:xfrm>
          <a:prstGeom prst="line">
            <a:avLst/>
          </a:prstGeom>
          <a:ln/>
        </p:spPr>
        <p:style>
          <a:lnRef idx="1">
            <a:schemeClr val="accent2"/>
          </a:lnRef>
          <a:fillRef idx="0">
            <a:schemeClr val="accent2"/>
          </a:fillRef>
          <a:effectRef idx="0">
            <a:schemeClr val="accent2"/>
          </a:effectRef>
          <a:fontRef idx="minor">
            <a:schemeClr val="tx1"/>
          </a:fontRef>
        </p:style>
      </p:cxnSp>
      <p:graphicFrame>
        <p:nvGraphicFramePr>
          <p:cNvPr id="24" name="Table 23">
            <a:extLst>
              <a:ext uri="{FF2B5EF4-FFF2-40B4-BE49-F238E27FC236}">
                <a16:creationId xmlns:a16="http://schemas.microsoft.com/office/drawing/2014/main" id="{6B1ABBEE-2E5E-1DC7-376B-6D23A83A8670}"/>
              </a:ext>
            </a:extLst>
          </p:cNvPr>
          <p:cNvGraphicFramePr>
            <a:graphicFrameLocks noGrp="1"/>
          </p:cNvGraphicFramePr>
          <p:nvPr>
            <p:extLst>
              <p:ext uri="{D42A27DB-BD31-4B8C-83A1-F6EECF244321}">
                <p14:modId xmlns:p14="http://schemas.microsoft.com/office/powerpoint/2010/main" val="1732954407"/>
              </p:ext>
            </p:extLst>
          </p:nvPr>
        </p:nvGraphicFramePr>
        <p:xfrm>
          <a:off x="402335" y="3678775"/>
          <a:ext cx="5601805" cy="2765444"/>
        </p:xfrm>
        <a:graphic>
          <a:graphicData uri="http://schemas.openxmlformats.org/drawingml/2006/table">
            <a:tbl>
              <a:tblPr/>
              <a:tblGrid>
                <a:gridCol w="1015648">
                  <a:extLst>
                    <a:ext uri="{9D8B030D-6E8A-4147-A177-3AD203B41FA5}">
                      <a16:colId xmlns:a16="http://schemas.microsoft.com/office/drawing/2014/main" val="2788539427"/>
                    </a:ext>
                  </a:extLst>
                </a:gridCol>
                <a:gridCol w="3126585">
                  <a:extLst>
                    <a:ext uri="{9D8B030D-6E8A-4147-A177-3AD203B41FA5}">
                      <a16:colId xmlns:a16="http://schemas.microsoft.com/office/drawing/2014/main" val="3958124212"/>
                    </a:ext>
                  </a:extLst>
                </a:gridCol>
                <a:gridCol w="1459572">
                  <a:extLst>
                    <a:ext uri="{9D8B030D-6E8A-4147-A177-3AD203B41FA5}">
                      <a16:colId xmlns:a16="http://schemas.microsoft.com/office/drawing/2014/main" val="2358709466"/>
                    </a:ext>
                  </a:extLst>
                </a:gridCol>
              </a:tblGrid>
              <a:tr h="111575">
                <a:tc>
                  <a:txBody>
                    <a:bodyPr/>
                    <a:lstStyle/>
                    <a:p>
                      <a:pPr algn="l">
                        <a:buNone/>
                      </a:pPr>
                      <a:r>
                        <a:rPr lang="en-GB" sz="1000" b="1">
                          <a:effectLst/>
                          <a:latin typeface="Arial" panose="020B0604020202020204" pitchFamily="34" charset="0"/>
                          <a:cs typeface="Arial" panose="020B0604020202020204" pitchFamily="34" charset="0"/>
                        </a:rPr>
                        <a:t>Principle</a:t>
                      </a:r>
                      <a:endParaRPr lang="en-GB" sz="1000">
                        <a:effectLst/>
                        <a:latin typeface="Arial" panose="020B0604020202020204" pitchFamily="34" charset="0"/>
                        <a:cs typeface="Arial" panose="020B0604020202020204" pitchFamily="34" charset="0"/>
                      </a:endParaRPr>
                    </a:p>
                  </a:txBody>
                  <a:tcPr marL="72000" marR="72000" marT="4012"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GB" sz="1000" b="1" dirty="0">
                          <a:effectLst/>
                          <a:latin typeface="Arial" panose="020B0604020202020204" pitchFamily="34" charset="0"/>
                          <a:cs typeface="Arial" panose="020B0604020202020204" pitchFamily="34" charset="0"/>
                        </a:rPr>
                        <a:t>Implementation</a:t>
                      </a:r>
                      <a:endParaRPr lang="en-GB" sz="1000" dirty="0">
                        <a:effectLst/>
                        <a:latin typeface="Arial" panose="020B0604020202020204" pitchFamily="34" charset="0"/>
                        <a:cs typeface="Arial" panose="020B0604020202020204" pitchFamily="34" charset="0"/>
                      </a:endParaRPr>
                    </a:p>
                  </a:txBody>
                  <a:tcPr marL="72000" marR="72000" marT="4012"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GB" sz="1000" b="1" dirty="0">
                          <a:effectLst/>
                          <a:latin typeface="Arial" panose="020B0604020202020204" pitchFamily="34" charset="0"/>
                          <a:cs typeface="Arial" panose="020B0604020202020204" pitchFamily="34" charset="0"/>
                        </a:rPr>
                        <a:t>Client TOM Alignment</a:t>
                      </a:r>
                      <a:endParaRPr lang="en-GB" sz="1000" dirty="0">
                        <a:effectLst/>
                        <a:latin typeface="Arial" panose="020B0604020202020204" pitchFamily="34" charset="0"/>
                        <a:cs typeface="Arial" panose="020B0604020202020204" pitchFamily="34" charset="0"/>
                      </a:endParaRPr>
                    </a:p>
                  </a:txBody>
                  <a:tcPr marL="72000" marR="72000" marT="4012"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34020458"/>
                  </a:ext>
                </a:extLst>
              </a:tr>
              <a:tr h="286884">
                <a:tc>
                  <a:txBody>
                    <a:bodyPr/>
                    <a:lstStyle/>
                    <a:p>
                      <a:pPr algn="l">
                        <a:buNone/>
                      </a:pPr>
                      <a:r>
                        <a:rPr lang="en-GB" sz="1000" b="1" dirty="0">
                          <a:effectLst/>
                          <a:latin typeface="Arial" panose="020B0604020202020204" pitchFamily="34" charset="0"/>
                          <a:cs typeface="Arial" panose="020B0604020202020204" pitchFamily="34" charset="0"/>
                        </a:rPr>
                        <a:t>Single Front Door</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FFF5ED"/>
                    </a:solidFill>
                  </a:tcPr>
                </a:tc>
                <a:tc>
                  <a:txBody>
                    <a:bodyPr/>
                    <a:lstStyle/>
                    <a:p>
                      <a:pPr algn="l">
                        <a:buNone/>
                      </a:pPr>
                      <a:r>
                        <a:rPr lang="en-GB" sz="1000" dirty="0">
                          <a:effectLst/>
                          <a:latin typeface="Arial" panose="020B0604020202020204" pitchFamily="34" charset="0"/>
                          <a:cs typeface="Arial" panose="020B0604020202020204" pitchFamily="34" charset="0"/>
                        </a:rPr>
                        <a:t>All requests enter through ONE portal — no “I know someone” routing</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00">
                          <a:effectLst/>
                          <a:latin typeface="Arial" panose="020B0604020202020204" pitchFamily="34" charset="0"/>
                          <a:cs typeface="Arial" panose="020B0604020202020204" pitchFamily="34" charset="0"/>
                        </a:rPr>
                        <a:t>Demand intake </a:t>
                      </a:r>
                      <a:br>
                        <a:rPr lang="en-GB" sz="1000">
                          <a:effectLst/>
                          <a:latin typeface="Arial" panose="020B0604020202020204" pitchFamily="34" charset="0"/>
                          <a:cs typeface="Arial" panose="020B0604020202020204" pitchFamily="34" charset="0"/>
                        </a:rPr>
                      </a:br>
                      <a:r>
                        <a:rPr lang="en-GB" sz="1000">
                          <a:effectLst/>
                          <a:latin typeface="Arial" panose="020B0604020202020204" pitchFamily="34" charset="0"/>
                          <a:cs typeface="Arial" panose="020B0604020202020204" pitchFamily="34" charset="0"/>
                        </a:rPr>
                        <a:t>&amp; prioritization</a:t>
                      </a:r>
                      <a:endParaRPr lang="en-GB" sz="1000" dirty="0">
                        <a:effectLst/>
                        <a:latin typeface="Arial" panose="020B0604020202020204" pitchFamily="34" charset="0"/>
                        <a:cs typeface="Arial" panose="020B0604020202020204" pitchFamily="34" charset="0"/>
                      </a:endParaRP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2704185"/>
                  </a:ext>
                </a:extLst>
              </a:tr>
              <a:tr h="376837">
                <a:tc>
                  <a:txBody>
                    <a:bodyPr/>
                    <a:lstStyle/>
                    <a:p>
                      <a:pPr algn="l">
                        <a:buNone/>
                      </a:pPr>
                      <a:r>
                        <a:rPr lang="en-GB" sz="1000" b="1" dirty="0">
                          <a:effectLst/>
                          <a:latin typeface="Arial" panose="020B0604020202020204" pitchFamily="34" charset="0"/>
                          <a:cs typeface="Arial" panose="020B0604020202020204" pitchFamily="34" charset="0"/>
                        </a:rPr>
                        <a:t>Auto-Classification</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FFF5ED"/>
                    </a:solidFill>
                  </a:tcPr>
                </a:tc>
                <a:tc>
                  <a:txBody>
                    <a:bodyPr/>
                    <a:lstStyle/>
                    <a:p>
                      <a:pPr algn="l">
                        <a:buNone/>
                      </a:pPr>
                      <a:r>
                        <a:rPr lang="en-GB" sz="1000" dirty="0">
                          <a:effectLst/>
                          <a:latin typeface="Arial" panose="020B0604020202020204" pitchFamily="34" charset="0"/>
                          <a:cs typeface="Arial" panose="020B0604020202020204" pitchFamily="34" charset="0"/>
                        </a:rPr>
                        <a:t>Rules-based + ML-assisted categorization (Dispute / Incident / Project / Acquisition / Workaround / Other)</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00">
                          <a:effectLst/>
                          <a:latin typeface="Arial" panose="020B0604020202020204" pitchFamily="34" charset="0"/>
                          <a:cs typeface="Arial" panose="020B0604020202020204" pitchFamily="34" charset="0"/>
                        </a:rPr>
                        <a:t>Structured demand </a:t>
                      </a:r>
                      <a:br>
                        <a:rPr lang="en-GB" sz="1000">
                          <a:effectLst/>
                          <a:latin typeface="Arial" panose="020B0604020202020204" pitchFamily="34" charset="0"/>
                          <a:cs typeface="Arial" panose="020B0604020202020204" pitchFamily="34" charset="0"/>
                        </a:rPr>
                      </a:br>
                      <a:r>
                        <a:rPr lang="en-GB" sz="1000">
                          <a:effectLst/>
                          <a:latin typeface="Arial" panose="020B0604020202020204" pitchFamily="34" charset="0"/>
                          <a:cs typeface="Arial" panose="020B0604020202020204" pitchFamily="34" charset="0"/>
                        </a:rPr>
                        <a:t>intake</a:t>
                      </a:r>
                      <a:endParaRPr lang="en-GB" sz="1000" dirty="0">
                        <a:effectLst/>
                        <a:latin typeface="Arial" panose="020B0604020202020204" pitchFamily="34" charset="0"/>
                        <a:cs typeface="Arial" panose="020B0604020202020204" pitchFamily="34" charset="0"/>
                      </a:endParaRP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8696196"/>
                  </a:ext>
                </a:extLst>
              </a:tr>
              <a:tr h="357382">
                <a:tc>
                  <a:txBody>
                    <a:bodyPr/>
                    <a:lstStyle/>
                    <a:p>
                      <a:pPr algn="l">
                        <a:buNone/>
                      </a:pPr>
                      <a:r>
                        <a:rPr lang="en-GB" sz="1000" b="1" dirty="0">
                          <a:effectLst/>
                          <a:latin typeface="Arial" panose="020B0604020202020204" pitchFamily="34" charset="0"/>
                          <a:cs typeface="Arial" panose="020B0604020202020204" pitchFamily="34" charset="0"/>
                        </a:rPr>
                        <a:t>SLA by Category</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FFF5ED"/>
                    </a:solidFill>
                  </a:tcPr>
                </a:tc>
                <a:tc>
                  <a:txBody>
                    <a:bodyPr/>
                    <a:lstStyle/>
                    <a:p>
                      <a:pPr algn="l">
                        <a:buNone/>
                      </a:pPr>
                      <a:r>
                        <a:rPr lang="en-GB" sz="1000" dirty="0">
                          <a:effectLst/>
                          <a:latin typeface="Arial" panose="020B0604020202020204" pitchFamily="34" charset="0"/>
                          <a:cs typeface="Arial" panose="020B0604020202020204" pitchFamily="34" charset="0"/>
                        </a:rPr>
                        <a:t>Each category has defined response and resolution SLAs, benchmarked to industry</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00">
                          <a:effectLst/>
                          <a:latin typeface="Arial" panose="020B0604020202020204" pitchFamily="34" charset="0"/>
                          <a:cs typeface="Arial" panose="020B0604020202020204" pitchFamily="34" charset="0"/>
                        </a:rPr>
                        <a:t>Higher service quality </a:t>
                      </a:r>
                      <a:br>
                        <a:rPr lang="en-GB" sz="1000">
                          <a:effectLst/>
                          <a:latin typeface="Arial" panose="020B0604020202020204" pitchFamily="34" charset="0"/>
                          <a:cs typeface="Arial" panose="020B0604020202020204" pitchFamily="34" charset="0"/>
                        </a:rPr>
                      </a:br>
                      <a:r>
                        <a:rPr lang="en-GB" sz="1000">
                          <a:effectLst/>
                          <a:latin typeface="Arial" panose="020B0604020202020204" pitchFamily="34" charset="0"/>
                          <a:cs typeface="Arial" panose="020B0604020202020204" pitchFamily="34" charset="0"/>
                        </a:rPr>
                        <a:t>&amp; reliability (SLAs)</a:t>
                      </a:r>
                      <a:endParaRPr lang="en-GB" sz="1000" dirty="0">
                        <a:effectLst/>
                        <a:latin typeface="Arial" panose="020B0604020202020204" pitchFamily="34" charset="0"/>
                        <a:cs typeface="Arial" panose="020B0604020202020204" pitchFamily="34" charset="0"/>
                      </a:endParaRP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173677"/>
                  </a:ext>
                </a:extLst>
              </a:tr>
              <a:tr h="376837">
                <a:tc>
                  <a:txBody>
                    <a:bodyPr/>
                    <a:lstStyle/>
                    <a:p>
                      <a:pPr algn="l">
                        <a:buNone/>
                      </a:pPr>
                      <a:r>
                        <a:rPr lang="en-GB" sz="1000" b="1" dirty="0">
                          <a:effectLst/>
                          <a:latin typeface="Arial" panose="020B0604020202020204" pitchFamily="34" charset="0"/>
                          <a:cs typeface="Arial" panose="020B0604020202020204" pitchFamily="34" charset="0"/>
                        </a:rPr>
                        <a:t>RACI-Based Routing</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FFF5ED"/>
                    </a:solidFill>
                  </a:tcPr>
                </a:tc>
                <a:tc>
                  <a:txBody>
                    <a:bodyPr/>
                    <a:lstStyle/>
                    <a:p>
                      <a:pPr algn="l">
                        <a:buNone/>
                      </a:pPr>
                      <a:r>
                        <a:rPr lang="en-GB" sz="1000">
                          <a:effectLst/>
                          <a:latin typeface="Arial" panose="020B0604020202020204" pitchFamily="34" charset="0"/>
                          <a:cs typeface="Arial" panose="020B0604020202020204" pitchFamily="34" charset="0"/>
                        </a:rPr>
                        <a:t>System auto-assigns to the correct Responsible owner based on the Master RACI Matrix</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00">
                          <a:effectLst/>
                          <a:latin typeface="Arial" panose="020B0604020202020204" pitchFamily="34" charset="0"/>
                          <a:cs typeface="Arial" panose="020B0604020202020204" pitchFamily="34" charset="0"/>
                        </a:rPr>
                        <a:t>Clear operating model </a:t>
                      </a:r>
                      <a:br>
                        <a:rPr lang="en-GB" sz="1000">
                          <a:effectLst/>
                          <a:latin typeface="Arial" panose="020B0604020202020204" pitchFamily="34" charset="0"/>
                          <a:cs typeface="Arial" panose="020B0604020202020204" pitchFamily="34" charset="0"/>
                        </a:rPr>
                      </a:br>
                      <a:r>
                        <a:rPr lang="en-GB" sz="1000">
                          <a:effectLst/>
                          <a:latin typeface="Arial" panose="020B0604020202020204" pitchFamily="34" charset="0"/>
                          <a:cs typeface="Arial" panose="020B0604020202020204" pitchFamily="34" charset="0"/>
                        </a:rPr>
                        <a:t>and defined ownership</a:t>
                      </a:r>
                      <a:endParaRPr lang="en-GB" sz="1000" dirty="0">
                        <a:effectLst/>
                        <a:latin typeface="Arial" panose="020B0604020202020204" pitchFamily="34" charset="0"/>
                        <a:cs typeface="Arial" panose="020B0604020202020204" pitchFamily="34" charset="0"/>
                      </a:endParaRP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9284655"/>
                  </a:ext>
                </a:extLst>
              </a:tr>
              <a:tr h="498376">
                <a:tc>
                  <a:txBody>
                    <a:bodyPr/>
                    <a:lstStyle/>
                    <a:p>
                      <a:pPr algn="l">
                        <a:buNone/>
                      </a:pPr>
                      <a:r>
                        <a:rPr lang="en-GB" sz="1000" b="1" dirty="0">
                          <a:effectLst/>
                          <a:latin typeface="Arial" panose="020B0604020202020204" pitchFamily="34" charset="0"/>
                          <a:cs typeface="Arial" panose="020B0604020202020204" pitchFamily="34" charset="0"/>
                        </a:rPr>
                        <a:t>Real-Time Dashboard</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FFF5ED"/>
                    </a:solidFill>
                  </a:tcPr>
                </a:tc>
                <a:tc>
                  <a:txBody>
                    <a:bodyPr/>
                    <a:lstStyle/>
                    <a:p>
                      <a:pPr algn="l">
                        <a:buNone/>
                      </a:pPr>
                      <a:r>
                        <a:rPr lang="en-GB" sz="1000">
                          <a:effectLst/>
                          <a:latin typeface="Arial" panose="020B0604020202020204" pitchFamily="34" charset="0"/>
                          <a:cs typeface="Arial" panose="020B0604020202020204" pitchFamily="34" charset="0"/>
                        </a:rPr>
                        <a:t>Live reporting: open/closed/aging tickets, SLA compliance %, category distribution, customer-specific views</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00">
                          <a:effectLst/>
                          <a:latin typeface="Arial" panose="020B0604020202020204" pitchFamily="34" charset="0"/>
                          <a:cs typeface="Arial" panose="020B0604020202020204" pitchFamily="34" charset="0"/>
                        </a:rPr>
                        <a:t>Full transparency on </a:t>
                      </a:r>
                      <a:br>
                        <a:rPr lang="en-GB" sz="1000">
                          <a:effectLst/>
                          <a:latin typeface="Arial" panose="020B0604020202020204" pitchFamily="34" charset="0"/>
                          <a:cs typeface="Arial" panose="020B0604020202020204" pitchFamily="34" charset="0"/>
                        </a:rPr>
                      </a:br>
                      <a:r>
                        <a:rPr lang="en-GB" sz="1000">
                          <a:effectLst/>
                          <a:latin typeface="Arial" panose="020B0604020202020204" pitchFamily="34" charset="0"/>
                          <a:cs typeface="Arial" panose="020B0604020202020204" pitchFamily="34" charset="0"/>
                        </a:rPr>
                        <a:t>costs and performance</a:t>
                      </a:r>
                      <a:endParaRPr lang="en-GB" sz="1000" dirty="0">
                        <a:effectLst/>
                        <a:latin typeface="Arial" panose="020B0604020202020204" pitchFamily="34" charset="0"/>
                        <a:cs typeface="Arial" panose="020B0604020202020204" pitchFamily="34" charset="0"/>
                      </a:endParaRP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598162"/>
                  </a:ext>
                </a:extLst>
              </a:tr>
              <a:tr h="498376">
                <a:tc>
                  <a:txBody>
                    <a:bodyPr/>
                    <a:lstStyle/>
                    <a:p>
                      <a:pPr algn="l">
                        <a:buNone/>
                      </a:pPr>
                      <a:r>
                        <a:rPr lang="en-GB" sz="1000" b="1" dirty="0">
                          <a:effectLst/>
                          <a:latin typeface="Arial" panose="020B0604020202020204" pitchFamily="34" charset="0"/>
                          <a:cs typeface="Arial" panose="020B0604020202020204" pitchFamily="34" charset="0"/>
                        </a:rPr>
                        <a:t>Escalation Engine</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5ED"/>
                    </a:solidFill>
                  </a:tcPr>
                </a:tc>
                <a:tc>
                  <a:txBody>
                    <a:bodyPr/>
                    <a:lstStyle/>
                    <a:p>
                      <a:pPr algn="l">
                        <a:buNone/>
                      </a:pPr>
                      <a:r>
                        <a:rPr lang="en-GB" sz="1000" dirty="0">
                          <a:effectLst/>
                          <a:latin typeface="Arial" panose="020B0604020202020204" pitchFamily="34" charset="0"/>
                          <a:cs typeface="Arial" panose="020B0604020202020204" pitchFamily="34" charset="0"/>
                        </a:rPr>
                        <a:t>Automated escalation when SLA thresholds are breached (80% ? notify; 100% ? escalate to Accountable owner per RACI)</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GB" sz="1000" dirty="0">
                          <a:effectLst/>
                          <a:latin typeface="Arial" panose="020B0604020202020204" pitchFamily="34" charset="0"/>
                          <a:cs typeface="Arial" panose="020B0604020202020204" pitchFamily="34" charset="0"/>
                        </a:rPr>
                        <a:t>How conflicts are resolved (escalation paths)</a:t>
                      </a:r>
                    </a:p>
                  </a:txBody>
                  <a:tcPr marL="72000" marR="72000" marT="36000" marB="4012">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451799"/>
                  </a:ext>
                </a:extLst>
              </a:tr>
            </a:tbl>
          </a:graphicData>
        </a:graphic>
      </p:graphicFrame>
      <p:sp>
        <p:nvSpPr>
          <p:cNvPr id="25" name="TextBox 24">
            <a:extLst>
              <a:ext uri="{FF2B5EF4-FFF2-40B4-BE49-F238E27FC236}">
                <a16:creationId xmlns:a16="http://schemas.microsoft.com/office/drawing/2014/main" id="{CDCE6B9E-1EA8-D646-E2BB-E30C6DC58AE1}"/>
              </a:ext>
            </a:extLst>
          </p:cNvPr>
          <p:cNvSpPr txBox="1"/>
          <p:nvPr/>
        </p:nvSpPr>
        <p:spPr>
          <a:xfrm>
            <a:off x="384314" y="3407290"/>
            <a:ext cx="5268699" cy="223881"/>
          </a:xfrm>
          <a:prstGeom prst="rect">
            <a:avLst/>
          </a:prstGeom>
          <a:noFill/>
        </p:spPr>
        <p:txBody>
          <a:bodyPr wrap="square" lIns="0" tIns="0" rIns="0" bIns="0" rtlCol="0">
            <a:noAutofit/>
          </a:bodyPr>
          <a:lstStyle/>
          <a:p>
            <a:r>
              <a:rPr lang="en-US" sz="1200" b="1" dirty="0">
                <a:latin typeface="Arial" panose="020B0604020202020204" pitchFamily="34" charset="0"/>
                <a:cs typeface="Arial" panose="020B0604020202020204" pitchFamily="34" charset="0"/>
              </a:rPr>
              <a:t>Key design principles</a:t>
            </a:r>
            <a:endParaRPr lang="en-GB" sz="1200" b="1" dirty="0" err="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4538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0BED01-7EE4-6B49-2C91-AD2F2F92F8C6}"/>
              </a:ext>
            </a:extLst>
          </p:cNvPr>
          <p:cNvSpPr>
            <a:spLocks noGrp="1"/>
          </p:cNvSpPr>
          <p:nvPr>
            <p:ph type="body" sz="quarter" idx="11"/>
          </p:nvPr>
        </p:nvSpPr>
        <p:spPr/>
        <p:txBody>
          <a:bodyPr tIns="144000"/>
          <a:lstStyle/>
          <a:p>
            <a:r>
              <a:rPr lang="en-GB" sz="2000" b="1" dirty="0"/>
              <a:t>A. Acquisition </a:t>
            </a:r>
            <a:br>
              <a:rPr lang="en-GB" sz="2000" b="1" dirty="0"/>
            </a:br>
            <a:r>
              <a:rPr lang="en-GB" sz="2000" b="1" dirty="0"/>
              <a:t>Close</a:t>
            </a:r>
          </a:p>
          <a:p>
            <a:endParaRPr lang="en-GB" sz="2000" b="1" dirty="0"/>
          </a:p>
          <a:p>
            <a:endParaRPr lang="en-SK" sz="2000" b="1" dirty="0"/>
          </a:p>
        </p:txBody>
      </p:sp>
      <p:sp>
        <p:nvSpPr>
          <p:cNvPr id="4" name="Text Placeholder 3">
            <a:extLst>
              <a:ext uri="{FF2B5EF4-FFF2-40B4-BE49-F238E27FC236}">
                <a16:creationId xmlns:a16="http://schemas.microsoft.com/office/drawing/2014/main" id="{6DF667C0-6437-7D1C-549D-4F9D14953FF4}"/>
              </a:ext>
            </a:extLst>
          </p:cNvPr>
          <p:cNvSpPr>
            <a:spLocks noGrp="1"/>
          </p:cNvSpPr>
          <p:nvPr>
            <p:ph type="body" sz="quarter" idx="12"/>
          </p:nvPr>
        </p:nvSpPr>
        <p:spPr>
          <a:xfrm>
            <a:off x="6320155" y="2418080"/>
            <a:ext cx="2481263" cy="591821"/>
          </a:xfrm>
        </p:spPr>
        <p:txBody>
          <a:bodyPr/>
          <a:lstStyle/>
          <a:p>
            <a:r>
              <a:rPr lang="en-GB" sz="1200" dirty="0">
                <a:latin typeface="Arial" panose="020B0604020202020204" pitchFamily="34" charset="0"/>
                <a:cs typeface="Arial" panose="020B0604020202020204" pitchFamily="34" charset="0"/>
              </a:rPr>
              <a:t>PMO registers "Acquisition Integration Project"; initial RACI impact assessment</a:t>
            </a:r>
          </a:p>
        </p:txBody>
      </p:sp>
      <p:sp>
        <p:nvSpPr>
          <p:cNvPr id="5" name="Text Placeholder 4">
            <a:extLst>
              <a:ext uri="{FF2B5EF4-FFF2-40B4-BE49-F238E27FC236}">
                <a16:creationId xmlns:a16="http://schemas.microsoft.com/office/drawing/2014/main" id="{EC2C95FC-07E1-F27D-01FD-9574377C8C77}"/>
              </a:ext>
            </a:extLst>
          </p:cNvPr>
          <p:cNvSpPr>
            <a:spLocks noGrp="1"/>
          </p:cNvSpPr>
          <p:nvPr>
            <p:ph type="body" sz="quarter" idx="13"/>
          </p:nvPr>
        </p:nvSpPr>
        <p:spPr/>
        <p:txBody>
          <a:bodyPr tIns="144000"/>
          <a:lstStyle/>
          <a:p>
            <a:r>
              <a:rPr lang="en-GB" sz="2000" b="1" dirty="0"/>
              <a:t>B. Structured Workaround</a:t>
            </a:r>
          </a:p>
        </p:txBody>
      </p:sp>
      <p:sp>
        <p:nvSpPr>
          <p:cNvPr id="6" name="Text Placeholder 5">
            <a:extLst>
              <a:ext uri="{FF2B5EF4-FFF2-40B4-BE49-F238E27FC236}">
                <a16:creationId xmlns:a16="http://schemas.microsoft.com/office/drawing/2014/main" id="{9039647F-3575-4318-E57D-5C7E30998542}"/>
              </a:ext>
            </a:extLst>
          </p:cNvPr>
          <p:cNvSpPr>
            <a:spLocks noGrp="1"/>
          </p:cNvSpPr>
          <p:nvPr>
            <p:ph type="body" sz="quarter" idx="14"/>
          </p:nvPr>
        </p:nvSpPr>
        <p:spPr>
          <a:xfrm>
            <a:off x="9198292" y="2418080"/>
            <a:ext cx="2481263" cy="591821"/>
          </a:xfrm>
        </p:spPr>
        <p:txBody>
          <a:bodyPr/>
          <a:lstStyle/>
          <a:p>
            <a:r>
              <a:rPr lang="en-GB" sz="1200" dirty="0">
                <a:latin typeface="Arial" panose="020B0604020202020204" pitchFamily="34" charset="0"/>
                <a:cs typeface="Arial" panose="020B0604020202020204" pitchFamily="34" charset="0"/>
              </a:rPr>
              <a:t>Business Partner monitors; weekly status to PMO; workaround logged in intake system</a:t>
            </a:r>
          </a:p>
        </p:txBody>
      </p:sp>
      <p:sp>
        <p:nvSpPr>
          <p:cNvPr id="7" name="Text Placeholder 6">
            <a:extLst>
              <a:ext uri="{FF2B5EF4-FFF2-40B4-BE49-F238E27FC236}">
                <a16:creationId xmlns:a16="http://schemas.microsoft.com/office/drawing/2014/main" id="{40EA98E8-F404-56E5-EFB4-D526C55899EE}"/>
              </a:ext>
            </a:extLst>
          </p:cNvPr>
          <p:cNvSpPr>
            <a:spLocks noGrp="1"/>
          </p:cNvSpPr>
          <p:nvPr>
            <p:ph type="body" sz="quarter" idx="15"/>
          </p:nvPr>
        </p:nvSpPr>
        <p:spPr/>
        <p:txBody>
          <a:bodyPr tIns="144000"/>
          <a:lstStyle/>
          <a:p>
            <a:r>
              <a:rPr lang="en-GB" sz="2000" b="1" dirty="0"/>
              <a:t>C. Tech-Enabled Transition</a:t>
            </a:r>
          </a:p>
        </p:txBody>
      </p:sp>
      <p:sp>
        <p:nvSpPr>
          <p:cNvPr id="8" name="Text Placeholder 7">
            <a:extLst>
              <a:ext uri="{FF2B5EF4-FFF2-40B4-BE49-F238E27FC236}">
                <a16:creationId xmlns:a16="http://schemas.microsoft.com/office/drawing/2014/main" id="{CB9B53F8-EEBE-AC94-E368-339DC1CBD380}"/>
              </a:ext>
            </a:extLst>
          </p:cNvPr>
          <p:cNvSpPr>
            <a:spLocks noGrp="1"/>
          </p:cNvSpPr>
          <p:nvPr>
            <p:ph type="body" sz="quarter" idx="16"/>
          </p:nvPr>
        </p:nvSpPr>
        <p:spPr>
          <a:xfrm>
            <a:off x="6320155" y="5326317"/>
            <a:ext cx="2481263" cy="591821"/>
          </a:xfrm>
        </p:spPr>
        <p:txBody>
          <a:bodyPr/>
          <a:lstStyle/>
          <a:p>
            <a:r>
              <a:rPr lang="en-GB" sz="1200" dirty="0">
                <a:latin typeface="Arial" panose="020B0604020202020204" pitchFamily="34" charset="0"/>
                <a:cs typeface="Arial" panose="020B0604020202020204" pitchFamily="34" charset="0"/>
              </a:rPr>
              <a:t>PMO tracks milestones; PDLC (Products &amp; Tech) owns delivery; RACI updated for new system role</a:t>
            </a:r>
          </a:p>
        </p:txBody>
      </p:sp>
      <p:sp>
        <p:nvSpPr>
          <p:cNvPr id="9" name="Text Placeholder 8">
            <a:extLst>
              <a:ext uri="{FF2B5EF4-FFF2-40B4-BE49-F238E27FC236}">
                <a16:creationId xmlns:a16="http://schemas.microsoft.com/office/drawing/2014/main" id="{4672C774-7500-6E3C-4C06-BF7B1F212AD1}"/>
              </a:ext>
            </a:extLst>
          </p:cNvPr>
          <p:cNvSpPr>
            <a:spLocks noGrp="1"/>
          </p:cNvSpPr>
          <p:nvPr>
            <p:ph type="body" sz="quarter" idx="17"/>
          </p:nvPr>
        </p:nvSpPr>
        <p:spPr/>
        <p:txBody>
          <a:bodyPr tIns="144000"/>
          <a:lstStyle/>
          <a:p>
            <a:r>
              <a:rPr lang="en-GB" sz="2000" b="1" dirty="0"/>
              <a:t>D. Steady </a:t>
            </a:r>
            <a:br>
              <a:rPr lang="en-GB" sz="2000" b="1" dirty="0"/>
            </a:br>
            <a:r>
              <a:rPr lang="en-GB" sz="2000" b="1" dirty="0"/>
              <a:t>State</a:t>
            </a:r>
          </a:p>
        </p:txBody>
      </p:sp>
      <p:sp>
        <p:nvSpPr>
          <p:cNvPr id="10" name="Text Placeholder 9">
            <a:extLst>
              <a:ext uri="{FF2B5EF4-FFF2-40B4-BE49-F238E27FC236}">
                <a16:creationId xmlns:a16="http://schemas.microsoft.com/office/drawing/2014/main" id="{BED94B9C-3DDD-6A42-D7F4-08428A0366DB}"/>
              </a:ext>
            </a:extLst>
          </p:cNvPr>
          <p:cNvSpPr>
            <a:spLocks noGrp="1"/>
          </p:cNvSpPr>
          <p:nvPr>
            <p:ph type="body" sz="quarter" idx="18"/>
          </p:nvPr>
        </p:nvSpPr>
        <p:spPr>
          <a:xfrm>
            <a:off x="9198292" y="5326317"/>
            <a:ext cx="2481263" cy="591821"/>
          </a:xfrm>
        </p:spPr>
        <p:txBody>
          <a:bodyPr/>
          <a:lstStyle/>
          <a:p>
            <a:r>
              <a:rPr lang="en-GB" sz="1200" dirty="0">
                <a:latin typeface="Arial" panose="020B0604020202020204" pitchFamily="34" charset="0"/>
                <a:cs typeface="Arial" panose="020B0604020202020204" pitchFamily="34" charset="0"/>
              </a:rPr>
              <a:t>Business Partner conducts post-integration review; RACI finalized; KPIs baselined</a:t>
            </a:r>
          </a:p>
        </p:txBody>
      </p:sp>
      <p:sp>
        <p:nvSpPr>
          <p:cNvPr id="12" name="Slide Number Placeholder 11">
            <a:extLst>
              <a:ext uri="{FF2B5EF4-FFF2-40B4-BE49-F238E27FC236}">
                <a16:creationId xmlns:a16="http://schemas.microsoft.com/office/drawing/2014/main" id="{45E4B3DD-A7AE-63C1-7F9B-956EA0E9EFB4}"/>
              </a:ext>
            </a:extLst>
          </p:cNvPr>
          <p:cNvSpPr>
            <a:spLocks noGrp="1"/>
          </p:cNvSpPr>
          <p:nvPr>
            <p:ph type="sldNum" sz="quarter" idx="4"/>
          </p:nvPr>
        </p:nvSpPr>
        <p:spPr/>
        <p:txBody>
          <a:bodyPr/>
          <a:lstStyle/>
          <a:p>
            <a:fld id="{3E6AC032-1535-134B-A583-D5E1DDD0D167}" type="slidenum">
              <a:rPr lang="en-US" smtClean="0"/>
              <a:pPr/>
              <a:t>22</a:t>
            </a:fld>
            <a:endParaRPr lang="en-US"/>
          </a:p>
        </p:txBody>
      </p:sp>
      <p:sp>
        <p:nvSpPr>
          <p:cNvPr id="13" name="Title 1">
            <a:extLst>
              <a:ext uri="{FF2B5EF4-FFF2-40B4-BE49-F238E27FC236}">
                <a16:creationId xmlns:a16="http://schemas.microsoft.com/office/drawing/2014/main" id="{595ED9D9-4AEA-B5D0-309D-8D5EEC18A526}"/>
              </a:ext>
            </a:extLst>
          </p:cNvPr>
          <p:cNvSpPr>
            <a:spLocks noGrp="1"/>
          </p:cNvSpPr>
          <p:nvPr>
            <p:ph type="title"/>
          </p:nvPr>
        </p:nvSpPr>
        <p:spPr>
          <a:xfrm>
            <a:off x="402335" y="402336"/>
            <a:ext cx="5449825" cy="915289"/>
          </a:xfrm>
        </p:spPr>
        <p:txBody>
          <a:bodyPr/>
          <a:lstStyle/>
          <a:p>
            <a:r>
              <a:rPr lang="en-GB" sz="2800" dirty="0"/>
              <a:t>Workstream 4: Post-Acquisition Transition Framework</a:t>
            </a:r>
            <a:br>
              <a:rPr lang="en-GB" sz="1600" dirty="0"/>
            </a:br>
            <a:r>
              <a:rPr lang="en-GB" sz="1600" dirty="0">
                <a:latin typeface="Arial" panose="020B0604020202020204" pitchFamily="34" charset="0"/>
                <a:cs typeface="Arial" panose="020B0604020202020204" pitchFamily="34" charset="0"/>
              </a:rPr>
              <a:t>Structured Workarounds — Design for Growth, Quality </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and Speed</a:t>
            </a:r>
            <a:endParaRPr lang="en-GB" sz="2800" dirty="0">
              <a:latin typeface="Arial" panose="020B0604020202020204" pitchFamily="34" charset="0"/>
              <a:cs typeface="Arial" panose="020B0604020202020204" pitchFamily="34" charset="0"/>
            </a:endParaRPr>
          </a:p>
        </p:txBody>
      </p:sp>
      <p:sp>
        <p:nvSpPr>
          <p:cNvPr id="14" name="Footer Placeholder 2">
            <a:extLst>
              <a:ext uri="{FF2B5EF4-FFF2-40B4-BE49-F238E27FC236}">
                <a16:creationId xmlns:a16="http://schemas.microsoft.com/office/drawing/2014/main" id="{883346BD-B661-9609-2B5B-B8C95E48C8DA}"/>
              </a:ext>
            </a:extLst>
          </p:cNvPr>
          <p:cNvSpPr>
            <a:spLocks noGrp="1"/>
          </p:cNvSpPr>
          <p:nvPr>
            <p:ph type="ftr" sz="quarter" idx="3"/>
          </p:nvPr>
        </p:nvSpPr>
        <p:spPr>
          <a:xfrm>
            <a:off x="1066800" y="6497441"/>
            <a:ext cx="8814816" cy="161583"/>
          </a:xfrm>
        </p:spPr>
        <p:txBody>
          <a:bodyPr/>
          <a:lstStyle/>
          <a:p>
            <a:r>
              <a:rPr lang="en-GB"/>
              <a:t>Proposal for Global Payments Prague Shared Service Center Transformation</a:t>
            </a:r>
            <a:endParaRPr lang="en-US"/>
          </a:p>
        </p:txBody>
      </p:sp>
      <p:sp>
        <p:nvSpPr>
          <p:cNvPr id="15" name="TextBox 14">
            <a:extLst>
              <a:ext uri="{FF2B5EF4-FFF2-40B4-BE49-F238E27FC236}">
                <a16:creationId xmlns:a16="http://schemas.microsoft.com/office/drawing/2014/main" id="{B9554722-E449-7971-580C-CC04CF14F44B}"/>
              </a:ext>
            </a:extLst>
          </p:cNvPr>
          <p:cNvSpPr txBox="1"/>
          <p:nvPr/>
        </p:nvSpPr>
        <p:spPr>
          <a:xfrm>
            <a:off x="402332" y="1702257"/>
            <a:ext cx="5449827" cy="738664"/>
          </a:xfrm>
          <a:prstGeom prst="rect">
            <a:avLst/>
          </a:prstGeom>
          <a:noFill/>
        </p:spPr>
        <p:txBody>
          <a:bodyPr wrap="square" lIns="0">
            <a:spAutoFit/>
          </a:bodyPr>
          <a:lstStyle/>
          <a:p>
            <a:r>
              <a:rPr lang="en-GB" dirty="0"/>
              <a:t>As Global Payments makes acquisitions, human-operated workarounds bridge the gap until technology is adjusted. PwC structures this bridge with a clear A→B→C→D framework:</a:t>
            </a:r>
          </a:p>
        </p:txBody>
      </p:sp>
      <p:sp>
        <p:nvSpPr>
          <p:cNvPr id="17" name="Rectangle: Rounded Corners 61">
            <a:extLst>
              <a:ext uri="{FF2B5EF4-FFF2-40B4-BE49-F238E27FC236}">
                <a16:creationId xmlns:a16="http://schemas.microsoft.com/office/drawing/2014/main" id="{236E5CF6-E53C-80C5-70F3-5FF9183A3947}"/>
              </a:ext>
            </a:extLst>
          </p:cNvPr>
          <p:cNvSpPr/>
          <p:nvPr/>
        </p:nvSpPr>
        <p:spPr>
          <a:xfrm>
            <a:off x="402334" y="2736905"/>
            <a:ext cx="5449826" cy="220147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1077913" marR="0" lvl="0" algn="l" defTabSz="914400" rtl="0" eaLnBrk="1" fontAlgn="auto" latinLnBrk="0" hangingPunct="1">
              <a:lnSpc>
                <a:spcPct val="100000"/>
              </a:lnSpc>
              <a:spcBef>
                <a:spcPts val="0"/>
              </a:spcBef>
              <a:spcAft>
                <a:spcPts val="1800"/>
              </a:spcAft>
              <a:buClr>
                <a:srgbClr val="000000"/>
              </a:buClr>
              <a:buSzTx/>
              <a:defRPr/>
            </a:pPr>
            <a:r>
              <a:rPr kumimoji="0" lang="en-US" sz="15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Key </a:t>
            </a:r>
            <a:br>
              <a:rPr kumimoji="0" lang="en-US" sz="15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br>
            <a:r>
              <a:rPr kumimoji="0" lang="en-US" sz="15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deliverables</a:t>
            </a:r>
            <a:endParaRPr lang="en-GB" sz="1200" dirty="0">
              <a:solidFill>
                <a:schemeClr val="tx1"/>
              </a:solidFill>
            </a:endParaRPr>
          </a:p>
          <a:p>
            <a:pPr marL="190500" indent="-190500">
              <a:lnSpc>
                <a:spcPct val="114000"/>
              </a:lnSpc>
              <a:spcAft>
                <a:spcPts val="600"/>
              </a:spcAft>
              <a:buFont typeface="Arial" panose="020B0604020202020204" pitchFamily="34" charset="0"/>
              <a:buChar char="•"/>
            </a:pPr>
            <a:r>
              <a:rPr lang="en-GB" sz="1200" b="1" dirty="0">
                <a:solidFill>
                  <a:schemeClr val="tx1"/>
                </a:solidFill>
              </a:rPr>
              <a:t>Workaround Register Template </a:t>
            </a:r>
            <a:r>
              <a:rPr lang="en-GB" sz="1200" dirty="0">
                <a:solidFill>
                  <a:schemeClr val="tx1"/>
                </a:solidFill>
              </a:rPr>
              <a:t>— standardized log (process, owner, risk rating, target decommission date)</a:t>
            </a:r>
          </a:p>
          <a:p>
            <a:pPr marL="190500" indent="-190500">
              <a:lnSpc>
                <a:spcPct val="114000"/>
              </a:lnSpc>
              <a:spcAft>
                <a:spcPts val="600"/>
              </a:spcAft>
              <a:buFont typeface="Arial" panose="020B0604020202020204" pitchFamily="34" charset="0"/>
              <a:buChar char="•"/>
            </a:pPr>
            <a:r>
              <a:rPr lang="en-GB" sz="1200" b="1" dirty="0">
                <a:solidFill>
                  <a:schemeClr val="tx1"/>
                </a:solidFill>
              </a:rPr>
              <a:t>Bridge State SOP Template </a:t>
            </a:r>
            <a:r>
              <a:rPr lang="en-GB" sz="1200" dirty="0">
                <a:solidFill>
                  <a:schemeClr val="tx1"/>
                </a:solidFill>
              </a:rPr>
              <a:t>— reusable, with embedded controls</a:t>
            </a:r>
          </a:p>
          <a:p>
            <a:pPr marL="190500" indent="-190500">
              <a:lnSpc>
                <a:spcPct val="114000"/>
              </a:lnSpc>
              <a:spcAft>
                <a:spcPts val="600"/>
              </a:spcAft>
              <a:buFont typeface="Arial" panose="020B0604020202020204" pitchFamily="34" charset="0"/>
              <a:buChar char="•"/>
            </a:pPr>
            <a:r>
              <a:rPr lang="en-GB" sz="1200" b="1" dirty="0">
                <a:solidFill>
                  <a:schemeClr val="tx1"/>
                </a:solidFill>
              </a:rPr>
              <a:t>Transition Readiness Checklist </a:t>
            </a:r>
            <a:r>
              <a:rPr lang="en-GB" sz="1200" dirty="0">
                <a:solidFill>
                  <a:schemeClr val="tx1"/>
                </a:solidFill>
              </a:rPr>
              <a:t>— criteria for moving B→C and C→D</a:t>
            </a:r>
          </a:p>
          <a:p>
            <a:pPr marL="190500" indent="-190500">
              <a:lnSpc>
                <a:spcPct val="114000"/>
              </a:lnSpc>
              <a:spcAft>
                <a:spcPts val="600"/>
              </a:spcAft>
              <a:buFont typeface="Arial" panose="020B0604020202020204" pitchFamily="34" charset="0"/>
              <a:buChar char="•"/>
            </a:pPr>
            <a:r>
              <a:rPr lang="en-GB" sz="1200" b="1" dirty="0">
                <a:solidFill>
                  <a:schemeClr val="tx1"/>
                </a:solidFill>
              </a:rPr>
              <a:t>Risk &amp; Control Matrix </a:t>
            </a:r>
            <a:r>
              <a:rPr lang="en-GB" sz="1200" dirty="0">
                <a:solidFill>
                  <a:schemeClr val="tx1"/>
                </a:solidFill>
              </a:rPr>
              <a:t>— compensating controls for each active</a:t>
            </a:r>
            <a:br>
              <a:rPr lang="en-GB" sz="1200" dirty="0">
                <a:solidFill>
                  <a:schemeClr val="tx1"/>
                </a:solidFill>
              </a:rPr>
            </a:br>
            <a:r>
              <a:rPr lang="en-GB" sz="1200" dirty="0">
                <a:solidFill>
                  <a:schemeClr val="tx1"/>
                </a:solidFill>
              </a:rPr>
              <a:t>workaround</a:t>
            </a:r>
          </a:p>
        </p:txBody>
      </p:sp>
      <p:sp>
        <p:nvSpPr>
          <p:cNvPr id="18" name="TextBox 17">
            <a:extLst>
              <a:ext uri="{FF2B5EF4-FFF2-40B4-BE49-F238E27FC236}">
                <a16:creationId xmlns:a16="http://schemas.microsoft.com/office/drawing/2014/main" id="{3F551FC1-5FBD-BB14-BCCB-306310536156}"/>
              </a:ext>
            </a:extLst>
          </p:cNvPr>
          <p:cNvSpPr txBox="1"/>
          <p:nvPr/>
        </p:nvSpPr>
        <p:spPr>
          <a:xfrm>
            <a:off x="402334" y="5118148"/>
            <a:ext cx="5449826" cy="1169551"/>
          </a:xfrm>
          <a:prstGeom prst="rect">
            <a:avLst/>
          </a:prstGeom>
          <a:noFill/>
        </p:spPr>
        <p:txBody>
          <a:bodyPr wrap="square" lIns="0">
            <a:spAutoFit/>
          </a:bodyPr>
          <a:lstStyle/>
          <a:p>
            <a:r>
              <a:rPr lang="en-GB" b="1" dirty="0"/>
              <a:t>Alignment to Client's Continuous Improvement Pillar: </a:t>
            </a:r>
            <a:br>
              <a:rPr lang="en-GB" b="1" dirty="0"/>
            </a:br>
            <a:r>
              <a:rPr lang="en-GB" dirty="0"/>
              <a:t>Each completed A→D cycle feeds into the "Continuous improvement loops" and "Benchmarking across entities" the client envisions  — lessons learned are captured and applied to the next acquisition.</a:t>
            </a:r>
          </a:p>
        </p:txBody>
      </p:sp>
      <p:sp>
        <p:nvSpPr>
          <p:cNvPr id="33" name="Text Placeholder 5">
            <a:extLst>
              <a:ext uri="{FF2B5EF4-FFF2-40B4-BE49-F238E27FC236}">
                <a16:creationId xmlns:a16="http://schemas.microsoft.com/office/drawing/2014/main" id="{649AD3A4-BC2F-BE7F-CF39-C8B48093017F}"/>
              </a:ext>
            </a:extLst>
          </p:cNvPr>
          <p:cNvSpPr txBox="1">
            <a:spLocks/>
          </p:cNvSpPr>
          <p:nvPr/>
        </p:nvSpPr>
        <p:spPr>
          <a:xfrm>
            <a:off x="9198292" y="1564640"/>
            <a:ext cx="2481263" cy="591821"/>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000" b="0" kern="1200">
                <a:solidFill>
                  <a:schemeClr val="tx1"/>
                </a:solidFill>
                <a:latin typeface="+mj-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200" dirty="0">
                <a:latin typeface="Arial" panose="020B0604020202020204" pitchFamily="34" charset="0"/>
                <a:cs typeface="Arial" panose="020B0604020202020204" pitchFamily="34" charset="0"/>
              </a:rPr>
              <a:t>Human-operated processes with formal SOPs, interim SLAs, manual controls, reconciliation checkpoints</a:t>
            </a:r>
          </a:p>
        </p:txBody>
      </p:sp>
      <p:sp>
        <p:nvSpPr>
          <p:cNvPr id="32" name="Text Placeholder 3">
            <a:extLst>
              <a:ext uri="{FF2B5EF4-FFF2-40B4-BE49-F238E27FC236}">
                <a16:creationId xmlns:a16="http://schemas.microsoft.com/office/drawing/2014/main" id="{CAA690A8-72D6-CDD1-C495-8DE05DFCF3A9}"/>
              </a:ext>
            </a:extLst>
          </p:cNvPr>
          <p:cNvSpPr txBox="1">
            <a:spLocks/>
          </p:cNvSpPr>
          <p:nvPr/>
        </p:nvSpPr>
        <p:spPr>
          <a:xfrm>
            <a:off x="6320155" y="1564640"/>
            <a:ext cx="2481263" cy="591821"/>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000" b="0" kern="1200">
                <a:solidFill>
                  <a:schemeClr val="tx1"/>
                </a:solidFill>
                <a:latin typeface="+mj-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200" dirty="0">
                <a:latin typeface="Arial" panose="020B0604020202020204" pitchFamily="34" charset="0"/>
                <a:cs typeface="Arial" panose="020B0604020202020204" pitchFamily="34" charset="0"/>
              </a:rPr>
              <a:t>Day 1 post-close; acquired entity </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on legacy systems</a:t>
            </a:r>
          </a:p>
        </p:txBody>
      </p:sp>
      <p:sp>
        <p:nvSpPr>
          <p:cNvPr id="34" name="Text Placeholder 7">
            <a:extLst>
              <a:ext uri="{FF2B5EF4-FFF2-40B4-BE49-F238E27FC236}">
                <a16:creationId xmlns:a16="http://schemas.microsoft.com/office/drawing/2014/main" id="{09E6E5CE-787A-8E89-D88F-7D72CDDB85BC}"/>
              </a:ext>
            </a:extLst>
          </p:cNvPr>
          <p:cNvSpPr txBox="1">
            <a:spLocks/>
          </p:cNvSpPr>
          <p:nvPr/>
        </p:nvSpPr>
        <p:spPr>
          <a:xfrm>
            <a:off x="6320155" y="4472877"/>
            <a:ext cx="2481263" cy="591821"/>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000" b="0" kern="1200">
                <a:solidFill>
                  <a:schemeClr val="tx1"/>
                </a:solidFill>
                <a:latin typeface="+mj-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200" dirty="0">
                <a:latin typeface="Arial" panose="020B0604020202020204" pitchFamily="34" charset="0"/>
                <a:cs typeface="Arial" panose="020B0604020202020204" pitchFamily="34" charset="0"/>
              </a:rPr>
              <a:t>Systems configured/integrated; parallel run (workaround + system); outputs reconciled</a:t>
            </a:r>
          </a:p>
        </p:txBody>
      </p:sp>
      <p:sp>
        <p:nvSpPr>
          <p:cNvPr id="35" name="Text Placeholder 9">
            <a:extLst>
              <a:ext uri="{FF2B5EF4-FFF2-40B4-BE49-F238E27FC236}">
                <a16:creationId xmlns:a16="http://schemas.microsoft.com/office/drawing/2014/main" id="{44EAAEFB-9DB5-40F1-B4F9-F2DE0E597280}"/>
              </a:ext>
            </a:extLst>
          </p:cNvPr>
          <p:cNvSpPr txBox="1">
            <a:spLocks/>
          </p:cNvSpPr>
          <p:nvPr/>
        </p:nvSpPr>
        <p:spPr>
          <a:xfrm>
            <a:off x="9198292" y="4472877"/>
            <a:ext cx="2481263" cy="591821"/>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000" b="0" kern="1200">
                <a:solidFill>
                  <a:schemeClr val="tx1"/>
                </a:solidFill>
                <a:latin typeface="+mj-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200" dirty="0">
                <a:latin typeface="Arial" panose="020B0604020202020204" pitchFamily="34" charset="0"/>
                <a:cs typeface="Arial" panose="020B0604020202020204" pitchFamily="34" charset="0"/>
              </a:rPr>
              <a:t>Full tech integration; workaround decommissioned; BAU operations</a:t>
            </a:r>
          </a:p>
        </p:txBody>
      </p:sp>
      <p:cxnSp>
        <p:nvCxnSpPr>
          <p:cNvPr id="37" name="Straight Connector 36">
            <a:extLst>
              <a:ext uri="{FF2B5EF4-FFF2-40B4-BE49-F238E27FC236}">
                <a16:creationId xmlns:a16="http://schemas.microsoft.com/office/drawing/2014/main" id="{7E744DE0-E5B8-776E-11E8-1A8E52278025}"/>
              </a:ext>
            </a:extLst>
          </p:cNvPr>
          <p:cNvCxnSpPr/>
          <p:nvPr/>
        </p:nvCxnSpPr>
        <p:spPr>
          <a:xfrm>
            <a:off x="402332" y="5060398"/>
            <a:ext cx="5278940" cy="0"/>
          </a:xfrm>
          <a:prstGeom prst="line">
            <a:avLst/>
          </a:prstGeom>
          <a:ln/>
        </p:spPr>
        <p:style>
          <a:lnRef idx="1">
            <a:schemeClr val="accent2"/>
          </a:lnRef>
          <a:fillRef idx="0">
            <a:schemeClr val="accent2"/>
          </a:fillRef>
          <a:effectRef idx="0">
            <a:schemeClr val="accent2"/>
          </a:effectRef>
          <a:fontRef idx="minor">
            <a:schemeClr val="tx1"/>
          </a:fontRef>
        </p:style>
      </p:cxnSp>
      <p:pic>
        <p:nvPicPr>
          <p:cNvPr id="38" name="Graphic 37">
            <a:extLst>
              <a:ext uri="{FF2B5EF4-FFF2-40B4-BE49-F238E27FC236}">
                <a16:creationId xmlns:a16="http://schemas.microsoft.com/office/drawing/2014/main" id="{EBECD5DE-F43F-6E38-CE94-6351D54515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0525" y="2559948"/>
            <a:ext cx="914400" cy="914400"/>
          </a:xfrm>
          <a:prstGeom prst="rect">
            <a:avLst/>
          </a:prstGeom>
        </p:spPr>
      </p:pic>
    </p:spTree>
    <p:extLst>
      <p:ext uri="{BB962C8B-B14F-4D97-AF65-F5344CB8AC3E}">
        <p14:creationId xmlns:p14="http://schemas.microsoft.com/office/powerpoint/2010/main" val="856409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CF18-C483-25A0-45DA-CCE1AF47BA3C}"/>
              </a:ext>
            </a:extLst>
          </p:cNvPr>
          <p:cNvSpPr>
            <a:spLocks noGrp="1"/>
          </p:cNvSpPr>
          <p:nvPr>
            <p:ph type="title"/>
          </p:nvPr>
        </p:nvSpPr>
        <p:spPr/>
        <p:txBody>
          <a:bodyPr/>
          <a:lstStyle/>
          <a:p>
            <a:r>
              <a:rPr lang="en-GB" dirty="0"/>
              <a:t>Workstream 5: Subcontractor Governance Model</a:t>
            </a:r>
            <a:br>
              <a:rPr lang="en-GB" dirty="0"/>
            </a:br>
            <a:r>
              <a:rPr lang="en-GB" sz="1600" dirty="0">
                <a:latin typeface="Arial" panose="020B0604020202020204" pitchFamily="34" charset="0"/>
                <a:cs typeface="Arial" panose="020B0604020202020204" pitchFamily="34" charset="0"/>
              </a:rPr>
              <a:t>Extending the GP Model — Consistent Quality Across the Ecosystem</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2612AE6A-F6B8-D78F-131A-07B5AD4C0C2C}"/>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A525E8A7-AE32-A440-6A6F-DBDE5C364236}"/>
              </a:ext>
            </a:extLst>
          </p:cNvPr>
          <p:cNvSpPr>
            <a:spLocks noGrp="1"/>
          </p:cNvSpPr>
          <p:nvPr>
            <p:ph type="sldNum" sz="quarter" idx="4"/>
          </p:nvPr>
        </p:nvSpPr>
        <p:spPr/>
        <p:txBody>
          <a:bodyPr/>
          <a:lstStyle/>
          <a:p>
            <a:fld id="{3E6AC032-1535-134B-A583-D5E1DDD0D167}" type="slidenum">
              <a:rPr lang="en-US" smtClean="0"/>
              <a:pPr/>
              <a:t>23</a:t>
            </a:fld>
            <a:endParaRPr lang="en-US"/>
          </a:p>
        </p:txBody>
      </p:sp>
      <p:grpSp>
        <p:nvGrpSpPr>
          <p:cNvPr id="39" name="Group 38">
            <a:extLst>
              <a:ext uri="{FF2B5EF4-FFF2-40B4-BE49-F238E27FC236}">
                <a16:creationId xmlns:a16="http://schemas.microsoft.com/office/drawing/2014/main" id="{9F692059-DF27-A34E-E988-F8C2A765BBBC}"/>
              </a:ext>
            </a:extLst>
          </p:cNvPr>
          <p:cNvGrpSpPr/>
          <p:nvPr/>
        </p:nvGrpSpPr>
        <p:grpSpPr>
          <a:xfrm>
            <a:off x="402334" y="1485057"/>
            <a:ext cx="11399690" cy="3962151"/>
            <a:chOff x="402334" y="1946275"/>
            <a:chExt cx="11399690" cy="3333501"/>
          </a:xfrm>
        </p:grpSpPr>
        <p:sp>
          <p:nvSpPr>
            <p:cNvPr id="5" name="Rectangle 4">
              <a:extLst>
                <a:ext uri="{FF2B5EF4-FFF2-40B4-BE49-F238E27FC236}">
                  <a16:creationId xmlns:a16="http://schemas.microsoft.com/office/drawing/2014/main" id="{A9401D0F-AA47-9359-8773-264755631A07}"/>
                </a:ext>
              </a:extLst>
            </p:cNvPr>
            <p:cNvSpPr/>
            <p:nvPr/>
          </p:nvSpPr>
          <p:spPr>
            <a:xfrm>
              <a:off x="4635005" y="3682941"/>
              <a:ext cx="902493" cy="158932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0A313D2-4B55-542D-54E6-00D476E1C8E9}"/>
                </a:ext>
              </a:extLst>
            </p:cNvPr>
            <p:cNvGrpSpPr/>
            <p:nvPr/>
          </p:nvGrpSpPr>
          <p:grpSpPr>
            <a:xfrm>
              <a:off x="411497" y="1946275"/>
              <a:ext cx="2968728" cy="1610853"/>
              <a:chOff x="532433" y="1574156"/>
              <a:chExt cx="2893673" cy="1610853"/>
            </a:xfrm>
          </p:grpSpPr>
          <p:sp>
            <p:nvSpPr>
              <p:cNvPr id="7" name="Rectangle 6">
                <a:extLst>
                  <a:ext uri="{FF2B5EF4-FFF2-40B4-BE49-F238E27FC236}">
                    <a16:creationId xmlns:a16="http://schemas.microsoft.com/office/drawing/2014/main" id="{00BEABF1-A39E-BAB6-808E-D90CD8A15CC1}"/>
                  </a:ext>
                </a:extLst>
              </p:cNvPr>
              <p:cNvSpPr/>
              <p:nvPr/>
            </p:nvSpPr>
            <p:spPr>
              <a:xfrm>
                <a:off x="532435" y="1574156"/>
                <a:ext cx="2893671" cy="1589323"/>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5">
                <a:extLst>
                  <a:ext uri="{FF2B5EF4-FFF2-40B4-BE49-F238E27FC236}">
                    <a16:creationId xmlns:a16="http://schemas.microsoft.com/office/drawing/2014/main" id="{EFE3C5AE-68A9-DD3B-5725-239B2061250F}"/>
                  </a:ext>
                </a:extLst>
              </p:cNvPr>
              <p:cNvSpPr txBox="1">
                <a:spLocks/>
              </p:cNvSpPr>
              <p:nvPr/>
            </p:nvSpPr>
            <p:spPr>
              <a:xfrm>
                <a:off x="532433" y="1574156"/>
                <a:ext cx="2858951" cy="625034"/>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1. Onboarding</a:t>
                </a:r>
              </a:p>
            </p:txBody>
          </p:sp>
          <p:sp>
            <p:nvSpPr>
              <p:cNvPr id="9" name="TextBox 8">
                <a:extLst>
                  <a:ext uri="{FF2B5EF4-FFF2-40B4-BE49-F238E27FC236}">
                    <a16:creationId xmlns:a16="http://schemas.microsoft.com/office/drawing/2014/main" id="{0507AF7F-494C-5FC4-206B-D77E72D62E7A}"/>
                  </a:ext>
                </a:extLst>
              </p:cNvPr>
              <p:cNvSpPr txBox="1"/>
              <p:nvPr/>
            </p:nvSpPr>
            <p:spPr>
              <a:xfrm>
                <a:off x="554491" y="2002891"/>
                <a:ext cx="2814834" cy="1182118"/>
              </a:xfrm>
              <a:prstGeom prst="rect">
                <a:avLst/>
              </a:prstGeom>
              <a:noFill/>
            </p:spPr>
            <p:txBody>
              <a:bodyPr wrap="square" lIns="91440" tIns="0" rIns="0" bIns="0" rtlCol="0">
                <a:spAutoFit/>
              </a:bodyPr>
              <a:lstStyle/>
              <a:p>
                <a:pPr>
                  <a:lnSpc>
                    <a:spcPct val="114000"/>
                  </a:lnSpc>
                  <a:spcAft>
                    <a:spcPts val="600"/>
                  </a:spcAft>
                </a:pPr>
                <a:r>
                  <a:rPr lang="en-GB" sz="1400" b="1" dirty="0"/>
                  <a:t>Subcontractor Qualification Standard</a:t>
                </a:r>
              </a:p>
              <a:p>
                <a:pPr marL="4763" lvl="1">
                  <a:lnSpc>
                    <a:spcPct val="114000"/>
                  </a:lnSpc>
                  <a:spcAft>
                    <a:spcPts val="600"/>
                  </a:spcAft>
                </a:pPr>
                <a:r>
                  <a:rPr lang="en-GB" sz="1200" dirty="0"/>
                  <a:t>Minimum requirements: compliance certifications, process maturity, tech compatibility, PCI-DSS.</a:t>
                </a:r>
              </a:p>
            </p:txBody>
          </p:sp>
        </p:grpSp>
        <p:grpSp>
          <p:nvGrpSpPr>
            <p:cNvPr id="10" name="Group 9">
              <a:extLst>
                <a:ext uri="{FF2B5EF4-FFF2-40B4-BE49-F238E27FC236}">
                  <a16:creationId xmlns:a16="http://schemas.microsoft.com/office/drawing/2014/main" id="{22497250-07E7-C25B-2293-77D219A50645}"/>
                </a:ext>
              </a:extLst>
            </p:cNvPr>
            <p:cNvGrpSpPr/>
            <p:nvPr/>
          </p:nvGrpSpPr>
          <p:grpSpPr>
            <a:xfrm>
              <a:off x="4619170" y="1946275"/>
              <a:ext cx="3843513" cy="1589323"/>
              <a:chOff x="4633729" y="1574156"/>
              <a:chExt cx="3746342" cy="1589323"/>
            </a:xfrm>
          </p:grpSpPr>
          <p:sp>
            <p:nvSpPr>
              <p:cNvPr id="11" name="Rectangle 10">
                <a:extLst>
                  <a:ext uri="{FF2B5EF4-FFF2-40B4-BE49-F238E27FC236}">
                    <a16:creationId xmlns:a16="http://schemas.microsoft.com/office/drawing/2014/main" id="{E5223664-CFA8-26DE-9A34-463FC4DC13EB}"/>
                  </a:ext>
                </a:extLst>
              </p:cNvPr>
              <p:cNvSpPr/>
              <p:nvPr/>
            </p:nvSpPr>
            <p:spPr>
              <a:xfrm>
                <a:off x="4649164" y="1574156"/>
                <a:ext cx="3730907" cy="1589323"/>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25">
                <a:extLst>
                  <a:ext uri="{FF2B5EF4-FFF2-40B4-BE49-F238E27FC236}">
                    <a16:creationId xmlns:a16="http://schemas.microsoft.com/office/drawing/2014/main" id="{91D5B74A-0F9C-6F55-8963-9214BCDF4E7D}"/>
                  </a:ext>
                </a:extLst>
              </p:cNvPr>
              <p:cNvSpPr txBox="1">
                <a:spLocks/>
              </p:cNvSpPr>
              <p:nvPr/>
            </p:nvSpPr>
            <p:spPr>
              <a:xfrm>
                <a:off x="4641447" y="1574156"/>
                <a:ext cx="3730906" cy="625034"/>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2. Contractual</a:t>
                </a:r>
              </a:p>
            </p:txBody>
          </p:sp>
          <p:sp>
            <p:nvSpPr>
              <p:cNvPr id="13" name="TextBox 12">
                <a:extLst>
                  <a:ext uri="{FF2B5EF4-FFF2-40B4-BE49-F238E27FC236}">
                    <a16:creationId xmlns:a16="http://schemas.microsoft.com/office/drawing/2014/main" id="{FD719E04-D16B-108B-776F-C1BDBBCB2310}"/>
                  </a:ext>
                </a:extLst>
              </p:cNvPr>
              <p:cNvSpPr txBox="1"/>
              <p:nvPr/>
            </p:nvSpPr>
            <p:spPr>
              <a:xfrm>
                <a:off x="4633729" y="2002891"/>
                <a:ext cx="3656174" cy="936538"/>
              </a:xfrm>
              <a:prstGeom prst="rect">
                <a:avLst/>
              </a:prstGeom>
              <a:noFill/>
            </p:spPr>
            <p:txBody>
              <a:bodyPr wrap="square" lIns="91440" tIns="0" rIns="0" bIns="0" rtlCol="0">
                <a:spAutoFit/>
              </a:bodyPr>
              <a:lstStyle/>
              <a:p>
                <a:pPr>
                  <a:lnSpc>
                    <a:spcPct val="114000"/>
                  </a:lnSpc>
                  <a:spcAft>
                    <a:spcPts val="600"/>
                  </a:spcAft>
                </a:pPr>
                <a:r>
                  <a:rPr lang="en-GB" sz="1400" b="1" dirty="0"/>
                  <a:t>GP Model Alignment Clauses</a:t>
                </a:r>
              </a:p>
              <a:p>
                <a:pPr marL="4763" lvl="1">
                  <a:lnSpc>
                    <a:spcPct val="114000"/>
                  </a:lnSpc>
                  <a:spcAft>
                    <a:spcPts val="600"/>
                  </a:spcAft>
                </a:pPr>
                <a:r>
                  <a:rPr lang="en-GB" sz="1200" dirty="0"/>
                  <a:t>Standard terms requiring adherence to GP's </a:t>
                </a:r>
                <a:r>
                  <a:rPr lang="en-GB" sz="1200" b="1" dirty="0"/>
                  <a:t>standardized processes</a:t>
                </a:r>
                <a:r>
                  <a:rPr lang="en-GB" sz="1200" dirty="0"/>
                  <a:t> (TOM Pillar 2) , SLAs, reporting formats, quality standards</a:t>
                </a:r>
                <a:endParaRPr lang="en-GB" sz="1100" dirty="0"/>
              </a:p>
            </p:txBody>
          </p:sp>
        </p:grpSp>
        <p:grpSp>
          <p:nvGrpSpPr>
            <p:cNvPr id="14" name="Group 13">
              <a:extLst>
                <a:ext uri="{FF2B5EF4-FFF2-40B4-BE49-F238E27FC236}">
                  <a16:creationId xmlns:a16="http://schemas.microsoft.com/office/drawing/2014/main" id="{6E559DC9-FA32-CBDB-348E-3E141D8B9E5D}"/>
                </a:ext>
              </a:extLst>
            </p:cNvPr>
            <p:cNvGrpSpPr/>
            <p:nvPr/>
          </p:nvGrpSpPr>
          <p:grpSpPr>
            <a:xfrm>
              <a:off x="3534599" y="1946275"/>
              <a:ext cx="902493" cy="1589323"/>
              <a:chOff x="3576578" y="1574156"/>
              <a:chExt cx="879676" cy="1589323"/>
            </a:xfrm>
          </p:grpSpPr>
          <p:sp>
            <p:nvSpPr>
              <p:cNvPr id="15" name="Rectangle 14">
                <a:extLst>
                  <a:ext uri="{FF2B5EF4-FFF2-40B4-BE49-F238E27FC236}">
                    <a16:creationId xmlns:a16="http://schemas.microsoft.com/office/drawing/2014/main" id="{6AF7A3E5-CDDF-1548-B781-17DEDA4A2638}"/>
                  </a:ext>
                </a:extLst>
              </p:cNvPr>
              <p:cNvSpPr/>
              <p:nvPr/>
            </p:nvSpPr>
            <p:spPr>
              <a:xfrm>
                <a:off x="3576578" y="1574156"/>
                <a:ext cx="879676" cy="1589323"/>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descr="Up arrow">
                <a:extLst>
                  <a:ext uri="{FF2B5EF4-FFF2-40B4-BE49-F238E27FC236}">
                    <a16:creationId xmlns:a16="http://schemas.microsoft.com/office/drawing/2014/main" id="{8DA69032-94E5-47B9-DCBB-CC38EE78F791}"/>
                  </a:ext>
                </a:extLst>
              </p:cNvPr>
              <p:cNvCxnSpPr>
                <a:cxnSpLocks/>
              </p:cNvCxnSpPr>
              <p:nvPr/>
            </p:nvCxnSpPr>
            <p:spPr>
              <a:xfrm>
                <a:off x="3805887" y="2368817"/>
                <a:ext cx="421057" cy="0"/>
              </a:xfrm>
              <a:prstGeom prst="straightConnector1">
                <a:avLst/>
              </a:prstGeom>
              <a:ln w="57150"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FEEA087D-7174-E119-7D3F-85A64141647C}"/>
                </a:ext>
              </a:extLst>
            </p:cNvPr>
            <p:cNvGrpSpPr/>
            <p:nvPr/>
          </p:nvGrpSpPr>
          <p:grpSpPr>
            <a:xfrm>
              <a:off x="10899539" y="3682941"/>
              <a:ext cx="902485" cy="686034"/>
              <a:chOff x="10755319" y="3310822"/>
              <a:chExt cx="879669" cy="686034"/>
            </a:xfrm>
          </p:grpSpPr>
          <p:sp>
            <p:nvSpPr>
              <p:cNvPr id="18" name="Rectangle 17">
                <a:extLst>
                  <a:ext uri="{FF2B5EF4-FFF2-40B4-BE49-F238E27FC236}">
                    <a16:creationId xmlns:a16="http://schemas.microsoft.com/office/drawing/2014/main" id="{3087AFC2-AFDF-D0BA-8C61-566F2393139E}"/>
                  </a:ext>
                </a:extLst>
              </p:cNvPr>
              <p:cNvSpPr/>
              <p:nvPr/>
            </p:nvSpPr>
            <p:spPr>
              <a:xfrm>
                <a:off x="10755319" y="3310822"/>
                <a:ext cx="879669" cy="68603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Arrow Connector 18" descr="Up arrow">
                <a:extLst>
                  <a:ext uri="{FF2B5EF4-FFF2-40B4-BE49-F238E27FC236}">
                    <a16:creationId xmlns:a16="http://schemas.microsoft.com/office/drawing/2014/main" id="{D89FB402-79EB-719C-4EB1-3D99AD4C7826}"/>
                  </a:ext>
                </a:extLst>
              </p:cNvPr>
              <p:cNvCxnSpPr>
                <a:cxnSpLocks/>
              </p:cNvCxnSpPr>
              <p:nvPr/>
            </p:nvCxnSpPr>
            <p:spPr>
              <a:xfrm>
                <a:off x="11199017" y="3476398"/>
                <a:ext cx="0" cy="389546"/>
              </a:xfrm>
              <a:prstGeom prst="straightConnector1">
                <a:avLst/>
              </a:prstGeom>
              <a:ln w="57150"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589E3521-CAD6-D93F-060B-C79E82E94E21}"/>
                </a:ext>
              </a:extLst>
            </p:cNvPr>
            <p:cNvGrpSpPr/>
            <p:nvPr/>
          </p:nvGrpSpPr>
          <p:grpSpPr>
            <a:xfrm>
              <a:off x="10899539" y="4516318"/>
              <a:ext cx="902485" cy="763458"/>
              <a:chOff x="10755319" y="4144199"/>
              <a:chExt cx="879669" cy="763458"/>
            </a:xfrm>
          </p:grpSpPr>
          <p:sp>
            <p:nvSpPr>
              <p:cNvPr id="21" name="Rectangle 20">
                <a:extLst>
                  <a:ext uri="{FF2B5EF4-FFF2-40B4-BE49-F238E27FC236}">
                    <a16:creationId xmlns:a16="http://schemas.microsoft.com/office/drawing/2014/main" id="{66401FD2-107D-7C27-4B1A-197DCFAA9F00}"/>
                  </a:ext>
                </a:extLst>
              </p:cNvPr>
              <p:cNvSpPr/>
              <p:nvPr/>
            </p:nvSpPr>
            <p:spPr>
              <a:xfrm>
                <a:off x="10755319" y="4144199"/>
                <a:ext cx="879669" cy="763458"/>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Straight Arrow Connector 21" descr="Up arrow">
                <a:extLst>
                  <a:ext uri="{FF2B5EF4-FFF2-40B4-BE49-F238E27FC236}">
                    <a16:creationId xmlns:a16="http://schemas.microsoft.com/office/drawing/2014/main" id="{8B4B6B32-46BD-61A6-D8AA-A92288A11CDC}"/>
                  </a:ext>
                </a:extLst>
              </p:cNvPr>
              <p:cNvCxnSpPr>
                <a:cxnSpLocks/>
              </p:cNvCxnSpPr>
              <p:nvPr/>
            </p:nvCxnSpPr>
            <p:spPr>
              <a:xfrm flipH="1">
                <a:off x="10945593" y="4514128"/>
                <a:ext cx="420747" cy="0"/>
              </a:xfrm>
              <a:prstGeom prst="straightConnector1">
                <a:avLst/>
              </a:prstGeom>
              <a:ln w="57150" cap="sq">
                <a:solidFill>
                  <a:schemeClr val="tx1"/>
                </a:solidFill>
                <a:bevel/>
                <a:headEnd type="none" w="lg" len="sm"/>
                <a:tailEnd type="arrow" w="lg" len="med"/>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F4D44001-CF28-49CA-A65B-B53E0AF366D5}"/>
                </a:ext>
              </a:extLst>
            </p:cNvPr>
            <p:cNvGrpSpPr/>
            <p:nvPr/>
          </p:nvGrpSpPr>
          <p:grpSpPr>
            <a:xfrm>
              <a:off x="8635382" y="1946275"/>
              <a:ext cx="3166642" cy="1589323"/>
              <a:chOff x="8572982" y="1574156"/>
              <a:chExt cx="3086584" cy="1589323"/>
            </a:xfrm>
          </p:grpSpPr>
          <p:sp>
            <p:nvSpPr>
              <p:cNvPr id="24" name="Rectangle 23">
                <a:extLst>
                  <a:ext uri="{FF2B5EF4-FFF2-40B4-BE49-F238E27FC236}">
                    <a16:creationId xmlns:a16="http://schemas.microsoft.com/office/drawing/2014/main" id="{BB370153-24CF-9FA4-D9C2-E69A7478B434}"/>
                  </a:ext>
                </a:extLst>
              </p:cNvPr>
              <p:cNvSpPr/>
              <p:nvPr/>
            </p:nvSpPr>
            <p:spPr>
              <a:xfrm>
                <a:off x="8572982" y="1574156"/>
                <a:ext cx="3086584" cy="1589323"/>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25">
                <a:extLst>
                  <a:ext uri="{FF2B5EF4-FFF2-40B4-BE49-F238E27FC236}">
                    <a16:creationId xmlns:a16="http://schemas.microsoft.com/office/drawing/2014/main" id="{5F45F618-61CA-7329-2CDA-E7595DB75221}"/>
                  </a:ext>
                </a:extLst>
              </p:cNvPr>
              <p:cNvSpPr txBox="1">
                <a:spLocks/>
              </p:cNvSpPr>
              <p:nvPr/>
            </p:nvSpPr>
            <p:spPr>
              <a:xfrm>
                <a:off x="8576840" y="1574156"/>
                <a:ext cx="3082726" cy="625034"/>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3. Operational</a:t>
                </a:r>
              </a:p>
            </p:txBody>
          </p:sp>
          <p:sp>
            <p:nvSpPr>
              <p:cNvPr id="26" name="TextBox 25">
                <a:extLst>
                  <a:ext uri="{FF2B5EF4-FFF2-40B4-BE49-F238E27FC236}">
                    <a16:creationId xmlns:a16="http://schemas.microsoft.com/office/drawing/2014/main" id="{1AAFDA99-0CF5-EF01-98AC-8086EDD220E4}"/>
                  </a:ext>
                </a:extLst>
              </p:cNvPr>
              <p:cNvSpPr txBox="1"/>
              <p:nvPr/>
            </p:nvSpPr>
            <p:spPr>
              <a:xfrm>
                <a:off x="8572982" y="2016434"/>
                <a:ext cx="2804933" cy="1147045"/>
              </a:xfrm>
              <a:prstGeom prst="rect">
                <a:avLst/>
              </a:prstGeom>
              <a:noFill/>
            </p:spPr>
            <p:txBody>
              <a:bodyPr wrap="square" lIns="91440" tIns="0" rIns="0" bIns="0" rtlCol="0">
                <a:spAutoFit/>
              </a:bodyPr>
              <a:lstStyle/>
              <a:p>
                <a:pPr>
                  <a:lnSpc>
                    <a:spcPct val="114000"/>
                  </a:lnSpc>
                  <a:spcAft>
                    <a:spcPts val="600"/>
                  </a:spcAft>
                </a:pPr>
                <a:r>
                  <a:rPr lang="en-GB" sz="1400" b="1" dirty="0"/>
                  <a:t>Process Conformance Reviews</a:t>
                </a:r>
              </a:p>
              <a:p>
                <a:pPr marL="4763" lvl="1">
                  <a:lnSpc>
                    <a:spcPct val="114000"/>
                  </a:lnSpc>
                  <a:spcAft>
                    <a:spcPts val="600"/>
                  </a:spcAft>
                </a:pPr>
                <a:r>
                  <a:rPr lang="en-GB" sz="1200" dirty="0"/>
                  <a:t>Quarterly reviews; transaction sampling; mystery shopping; aligned to GP's </a:t>
                </a:r>
                <a:r>
                  <a:rPr lang="en-GB" sz="1200" b="1" dirty="0"/>
                  <a:t>"Standardization (limit customization)"</a:t>
                </a:r>
                <a:r>
                  <a:rPr lang="en-GB" sz="1200" dirty="0"/>
                  <a:t> principle</a:t>
                </a:r>
                <a:endParaRPr lang="en-GB" sz="1100" dirty="0"/>
              </a:p>
            </p:txBody>
          </p:sp>
        </p:grpSp>
        <p:grpSp>
          <p:nvGrpSpPr>
            <p:cNvPr id="27" name="Group 26">
              <a:extLst>
                <a:ext uri="{FF2B5EF4-FFF2-40B4-BE49-F238E27FC236}">
                  <a16:creationId xmlns:a16="http://schemas.microsoft.com/office/drawing/2014/main" id="{A2223058-B089-11AE-1D15-83A7540DE381}"/>
                </a:ext>
              </a:extLst>
            </p:cNvPr>
            <p:cNvGrpSpPr/>
            <p:nvPr/>
          </p:nvGrpSpPr>
          <p:grpSpPr>
            <a:xfrm>
              <a:off x="7653210" y="3682478"/>
              <a:ext cx="3065704" cy="1589785"/>
              <a:chOff x="7591063" y="3310359"/>
              <a:chExt cx="2988198" cy="1589785"/>
            </a:xfrm>
          </p:grpSpPr>
          <p:sp>
            <p:nvSpPr>
              <p:cNvPr id="28" name="Rectangle 27">
                <a:extLst>
                  <a:ext uri="{FF2B5EF4-FFF2-40B4-BE49-F238E27FC236}">
                    <a16:creationId xmlns:a16="http://schemas.microsoft.com/office/drawing/2014/main" id="{B57DF791-B140-C41E-5A2F-AA1411C4982D}"/>
                  </a:ext>
                </a:extLst>
              </p:cNvPr>
              <p:cNvSpPr/>
              <p:nvPr/>
            </p:nvSpPr>
            <p:spPr>
              <a:xfrm>
                <a:off x="7623859" y="3310822"/>
                <a:ext cx="2955402" cy="1589322"/>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 Placeholder 25">
                <a:extLst>
                  <a:ext uri="{FF2B5EF4-FFF2-40B4-BE49-F238E27FC236}">
                    <a16:creationId xmlns:a16="http://schemas.microsoft.com/office/drawing/2014/main" id="{AE191D65-0A0A-035D-93A7-87DA5A51A226}"/>
                  </a:ext>
                </a:extLst>
              </p:cNvPr>
              <p:cNvSpPr txBox="1">
                <a:spLocks/>
              </p:cNvSpPr>
              <p:nvPr/>
            </p:nvSpPr>
            <p:spPr>
              <a:xfrm>
                <a:off x="7627715" y="3310359"/>
                <a:ext cx="2804933" cy="625034"/>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4. Performance</a:t>
                </a:r>
              </a:p>
            </p:txBody>
          </p:sp>
          <p:sp>
            <p:nvSpPr>
              <p:cNvPr id="30" name="TextBox 29">
                <a:extLst>
                  <a:ext uri="{FF2B5EF4-FFF2-40B4-BE49-F238E27FC236}">
                    <a16:creationId xmlns:a16="http://schemas.microsoft.com/office/drawing/2014/main" id="{4131996B-ECE4-1030-BE97-AF3025BE4424}"/>
                  </a:ext>
                </a:extLst>
              </p:cNvPr>
              <p:cNvSpPr txBox="1"/>
              <p:nvPr/>
            </p:nvSpPr>
            <p:spPr>
              <a:xfrm>
                <a:off x="7591063" y="3701125"/>
                <a:ext cx="2804933" cy="1147045"/>
              </a:xfrm>
              <a:prstGeom prst="rect">
                <a:avLst/>
              </a:prstGeom>
              <a:noFill/>
            </p:spPr>
            <p:txBody>
              <a:bodyPr wrap="square" lIns="91440" tIns="0" rIns="0" bIns="0" rtlCol="0">
                <a:spAutoFit/>
              </a:bodyPr>
              <a:lstStyle/>
              <a:p>
                <a:pPr>
                  <a:lnSpc>
                    <a:spcPct val="114000"/>
                  </a:lnSpc>
                  <a:spcAft>
                    <a:spcPts val="600"/>
                  </a:spcAft>
                </a:pPr>
                <a:r>
                  <a:rPr lang="en-GB" sz="1400" b="1" dirty="0"/>
                  <a:t>Subcontractor Scorecard</a:t>
                </a:r>
              </a:p>
              <a:p>
                <a:pPr marL="4763" lvl="1">
                  <a:lnSpc>
                    <a:spcPct val="114000"/>
                  </a:lnSpc>
                  <a:spcAft>
                    <a:spcPts val="600"/>
                  </a:spcAft>
                </a:pPr>
                <a:r>
                  <a:rPr lang="en-GB" sz="1200" dirty="0"/>
                  <a:t>Monthly KPIs: SLA compliance, error rates, customer complaints — feeding into the same </a:t>
                </a:r>
                <a:r>
                  <a:rPr lang="en-GB" sz="1200" b="1" dirty="0"/>
                  <a:t>KPI-driven performance</a:t>
                </a:r>
                <a:r>
                  <a:rPr lang="en-GB" sz="1200" dirty="0"/>
                  <a:t> framework (TOM Pillar 4)</a:t>
                </a:r>
                <a:endParaRPr lang="en-GB" sz="1100" dirty="0"/>
              </a:p>
            </p:txBody>
          </p:sp>
        </p:grpSp>
        <p:grpSp>
          <p:nvGrpSpPr>
            <p:cNvPr id="31" name="Group 30">
              <a:extLst>
                <a:ext uri="{FF2B5EF4-FFF2-40B4-BE49-F238E27FC236}">
                  <a16:creationId xmlns:a16="http://schemas.microsoft.com/office/drawing/2014/main" id="{1BA87606-BC1D-8F06-CF4A-CAAC0CB48511}"/>
                </a:ext>
              </a:extLst>
            </p:cNvPr>
            <p:cNvGrpSpPr/>
            <p:nvPr/>
          </p:nvGrpSpPr>
          <p:grpSpPr>
            <a:xfrm>
              <a:off x="3534600" y="3682478"/>
              <a:ext cx="3978091" cy="1589785"/>
              <a:chOff x="3576579" y="3310359"/>
              <a:chExt cx="3877518" cy="1589785"/>
            </a:xfrm>
          </p:grpSpPr>
          <p:sp>
            <p:nvSpPr>
              <p:cNvPr id="32" name="Rectangle 31">
                <a:extLst>
                  <a:ext uri="{FF2B5EF4-FFF2-40B4-BE49-F238E27FC236}">
                    <a16:creationId xmlns:a16="http://schemas.microsoft.com/office/drawing/2014/main" id="{D307A545-47EC-1689-F2BC-57E5C4F6335A}"/>
                  </a:ext>
                </a:extLst>
              </p:cNvPr>
              <p:cNvSpPr/>
              <p:nvPr/>
            </p:nvSpPr>
            <p:spPr>
              <a:xfrm>
                <a:off x="3576579" y="3310822"/>
                <a:ext cx="3877518" cy="1589322"/>
              </a:xfrm>
              <a:prstGeom prst="rect">
                <a:avLst/>
              </a:prstGeom>
              <a:solidFill>
                <a:srgbClr val="FE7C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25">
                <a:extLst>
                  <a:ext uri="{FF2B5EF4-FFF2-40B4-BE49-F238E27FC236}">
                    <a16:creationId xmlns:a16="http://schemas.microsoft.com/office/drawing/2014/main" id="{09E17BDA-AFD1-1B63-E2DF-B0BAFF00E2D7}"/>
                  </a:ext>
                </a:extLst>
              </p:cNvPr>
              <p:cNvSpPr txBox="1">
                <a:spLocks/>
              </p:cNvSpPr>
              <p:nvPr/>
            </p:nvSpPr>
            <p:spPr>
              <a:xfrm>
                <a:off x="3588152" y="3310359"/>
                <a:ext cx="3730906" cy="625034"/>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5. Escalation</a:t>
                </a:r>
              </a:p>
            </p:txBody>
          </p:sp>
          <p:sp>
            <p:nvSpPr>
              <p:cNvPr id="34" name="TextBox 33">
                <a:extLst>
                  <a:ext uri="{FF2B5EF4-FFF2-40B4-BE49-F238E27FC236}">
                    <a16:creationId xmlns:a16="http://schemas.microsoft.com/office/drawing/2014/main" id="{6E42A0E4-0C86-75E9-4D27-2651F8209DC2}"/>
                  </a:ext>
                </a:extLst>
              </p:cNvPr>
              <p:cNvSpPr txBox="1"/>
              <p:nvPr/>
            </p:nvSpPr>
            <p:spPr>
              <a:xfrm>
                <a:off x="3588155" y="4027982"/>
                <a:ext cx="2804933" cy="726609"/>
              </a:xfrm>
              <a:prstGeom prst="rect">
                <a:avLst/>
              </a:prstGeom>
              <a:noFill/>
            </p:spPr>
            <p:txBody>
              <a:bodyPr wrap="square" lIns="91440" tIns="0" rIns="0" bIns="0" rtlCol="0">
                <a:spAutoFit/>
              </a:bodyPr>
              <a:lstStyle/>
              <a:p>
                <a:pPr>
                  <a:lnSpc>
                    <a:spcPct val="114000"/>
                  </a:lnSpc>
                  <a:spcAft>
                    <a:spcPts val="600"/>
                  </a:spcAft>
                </a:pPr>
                <a:r>
                  <a:rPr lang="en-GB" sz="1400" b="1" dirty="0"/>
                  <a:t>Non-Conformance Management</a:t>
                </a:r>
              </a:p>
              <a:p>
                <a:pPr marL="4763" lvl="1">
                  <a:lnSpc>
                    <a:spcPct val="114000"/>
                  </a:lnSpc>
                  <a:spcAft>
                    <a:spcPts val="600"/>
                  </a:spcAft>
                </a:pPr>
                <a:r>
                  <a:rPr lang="en-GB" sz="1200" dirty="0"/>
                  <a:t>Warning → corrective action plan → probation → termination</a:t>
                </a:r>
              </a:p>
            </p:txBody>
          </p:sp>
        </p:grpSp>
        <p:grpSp>
          <p:nvGrpSpPr>
            <p:cNvPr id="35" name="Group 34">
              <a:extLst>
                <a:ext uri="{FF2B5EF4-FFF2-40B4-BE49-F238E27FC236}">
                  <a16:creationId xmlns:a16="http://schemas.microsoft.com/office/drawing/2014/main" id="{88E0AF85-9AA4-7EA9-FC5D-B6566285CA8A}"/>
                </a:ext>
              </a:extLst>
            </p:cNvPr>
            <p:cNvGrpSpPr/>
            <p:nvPr/>
          </p:nvGrpSpPr>
          <p:grpSpPr>
            <a:xfrm>
              <a:off x="402334" y="3682478"/>
              <a:ext cx="2977890" cy="1589785"/>
              <a:chOff x="523502" y="3310359"/>
              <a:chExt cx="2902604" cy="1589785"/>
            </a:xfrm>
          </p:grpSpPr>
          <p:sp>
            <p:nvSpPr>
              <p:cNvPr id="36" name="Rectangle 35">
                <a:extLst>
                  <a:ext uri="{FF2B5EF4-FFF2-40B4-BE49-F238E27FC236}">
                    <a16:creationId xmlns:a16="http://schemas.microsoft.com/office/drawing/2014/main" id="{42545524-C26A-C25B-F163-3DD974D2FAB8}"/>
                  </a:ext>
                </a:extLst>
              </p:cNvPr>
              <p:cNvSpPr/>
              <p:nvPr/>
            </p:nvSpPr>
            <p:spPr>
              <a:xfrm>
                <a:off x="532435" y="3310822"/>
                <a:ext cx="2893671" cy="15893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Placeholder 25">
                <a:extLst>
                  <a:ext uri="{FF2B5EF4-FFF2-40B4-BE49-F238E27FC236}">
                    <a16:creationId xmlns:a16="http://schemas.microsoft.com/office/drawing/2014/main" id="{26E5F1FA-80A4-BB83-3A62-1F8633CDB525}"/>
                  </a:ext>
                </a:extLst>
              </p:cNvPr>
              <p:cNvSpPr txBox="1">
                <a:spLocks/>
              </p:cNvSpPr>
              <p:nvPr/>
            </p:nvSpPr>
            <p:spPr>
              <a:xfrm>
                <a:off x="532436" y="3310359"/>
                <a:ext cx="2804932" cy="625034"/>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6. Integration</a:t>
                </a:r>
              </a:p>
            </p:txBody>
          </p:sp>
          <p:sp>
            <p:nvSpPr>
              <p:cNvPr id="38" name="TextBox 37">
                <a:extLst>
                  <a:ext uri="{FF2B5EF4-FFF2-40B4-BE49-F238E27FC236}">
                    <a16:creationId xmlns:a16="http://schemas.microsoft.com/office/drawing/2014/main" id="{F8C8B2A9-EDE0-B2A4-22AF-835304B3C16B}"/>
                  </a:ext>
                </a:extLst>
              </p:cNvPr>
              <p:cNvSpPr txBox="1"/>
              <p:nvPr/>
            </p:nvSpPr>
            <p:spPr>
              <a:xfrm>
                <a:off x="523502" y="3865944"/>
                <a:ext cx="2804933" cy="936538"/>
              </a:xfrm>
              <a:prstGeom prst="rect">
                <a:avLst/>
              </a:prstGeom>
              <a:noFill/>
            </p:spPr>
            <p:txBody>
              <a:bodyPr wrap="square" lIns="91440" tIns="0" rIns="0" bIns="0" rtlCol="0">
                <a:spAutoFit/>
              </a:bodyPr>
              <a:lstStyle/>
              <a:p>
                <a:pPr>
                  <a:lnSpc>
                    <a:spcPct val="114000"/>
                  </a:lnSpc>
                  <a:spcAft>
                    <a:spcPts val="600"/>
                  </a:spcAft>
                </a:pPr>
                <a:r>
                  <a:rPr lang="en-GB" sz="1400" b="1" dirty="0"/>
                  <a:t>Unified Intake Access</a:t>
                </a:r>
              </a:p>
              <a:p>
                <a:pPr marL="4763" lvl="1">
                  <a:lnSpc>
                    <a:spcPct val="114000"/>
                  </a:lnSpc>
                  <a:spcAft>
                    <a:spcPts val="600"/>
                  </a:spcAft>
                </a:pPr>
                <a:r>
                  <a:rPr lang="en-GB" sz="1200" dirty="0"/>
                  <a:t>Subcontractors use the same intake/ticketing system (WS3) — unified visibility</a:t>
                </a:r>
              </a:p>
            </p:txBody>
          </p:sp>
        </p:grpSp>
      </p:grpSp>
      <p:sp>
        <p:nvSpPr>
          <p:cNvPr id="40" name="TextBox 39">
            <a:extLst>
              <a:ext uri="{FF2B5EF4-FFF2-40B4-BE49-F238E27FC236}">
                <a16:creationId xmlns:a16="http://schemas.microsoft.com/office/drawing/2014/main" id="{0EFE933C-D0DD-4D08-B192-B22E81F2066C}"/>
              </a:ext>
            </a:extLst>
          </p:cNvPr>
          <p:cNvSpPr txBox="1"/>
          <p:nvPr/>
        </p:nvSpPr>
        <p:spPr>
          <a:xfrm>
            <a:off x="402334" y="5840412"/>
            <a:ext cx="11232653" cy="430887"/>
          </a:xfrm>
          <a:prstGeom prst="rect">
            <a:avLst/>
          </a:prstGeom>
          <a:noFill/>
        </p:spPr>
        <p:txBody>
          <a:bodyPr wrap="square" lIns="0" tIns="0" rIns="0" bIns="0">
            <a:spAutoFit/>
          </a:bodyPr>
          <a:lstStyle/>
          <a:p>
            <a:r>
              <a:rPr lang="en-GB" b="1" dirty="0"/>
              <a:t>Recommendation: </a:t>
            </a:r>
            <a:r>
              <a:rPr lang="en-GB" dirty="0"/>
              <a:t>Establish a lightweight Vendor Management Office (VMO) within the Prague SSC — 1–2 FTEs responsible for subcontractor onboarding, scorecard management, and conformance reviews.</a:t>
            </a:r>
          </a:p>
        </p:txBody>
      </p:sp>
    </p:spTree>
    <p:extLst>
      <p:ext uri="{BB962C8B-B14F-4D97-AF65-F5344CB8AC3E}">
        <p14:creationId xmlns:p14="http://schemas.microsoft.com/office/powerpoint/2010/main" val="1014101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23304CC-4B59-43EA-DC44-ABCE2EE2402D}"/>
              </a:ext>
            </a:extLst>
          </p:cNvPr>
          <p:cNvSpPr/>
          <p:nvPr/>
        </p:nvSpPr>
        <p:spPr>
          <a:xfrm>
            <a:off x="6629400" y="0"/>
            <a:ext cx="5562600" cy="6858000"/>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K"/>
          </a:p>
        </p:txBody>
      </p:sp>
      <p:sp>
        <p:nvSpPr>
          <p:cNvPr id="2" name="Title 1">
            <a:extLst>
              <a:ext uri="{FF2B5EF4-FFF2-40B4-BE49-F238E27FC236}">
                <a16:creationId xmlns:a16="http://schemas.microsoft.com/office/drawing/2014/main" id="{28ADEB0C-7842-D9DA-23E8-2BD7C6192FD3}"/>
              </a:ext>
            </a:extLst>
          </p:cNvPr>
          <p:cNvSpPr>
            <a:spLocks noGrp="1"/>
          </p:cNvSpPr>
          <p:nvPr>
            <p:ph type="title"/>
          </p:nvPr>
        </p:nvSpPr>
        <p:spPr>
          <a:xfrm>
            <a:off x="402335" y="402336"/>
            <a:ext cx="5949479" cy="1147495"/>
          </a:xfrm>
        </p:spPr>
        <p:txBody>
          <a:bodyPr/>
          <a:lstStyle/>
          <a:p>
            <a:r>
              <a:rPr lang="en-GB" dirty="0"/>
              <a:t>Workstream 6: Transfer Pricing Mechanism &amp; Reporting</a:t>
            </a:r>
            <a:br>
              <a:rPr lang="en-GB" sz="32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Commercial Transparency — "Clear Cost Allocation and Visibility"</a:t>
            </a:r>
            <a:endParaRPr lang="en-GB"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C9E2B08E-93DC-E03E-1B36-F17788788584}"/>
              </a:ext>
            </a:extLst>
          </p:cNvPr>
          <p:cNvSpPr>
            <a:spLocks noGrp="1"/>
          </p:cNvSpPr>
          <p:nvPr>
            <p:ph type="ftr" sz="quarter" idx="3"/>
          </p:nvPr>
        </p:nvSpPr>
        <p:spPr/>
        <p:txBody>
          <a:bodyPr/>
          <a:lstStyle/>
          <a:p>
            <a:r>
              <a:rPr lang="en-GB"/>
              <a:t>Proposal for Global Payments Prague Shared Service Center Transformation</a:t>
            </a:r>
            <a:endParaRPr lang="en-US"/>
          </a:p>
        </p:txBody>
      </p:sp>
      <p:sp>
        <p:nvSpPr>
          <p:cNvPr id="4" name="Slide Number Placeholder 3">
            <a:extLst>
              <a:ext uri="{FF2B5EF4-FFF2-40B4-BE49-F238E27FC236}">
                <a16:creationId xmlns:a16="http://schemas.microsoft.com/office/drawing/2014/main" id="{F7290B9D-00F3-BEB7-06C5-0E10E280C53B}"/>
              </a:ext>
            </a:extLst>
          </p:cNvPr>
          <p:cNvSpPr>
            <a:spLocks noGrp="1"/>
          </p:cNvSpPr>
          <p:nvPr>
            <p:ph type="sldNum" sz="quarter" idx="4"/>
          </p:nvPr>
        </p:nvSpPr>
        <p:spPr/>
        <p:txBody>
          <a:bodyPr/>
          <a:lstStyle/>
          <a:p>
            <a:fld id="{3E6AC032-1535-134B-A583-D5E1DDD0D167}" type="slidenum">
              <a:rPr lang="en-US" smtClean="0"/>
              <a:pPr/>
              <a:t>24</a:t>
            </a:fld>
            <a:endParaRPr lang="en-US"/>
          </a:p>
        </p:txBody>
      </p:sp>
      <p:sp>
        <p:nvSpPr>
          <p:cNvPr id="11" name="TextBox 10">
            <a:extLst>
              <a:ext uri="{FF2B5EF4-FFF2-40B4-BE49-F238E27FC236}">
                <a16:creationId xmlns:a16="http://schemas.microsoft.com/office/drawing/2014/main" id="{E1850BE0-6D02-481C-D5C3-5634FEF949CE}"/>
              </a:ext>
            </a:extLst>
          </p:cNvPr>
          <p:cNvSpPr txBox="1"/>
          <p:nvPr/>
        </p:nvSpPr>
        <p:spPr>
          <a:xfrm>
            <a:off x="7170071" y="620486"/>
            <a:ext cx="1311950" cy="441604"/>
          </a:xfrm>
          <a:prstGeom prst="rect">
            <a:avLst/>
          </a:prstGeom>
          <a:noFill/>
        </p:spPr>
        <p:txBody>
          <a:bodyPr wrap="square" lIns="0" tIns="0" rIns="0" bIns="0" rtlCol="0">
            <a:noAutofit/>
          </a:bodyPr>
          <a:lstStyle/>
          <a:p>
            <a:pPr algn="ctr"/>
            <a:r>
              <a:rPr lang="en-US" sz="1500" b="1" dirty="0">
                <a:latin typeface="Arial" panose="020B0604020202020204" pitchFamily="34" charset="0"/>
                <a:cs typeface="Arial" panose="020B0604020202020204" pitchFamily="34" charset="0"/>
              </a:rPr>
              <a:t>Component</a:t>
            </a:r>
            <a:endParaRPr lang="en-GB" sz="1500" b="1" dirty="0" err="1">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48247F60-49C3-F01F-5B88-A878617C4E23}"/>
              </a:ext>
            </a:extLst>
          </p:cNvPr>
          <p:cNvSpPr/>
          <p:nvPr/>
        </p:nvSpPr>
        <p:spPr>
          <a:xfrm>
            <a:off x="10406267" y="1121822"/>
            <a:ext cx="1332295" cy="718001"/>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rial" panose="020B0604020202020204" pitchFamily="34" charset="0"/>
                <a:cs typeface="Arial" panose="020B0604020202020204" pitchFamily="34" charset="0"/>
              </a:rPr>
              <a:t>€0.XX per payment processed</a:t>
            </a:r>
          </a:p>
        </p:txBody>
      </p:sp>
      <p:sp>
        <p:nvSpPr>
          <p:cNvPr id="15" name="Rectangle 14">
            <a:extLst>
              <a:ext uri="{FF2B5EF4-FFF2-40B4-BE49-F238E27FC236}">
                <a16:creationId xmlns:a16="http://schemas.microsoft.com/office/drawing/2014/main" id="{62B36226-BFC4-A24D-324D-5D7B3778360F}"/>
              </a:ext>
            </a:extLst>
          </p:cNvPr>
          <p:cNvSpPr/>
          <p:nvPr/>
        </p:nvSpPr>
        <p:spPr>
          <a:xfrm>
            <a:off x="8627013" y="1121822"/>
            <a:ext cx="1694183" cy="7180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latin typeface="Arial" panose="020B0604020202020204" pitchFamily="34" charset="0"/>
                <a:cs typeface="Arial" panose="020B0604020202020204" pitchFamily="34" charset="0"/>
              </a:rPr>
              <a:t>Per-transaction fee</a:t>
            </a:r>
            <a:r>
              <a:rPr lang="en-GB" sz="1200" dirty="0">
                <a:solidFill>
                  <a:schemeClr val="tx1"/>
                </a:solidFill>
                <a:latin typeface="Arial" panose="020B0604020202020204" pitchFamily="34" charset="0"/>
                <a:cs typeface="Arial" panose="020B0604020202020204" pitchFamily="34" charset="0"/>
              </a:rPr>
              <a:t> (volume-based)</a:t>
            </a:r>
            <a:endParaRPr lang="en-GB" sz="1100"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B4DF806-C6D7-837B-798B-40393492A62E}"/>
              </a:ext>
            </a:extLst>
          </p:cNvPr>
          <p:cNvSpPr/>
          <p:nvPr/>
        </p:nvSpPr>
        <p:spPr>
          <a:xfrm>
            <a:off x="7180016" y="1121823"/>
            <a:ext cx="1361925" cy="71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Transaction processing</a:t>
            </a:r>
            <a:endParaRPr lang="en-GB" sz="1200" dirty="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62B17F7E-22EA-7002-3EC8-A593704C8834}"/>
              </a:ext>
            </a:extLst>
          </p:cNvPr>
          <p:cNvSpPr/>
          <p:nvPr/>
        </p:nvSpPr>
        <p:spPr>
          <a:xfrm>
            <a:off x="10396321" y="2196378"/>
            <a:ext cx="1332295" cy="718001"/>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rial" panose="020B0604020202020204" pitchFamily="34" charset="0"/>
                <a:cs typeface="Arial" panose="020B0604020202020204" pitchFamily="34" charset="0"/>
              </a:rPr>
              <a:t>€XX per KYC review completed</a:t>
            </a:r>
          </a:p>
        </p:txBody>
      </p:sp>
      <p:sp>
        <p:nvSpPr>
          <p:cNvPr id="18" name="Rectangle 17">
            <a:extLst>
              <a:ext uri="{FF2B5EF4-FFF2-40B4-BE49-F238E27FC236}">
                <a16:creationId xmlns:a16="http://schemas.microsoft.com/office/drawing/2014/main" id="{D724F871-09F0-E808-4C85-0C4BD314B974}"/>
              </a:ext>
            </a:extLst>
          </p:cNvPr>
          <p:cNvSpPr/>
          <p:nvPr/>
        </p:nvSpPr>
        <p:spPr>
          <a:xfrm>
            <a:off x="8617067" y="2196378"/>
            <a:ext cx="1694183" cy="7180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latin typeface="Arial" panose="020B0604020202020204" pitchFamily="34" charset="0"/>
                <a:cs typeface="Arial" panose="020B0604020202020204" pitchFamily="34" charset="0"/>
              </a:rPr>
              <a:t>Per-case fee</a:t>
            </a:r>
            <a:r>
              <a:rPr lang="en-GB" sz="1200" dirty="0">
                <a:solidFill>
                  <a:schemeClr val="tx1"/>
                </a:solidFill>
                <a:latin typeface="Arial" panose="020B0604020202020204" pitchFamily="34" charset="0"/>
                <a:cs typeface="Arial" panose="020B0604020202020204" pitchFamily="34" charset="0"/>
              </a:rPr>
              <a:t> (activity-based)</a:t>
            </a:r>
            <a:endParaRPr lang="en-GB" sz="1050" dirty="0">
              <a:solidFill>
                <a:schemeClr val="tx1"/>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3485B774-6CD2-B573-C718-A963014E9229}"/>
              </a:ext>
            </a:extLst>
          </p:cNvPr>
          <p:cNvSpPr/>
          <p:nvPr/>
        </p:nvSpPr>
        <p:spPr>
          <a:xfrm>
            <a:off x="7170071" y="2196379"/>
            <a:ext cx="1361925" cy="71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KYC / Fraud investigation</a:t>
            </a:r>
            <a:endParaRPr lang="en-GB" sz="1200" dirty="0">
              <a:solidFill>
                <a:schemeClr val="tx1"/>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B90162FB-1944-9BA0-18E3-2E55B88D3637}"/>
              </a:ext>
            </a:extLst>
          </p:cNvPr>
          <p:cNvSpPr/>
          <p:nvPr/>
        </p:nvSpPr>
        <p:spPr>
          <a:xfrm>
            <a:off x="10406267" y="3259758"/>
            <a:ext cx="1332295" cy="718001"/>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rial" panose="020B0604020202020204" pitchFamily="34" charset="0"/>
                <a:cs typeface="Arial" panose="020B0604020202020204" pitchFamily="34" charset="0"/>
              </a:rPr>
              <a:t>€XX per development hour</a:t>
            </a:r>
          </a:p>
        </p:txBody>
      </p:sp>
      <p:sp>
        <p:nvSpPr>
          <p:cNvPr id="21" name="Rectangle 20">
            <a:extLst>
              <a:ext uri="{FF2B5EF4-FFF2-40B4-BE49-F238E27FC236}">
                <a16:creationId xmlns:a16="http://schemas.microsoft.com/office/drawing/2014/main" id="{FFE5CFB5-2F65-902E-F732-00E6AA9BC23D}"/>
              </a:ext>
            </a:extLst>
          </p:cNvPr>
          <p:cNvSpPr/>
          <p:nvPr/>
        </p:nvSpPr>
        <p:spPr>
          <a:xfrm>
            <a:off x="8627013" y="3259758"/>
            <a:ext cx="1694183" cy="7180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latin typeface="Arial" panose="020B0604020202020204" pitchFamily="34" charset="0"/>
                <a:cs typeface="Arial" panose="020B0604020202020204" pitchFamily="34" charset="0"/>
              </a:rPr>
              <a:t>Time &amp; materials</a:t>
            </a:r>
            <a:r>
              <a:rPr lang="en-GB" sz="1200" dirty="0">
                <a:solidFill>
                  <a:schemeClr val="tx1"/>
                </a:solidFill>
                <a:latin typeface="Arial" panose="020B0604020202020204" pitchFamily="34" charset="0"/>
                <a:cs typeface="Arial" panose="020B0604020202020204" pitchFamily="34" charset="0"/>
              </a:rPr>
              <a:t> (activity-based)</a:t>
            </a:r>
            <a:endParaRPr lang="en-GB" sz="1050" dirty="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FD547D83-FE3D-2D76-5467-FDA2F9B7527E}"/>
              </a:ext>
            </a:extLst>
          </p:cNvPr>
          <p:cNvSpPr/>
          <p:nvPr/>
        </p:nvSpPr>
        <p:spPr>
          <a:xfrm>
            <a:off x="7180016" y="3259759"/>
            <a:ext cx="1361925" cy="71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Tech development / changes</a:t>
            </a:r>
            <a:endParaRPr lang="en-GB" sz="1200" dirty="0">
              <a:solidFill>
                <a:schemeClr val="tx1"/>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1DD0AD2F-662D-7C98-C1CF-AC4B4EE9CA17}"/>
              </a:ext>
            </a:extLst>
          </p:cNvPr>
          <p:cNvSpPr/>
          <p:nvPr/>
        </p:nvSpPr>
        <p:spPr>
          <a:xfrm>
            <a:off x="10406267" y="4351896"/>
            <a:ext cx="1332295" cy="718001"/>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rial" panose="020B0604020202020204" pitchFamily="34" charset="0"/>
                <a:cs typeface="Arial" panose="020B0604020202020204" pitchFamily="34" charset="0"/>
              </a:rPr>
              <a:t>Base fee + per-incident charge</a:t>
            </a:r>
          </a:p>
        </p:txBody>
      </p:sp>
      <p:sp>
        <p:nvSpPr>
          <p:cNvPr id="24" name="Rectangle 23">
            <a:extLst>
              <a:ext uri="{FF2B5EF4-FFF2-40B4-BE49-F238E27FC236}">
                <a16:creationId xmlns:a16="http://schemas.microsoft.com/office/drawing/2014/main" id="{C33E1D27-308E-4DC4-FBF2-AEDC4643FFAA}"/>
              </a:ext>
            </a:extLst>
          </p:cNvPr>
          <p:cNvSpPr/>
          <p:nvPr/>
        </p:nvSpPr>
        <p:spPr>
          <a:xfrm>
            <a:off x="8627013" y="4351896"/>
            <a:ext cx="1694183" cy="7180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latin typeface="Arial" panose="020B0604020202020204" pitchFamily="34" charset="0"/>
                <a:cs typeface="Arial" panose="020B0604020202020204" pitchFamily="34" charset="0"/>
              </a:rPr>
              <a:t>Monthly retainer</a:t>
            </a:r>
            <a:r>
              <a:rPr lang="en-GB" sz="1200" dirty="0">
                <a:solidFill>
                  <a:schemeClr val="tx1"/>
                </a:solidFill>
                <a:latin typeface="Arial" panose="020B0604020202020204" pitchFamily="34" charset="0"/>
                <a:cs typeface="Arial" panose="020B0604020202020204" pitchFamily="34" charset="0"/>
              </a:rPr>
              <a:t> (fixed + variable)</a:t>
            </a:r>
            <a:endParaRPr lang="en-GB" sz="1050" dirty="0">
              <a:solidFill>
                <a:schemeClr val="tx1"/>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2AF6827B-4150-2395-B74E-4E54ADE6267B}"/>
              </a:ext>
            </a:extLst>
          </p:cNvPr>
          <p:cNvSpPr/>
          <p:nvPr/>
        </p:nvSpPr>
        <p:spPr>
          <a:xfrm>
            <a:off x="7180016" y="4351897"/>
            <a:ext cx="1361925" cy="71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Ongoing support / monitoring</a:t>
            </a:r>
            <a:endParaRPr lang="en-GB" sz="1200" dirty="0">
              <a:solidFill>
                <a:schemeClr val="tx1"/>
              </a:solidFill>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60507F73-D31F-EDD8-A175-C2A3FA45AD09}"/>
              </a:ext>
            </a:extLst>
          </p:cNvPr>
          <p:cNvSpPr/>
          <p:nvPr/>
        </p:nvSpPr>
        <p:spPr>
          <a:xfrm>
            <a:off x="10406267" y="5399149"/>
            <a:ext cx="1332295" cy="718001"/>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rial" panose="020B0604020202020204" pitchFamily="34" charset="0"/>
                <a:cs typeface="Arial" panose="020B0604020202020204" pitchFamily="34" charset="0"/>
              </a:rPr>
              <a:t>Subcontractor  + X% GP </a:t>
            </a:r>
            <a:r>
              <a:rPr lang="en-GB" sz="1200" dirty="0" err="1">
                <a:solidFill>
                  <a:schemeClr val="tx1"/>
                </a:solidFill>
                <a:latin typeface="Arial" panose="020B0604020202020204" pitchFamily="34" charset="0"/>
                <a:cs typeface="Arial" panose="020B0604020202020204" pitchFamily="34" charset="0"/>
              </a:rPr>
              <a:t>mgmt</a:t>
            </a:r>
            <a:r>
              <a:rPr lang="en-GB" sz="1200" dirty="0">
                <a:solidFill>
                  <a:schemeClr val="tx1"/>
                </a:solidFill>
                <a:latin typeface="Arial" panose="020B0604020202020204" pitchFamily="34" charset="0"/>
                <a:cs typeface="Arial" panose="020B0604020202020204" pitchFamily="34" charset="0"/>
              </a:rPr>
              <a:t> fee</a:t>
            </a:r>
          </a:p>
        </p:txBody>
      </p:sp>
      <p:sp>
        <p:nvSpPr>
          <p:cNvPr id="42" name="Rectangle 41">
            <a:extLst>
              <a:ext uri="{FF2B5EF4-FFF2-40B4-BE49-F238E27FC236}">
                <a16:creationId xmlns:a16="http://schemas.microsoft.com/office/drawing/2014/main" id="{C24B638E-ACB8-F8E0-E888-188142A90BF7}"/>
              </a:ext>
            </a:extLst>
          </p:cNvPr>
          <p:cNvSpPr/>
          <p:nvPr/>
        </p:nvSpPr>
        <p:spPr>
          <a:xfrm>
            <a:off x="8627013" y="5399149"/>
            <a:ext cx="1694183" cy="71800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latin typeface="Arial" panose="020B0604020202020204" pitchFamily="34" charset="0"/>
                <a:cs typeface="Arial" panose="020B0604020202020204" pitchFamily="34" charset="0"/>
              </a:rPr>
              <a:t>Cost plus markup</a:t>
            </a:r>
            <a:endParaRPr lang="en-GB" sz="1050" dirty="0">
              <a:solidFill>
                <a:schemeClr val="tx1"/>
              </a:solidFill>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6DF28589-C9D6-D4CD-4ADC-855B036D014C}"/>
              </a:ext>
            </a:extLst>
          </p:cNvPr>
          <p:cNvSpPr/>
          <p:nvPr/>
        </p:nvSpPr>
        <p:spPr>
          <a:xfrm>
            <a:off x="7180016" y="5399150"/>
            <a:ext cx="1361925" cy="71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panose="020B0604020202020204" pitchFamily="34" charset="0"/>
                <a:cs typeface="Arial" panose="020B0604020202020204" pitchFamily="34" charset="0"/>
              </a:rPr>
              <a:t>Subcontractor pass-through</a:t>
            </a:r>
            <a:endParaRPr lang="en-GB" sz="1200" dirty="0">
              <a:solidFill>
                <a:schemeClr val="tx1"/>
              </a:solidFill>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340C6123-DB75-8F41-C107-DC90EE351FE8}"/>
              </a:ext>
            </a:extLst>
          </p:cNvPr>
          <p:cNvSpPr txBox="1"/>
          <p:nvPr/>
        </p:nvSpPr>
        <p:spPr>
          <a:xfrm>
            <a:off x="8642410" y="620486"/>
            <a:ext cx="1668840" cy="441604"/>
          </a:xfrm>
          <a:prstGeom prst="rect">
            <a:avLst/>
          </a:prstGeom>
          <a:noFill/>
        </p:spPr>
        <p:txBody>
          <a:bodyPr wrap="square" lIns="0" tIns="0" rIns="0" bIns="0" rtlCol="0">
            <a:noAutofit/>
          </a:bodyPr>
          <a:lstStyle/>
          <a:p>
            <a:pPr algn="ctr"/>
            <a:r>
              <a:rPr lang="en-US" sz="1500" b="1" dirty="0">
                <a:latin typeface="Arial" panose="020B0604020202020204" pitchFamily="34" charset="0"/>
                <a:cs typeface="Arial" panose="020B0604020202020204" pitchFamily="34" charset="0"/>
              </a:rPr>
              <a:t>Pricing method    </a:t>
            </a:r>
            <a:endParaRPr lang="en-GB" sz="1500" b="1" dirty="0" err="1">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84811FCB-7398-C708-7B87-25826AF3ECEE}"/>
              </a:ext>
            </a:extLst>
          </p:cNvPr>
          <p:cNvSpPr txBox="1"/>
          <p:nvPr/>
        </p:nvSpPr>
        <p:spPr>
          <a:xfrm>
            <a:off x="10409216" y="620486"/>
            <a:ext cx="1311950" cy="441604"/>
          </a:xfrm>
          <a:prstGeom prst="rect">
            <a:avLst/>
          </a:prstGeom>
          <a:noFill/>
        </p:spPr>
        <p:txBody>
          <a:bodyPr wrap="square" lIns="0" tIns="0" rIns="0" bIns="0" rtlCol="0">
            <a:noAutofit/>
          </a:bodyPr>
          <a:lstStyle/>
          <a:p>
            <a:pPr algn="ctr"/>
            <a:r>
              <a:rPr lang="en-US" sz="1500" b="1" dirty="0">
                <a:latin typeface="Arial" panose="020B0604020202020204" pitchFamily="34" charset="0"/>
                <a:cs typeface="Arial" panose="020B0604020202020204" pitchFamily="34" charset="0"/>
              </a:rPr>
              <a:t>Example</a:t>
            </a:r>
            <a:endParaRPr lang="en-GB" sz="1500" b="1" dirty="0" err="1">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6F226ABD-94D4-EFE9-AA86-6F96B3543299}"/>
              </a:ext>
            </a:extLst>
          </p:cNvPr>
          <p:cNvSpPr txBox="1"/>
          <p:nvPr/>
        </p:nvSpPr>
        <p:spPr>
          <a:xfrm>
            <a:off x="397312" y="1709318"/>
            <a:ext cx="5949478" cy="441604"/>
          </a:xfrm>
          <a:prstGeom prst="rect">
            <a:avLst/>
          </a:prstGeom>
          <a:noFill/>
        </p:spPr>
        <p:txBody>
          <a:bodyPr wrap="square" lIns="0" tIns="0" rIns="0" bIns="0" rtlCol="0">
            <a:noAutofit/>
          </a:bodyPr>
          <a:lstStyle/>
          <a:p>
            <a:r>
              <a:rPr lang="en-US" sz="1500" b="1" dirty="0">
                <a:latin typeface="Arial" panose="020B0604020202020204" pitchFamily="34" charset="0"/>
                <a:cs typeface="Arial" panose="020B0604020202020204" pitchFamily="34" charset="0"/>
              </a:rPr>
              <a:t>PwC’s Approach</a:t>
            </a:r>
            <a:endParaRPr lang="en-GB" sz="1500" b="1" dirty="0" err="1">
              <a:latin typeface="Arial" panose="020B0604020202020204" pitchFamily="34" charset="0"/>
              <a:cs typeface="Arial" panose="020B0604020202020204" pitchFamily="34" charset="0"/>
            </a:endParaRPr>
          </a:p>
        </p:txBody>
      </p:sp>
      <p:graphicFrame>
        <p:nvGraphicFramePr>
          <p:cNvPr id="49" name="Table 48">
            <a:extLst>
              <a:ext uri="{FF2B5EF4-FFF2-40B4-BE49-F238E27FC236}">
                <a16:creationId xmlns:a16="http://schemas.microsoft.com/office/drawing/2014/main" id="{7546E6EA-F389-3439-6731-35432531EA15}"/>
              </a:ext>
            </a:extLst>
          </p:cNvPr>
          <p:cNvGraphicFramePr>
            <a:graphicFrameLocks noGrp="1"/>
          </p:cNvGraphicFramePr>
          <p:nvPr>
            <p:extLst>
              <p:ext uri="{D42A27DB-BD31-4B8C-83A1-F6EECF244321}">
                <p14:modId xmlns:p14="http://schemas.microsoft.com/office/powerpoint/2010/main" val="887299332"/>
              </p:ext>
            </p:extLst>
          </p:nvPr>
        </p:nvGraphicFramePr>
        <p:xfrm>
          <a:off x="397312" y="2150922"/>
          <a:ext cx="5978549" cy="4112756"/>
        </p:xfrm>
        <a:graphic>
          <a:graphicData uri="http://schemas.openxmlformats.org/drawingml/2006/table">
            <a:tbl>
              <a:tblPr firstRow="1" bandRow="1">
                <a:tableStyleId>{EC741567-8280-421E-8F88-9B89CA1CAF18}</a:tableStyleId>
              </a:tblPr>
              <a:tblGrid>
                <a:gridCol w="1116000">
                  <a:extLst>
                    <a:ext uri="{9D8B030D-6E8A-4147-A177-3AD203B41FA5}">
                      <a16:colId xmlns:a16="http://schemas.microsoft.com/office/drawing/2014/main" val="2446661718"/>
                    </a:ext>
                  </a:extLst>
                </a:gridCol>
                <a:gridCol w="2721997">
                  <a:extLst>
                    <a:ext uri="{9D8B030D-6E8A-4147-A177-3AD203B41FA5}">
                      <a16:colId xmlns:a16="http://schemas.microsoft.com/office/drawing/2014/main" val="1951489742"/>
                    </a:ext>
                  </a:extLst>
                </a:gridCol>
                <a:gridCol w="1054873">
                  <a:extLst>
                    <a:ext uri="{9D8B030D-6E8A-4147-A177-3AD203B41FA5}">
                      <a16:colId xmlns:a16="http://schemas.microsoft.com/office/drawing/2014/main" val="1865735297"/>
                    </a:ext>
                  </a:extLst>
                </a:gridCol>
                <a:gridCol w="1085679">
                  <a:extLst>
                    <a:ext uri="{9D8B030D-6E8A-4147-A177-3AD203B41FA5}">
                      <a16:colId xmlns:a16="http://schemas.microsoft.com/office/drawing/2014/main" val="2880463210"/>
                    </a:ext>
                  </a:extLst>
                </a:gridCol>
              </a:tblGrid>
              <a:tr h="354028">
                <a:tc>
                  <a:txBody>
                    <a:bodyPr/>
                    <a:lstStyle/>
                    <a:p>
                      <a:r>
                        <a:rPr lang="en-SK" sz="1050" b="1" dirty="0"/>
                        <a:t>Step</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SK" sz="1050" b="1" dirty="0"/>
                        <a:t>Activity</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SK" sz="1050" b="1" dirty="0"/>
                        <a:t>Output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GB" sz="1050" b="1" dirty="0"/>
                        <a:t>Client TOM Link </a:t>
                      </a:r>
                    </a:p>
                  </a:txBody>
                  <a:tcPr marR="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000967656"/>
                  </a:ext>
                </a:extLst>
              </a:tr>
              <a:tr h="574799">
                <a:tc>
                  <a:txBody>
                    <a:bodyPr/>
                    <a:lstStyle/>
                    <a:p>
                      <a:r>
                        <a:rPr lang="en-GB" sz="1000" b="1" dirty="0"/>
                        <a:t>1. Service Decomposition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000" dirty="0"/>
                        <a:t>Break each customer solution into component services; map to delivering entity (Prague SSC, other GP entity, subcontractor)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Service Component Map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Product &amp; Service Catalogue </a:t>
                      </a:r>
                    </a:p>
                  </a:txBody>
                  <a:tcPr marR="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1546887"/>
                  </a:ext>
                </a:extLst>
              </a:tr>
              <a:tr h="574799">
                <a:tc>
                  <a:txBody>
                    <a:bodyPr/>
                    <a:lstStyle/>
                    <a:p>
                      <a:r>
                        <a:rPr lang="en-GB" sz="1000" b="1" dirty="0"/>
                        <a:t>2. Cost Driver Analysis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000" dirty="0"/>
                        <a:t>Identify direct costs (FTE, technology, licenses) and indirect costs (overhead, management) per component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Cost Driver Model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Clear cost allocation </a:t>
                      </a:r>
                    </a:p>
                  </a:txBody>
                  <a:tcPr marR="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816385"/>
                  </a:ext>
                </a:extLst>
              </a:tr>
              <a:tr h="574799">
                <a:tc>
                  <a:txBody>
                    <a:bodyPr/>
                    <a:lstStyle/>
                    <a:p>
                      <a:r>
                        <a:rPr lang="en-GB" sz="1000" b="1" dirty="0"/>
                        <a:t>3. Pricing Model Design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000"/>
                        <a:t>Design intercompany pricing: Volume-based (per transaction) + Activity-based (per support hour, per change request) — exactly as the client specifies </a:t>
                      </a:r>
                      <a:endParaRPr lang="en-GB" sz="1000" dirty="0"/>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TP Policy Document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a:t>Pricing based </a:t>
                      </a:r>
                      <a:br>
                        <a:rPr lang="en-GB" sz="1000"/>
                      </a:br>
                      <a:r>
                        <a:rPr lang="en-GB" sz="1000"/>
                        <a:t>on Volumes …Activities </a:t>
                      </a:r>
                      <a:endParaRPr lang="en-GB" sz="1000" dirty="0"/>
                    </a:p>
                  </a:txBody>
                  <a:tcPr marR="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1266505"/>
                  </a:ext>
                </a:extLst>
              </a:tr>
              <a:tr h="574799">
                <a:tc>
                  <a:txBody>
                    <a:bodyPr/>
                    <a:lstStyle/>
                    <a:p>
                      <a:r>
                        <a:rPr lang="en-GB" sz="1000" b="1" dirty="0"/>
                        <a:t>4. Pricing Catalogue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000" dirty="0"/>
                        <a:t>Customer-facing pricing catalogue aggregating component costs + margin — feeds fact-based conversations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Pricing Catalogue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Frame Agreements </a:t>
                      </a:r>
                    </a:p>
                  </a:txBody>
                  <a:tcPr marR="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2788171"/>
                  </a:ext>
                </a:extLst>
              </a:tr>
              <a:tr h="574799">
                <a:tc>
                  <a:txBody>
                    <a:bodyPr/>
                    <a:lstStyle/>
                    <a:p>
                      <a:r>
                        <a:rPr lang="en-GB" sz="1000" b="1" dirty="0"/>
                        <a:t>5. Reporting Mechanism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5F7F8"/>
                    </a:solidFill>
                  </a:tcPr>
                </a:tc>
                <a:tc>
                  <a:txBody>
                    <a:bodyPr/>
                    <a:lstStyle/>
                    <a:p>
                      <a:r>
                        <a:rPr lang="en-GB" sz="1000" dirty="0"/>
                        <a:t>Automated reporting of intercompany charges, subcontractor costs, margin by customer/product/group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TP Dashboard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Full transparency on costs and performance </a:t>
                      </a:r>
                    </a:p>
                  </a:txBody>
                  <a:tcPr marR="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8728226"/>
                  </a:ext>
                </a:extLst>
              </a:tr>
              <a:tr h="574799">
                <a:tc>
                  <a:txBody>
                    <a:bodyPr/>
                    <a:lstStyle/>
                    <a:p>
                      <a:r>
                        <a:rPr lang="en-GB" sz="1000" b="1" dirty="0"/>
                        <a:t>6. Regulatory Compliance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rgbClr val="F5F7F8"/>
                    </a:solidFill>
                  </a:tcPr>
                </a:tc>
                <a:tc>
                  <a:txBody>
                    <a:bodyPr/>
                    <a:lstStyle/>
                    <a:p>
                      <a:r>
                        <a:rPr lang="en-GB" sz="1000" dirty="0"/>
                        <a:t>Czech, Polish, Spanish, and JV-country tax authority compliance; OECD Transfer Pricing Guidelines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GB" sz="1000" dirty="0"/>
                        <a:t>TP Documentation </a:t>
                      </a:r>
                    </a:p>
                  </a:txBody>
                  <a:tcP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GB" sz="1000" dirty="0"/>
                        <a:t>Enterprise risk management</a:t>
                      </a:r>
                    </a:p>
                  </a:txBody>
                  <a:tcPr marR="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accent5"/>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644513816"/>
                  </a:ext>
                </a:extLst>
              </a:tr>
            </a:tbl>
          </a:graphicData>
        </a:graphic>
      </p:graphicFrame>
    </p:spTree>
    <p:extLst>
      <p:ext uri="{BB962C8B-B14F-4D97-AF65-F5344CB8AC3E}">
        <p14:creationId xmlns:p14="http://schemas.microsoft.com/office/powerpoint/2010/main" val="1362065500"/>
      </p:ext>
    </p:extLst>
  </p:cSld>
  <p:clrMapOvr>
    <a:masterClrMapping/>
  </p:clrMapOvr>
</p:sld>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4CEFDDFA-E6F6-E148-85E7-7FD761DA9A39}" vid="{4235F95A-BDD2-F14F-A7C1-37149C6A0C91}"/>
    </a:ext>
  </a:extLst>
</a:theme>
</file>

<file path=ppt/theme/theme2.xml><?xml version="1.0" encoding="utf-8"?>
<a:theme xmlns:a="http://schemas.openxmlformats.org/drawingml/2006/main" name="1_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2D7ABA97-B450-DA41-BB8B-4BB720184EBB}" vid="{A79B9D5E-D6D2-A841-B7F7-5D592CACE382}"/>
    </a:ext>
  </a:extLst>
</a:theme>
</file>

<file path=ppt/theme/theme3.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25267AD-6D40-42EE-8FB8-F29B9D522614}">
  <we:reference id="6bb0fabe-aef4-4e3d-874a-99b48edaaa91"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863b4a2-8897-49db-b918-c06bffd2282e" xsi:nil="true"/>
    <lcf76f155ced4ddcb4097134ff3c332f xmlns="8f266713-a88b-449d-980c-9245e572258f">
      <Terms xmlns="http://schemas.microsoft.com/office/infopath/2007/PartnerControls"/>
    </lcf76f155ced4ddcb4097134ff3c332f>
    <_dlc_DocId xmlns="5863b4a2-8897-49db-b918-c06bffd2282e">2NE6Q6SCQTMP-1197830474-5878</_dlc_DocId>
    <_dlc_DocIdUrl xmlns="5863b4a2-8897-49db-b918-c06bffd2282e">
      <Url>https://polpwc.sharepoint.com/sites/SK-SD-0ANVD1Qjxqju4Uk9PVA/_layouts/15/DocIdRedir.aspx?ID=2NE6Q6SCQTMP-1197830474-5878</Url>
      <Description>2NE6Q6SCQTMP-1197830474-5878</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DBEB596C288CA4F8859EF04FDD9681E" ma:contentTypeVersion="13" ma:contentTypeDescription="Create a new document." ma:contentTypeScope="" ma:versionID="e3a461ccd3c2d9389f5070832c999375">
  <xsd:schema xmlns:xsd="http://www.w3.org/2001/XMLSchema" xmlns:xs="http://www.w3.org/2001/XMLSchema" xmlns:p="http://schemas.microsoft.com/office/2006/metadata/properties" xmlns:ns2="5863b4a2-8897-49db-b918-c06bffd2282e" xmlns:ns3="8f266713-a88b-449d-980c-9245e572258f" targetNamespace="http://schemas.microsoft.com/office/2006/metadata/properties" ma:root="true" ma:fieldsID="791b9c1c5dd55dd53094c5d99c08547e" ns2:_="" ns3:_="">
    <xsd:import namespace="5863b4a2-8897-49db-b918-c06bffd2282e"/>
    <xsd:import namespace="8f266713-a88b-449d-980c-9245e572258f"/>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63b4a2-8897-49db-b918-c06bffd2282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2" nillable="true" ma:displayName="Taxonomy Catch All Column" ma:hidden="true" ma:list="{62f6fae2-8886-4534-8b8c-563fb7750aa8}" ma:internalName="TaxCatchAll" ma:showField="CatchAllData" ma:web="5863b4a2-8897-49db-b918-c06bffd2282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266713-a88b-449d-980c-9245e572258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E51BE936-00F3-45F1-A39D-65B3B6A431F7}">
  <ds:schemaRefs>
    <ds:schemaRef ds:uri="8f266713-a88b-449d-980c-9245e572258f"/>
    <ds:schemaRef ds:uri="5863b4a2-8897-49db-b918-c06bffd2282e"/>
    <ds:schemaRef ds:uri="http://schemas.microsoft.com/office/2006/documentManagement/types"/>
    <ds:schemaRef ds:uri="http://schemas.openxmlformats.org/package/2006/metadata/core-properties"/>
    <ds:schemaRef ds:uri="http://purl.org/dc/dcmitype/"/>
    <ds:schemaRef ds:uri="http://purl.org/dc/terms/"/>
    <ds:schemaRef ds:uri="http://www.w3.org/XML/1998/namespace"/>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C62378BA-43ED-43B6-B08A-DCDFF4C8A519}">
  <ds:schemaRefs>
    <ds:schemaRef ds:uri="http://schemas.microsoft.com/sharepoint/v3/contenttype/forms"/>
  </ds:schemaRefs>
</ds:datastoreItem>
</file>

<file path=customXml/itemProps3.xml><?xml version="1.0" encoding="utf-8"?>
<ds:datastoreItem xmlns:ds="http://schemas.openxmlformats.org/officeDocument/2006/customXml" ds:itemID="{5F0A35C3-13F2-40DC-B9D8-E2C99D3E8492}">
  <ds:schemaRefs>
    <ds:schemaRef ds:uri="5863b4a2-8897-49db-b918-c06bffd2282e"/>
    <ds:schemaRef ds:uri="8f266713-a88b-449d-980c-9245e57225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89951251-8F84-417D-B5C5-CC6E003B38E7}">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9511</TotalTime>
  <Words>5399</Words>
  <Application>Microsoft Office PowerPoint</Application>
  <PresentationFormat>Widescreen</PresentationFormat>
  <Paragraphs>597</Paragraphs>
  <Slides>24</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Georgia</vt:lpstr>
      <vt:lpstr>Segoe UI</vt:lpstr>
      <vt:lpstr>Wingdings</vt:lpstr>
      <vt:lpstr>PwC Slide Master</vt:lpstr>
      <vt:lpstr>1_PwC Slide Master</vt:lpstr>
      <vt:lpstr>Global Payments  Shared Service Center Transformation</vt:lpstr>
      <vt:lpstr>PowerPoint Presentation</vt:lpstr>
      <vt:lpstr>Vision — We Heard You PwC's Proposal Is Built on Your Own Blueprint</vt:lpstr>
      <vt:lpstr>The Combined Governance Model — How It All Fits Together An Integrated Operating Model — "ONE Organization Delivering Services Efficiently for MANY"</vt:lpstr>
      <vt:lpstr>From Today's Challenges to Tomorrow's Targets — Aligned View</vt:lpstr>
      <vt:lpstr>Benefits Realization: JV Customers &amp; Enterprise Making the Benefits Tangible and Measurable</vt:lpstr>
      <vt:lpstr>PwC Capabilities Matching Your target operating model (TOM) Your Target Operating Model — Our Proven Capabilities</vt:lpstr>
      <vt:lpstr>Industry Benchmarking &amp; Standards Comparison How Does the To-Be Model Compare to Industry Leaders?</vt:lpstr>
      <vt:lpstr>Tentative Timeline — The Road to "SSCuccess"</vt:lpstr>
      <vt:lpstr>Why PwC team</vt:lpstr>
      <vt:lpstr>References </vt:lpstr>
      <vt:lpstr>  Pricing Structure</vt:lpstr>
      <vt:lpstr>Pricing </vt:lpstr>
      <vt:lpstr>Fees &amp; cost structure</vt:lpstr>
      <vt:lpstr>Thank you</vt:lpstr>
      <vt:lpstr>Our Approach: Six Integrated Workstreams</vt:lpstr>
      <vt:lpstr>Workstream 1: RACI Matrix &amp; Governance Model (1/2) The Backbone — "Who Decides &amp; Who Is Accountable"</vt:lpstr>
      <vt:lpstr>Workstream 1: RACI Matrix &amp; Governance Model (2/2) Making RACI Operational — Not Shelfware</vt:lpstr>
      <vt:lpstr>Workstream 2: Business Partnering &amp; PMO Function Design (1/2) The Connective Tissue — Dedicated Relationship Management &amp; Portfolio Steering</vt:lpstr>
      <vt:lpstr>Workstream 2: Business Partnering &amp; PMO Function Design (1/2) The Connective Tissue — Dedicated Relationship Management &amp; Portfolio Steering</vt:lpstr>
      <vt:lpstr>Workstream 3: Intake Mechanism &amp; Case Management From "Unstructured INTAKE" to a Single Front Door</vt:lpstr>
      <vt:lpstr>Workstream 4: Post-Acquisition Transition Framework Structured Workarounds — Design for Growth, Quality  and Speed</vt:lpstr>
      <vt:lpstr>Workstream 5: Subcontractor Governance Model Extending the GP Model — Consistent Quality Across the Ecosystem</vt:lpstr>
      <vt:lpstr>Workstream 6: Transfer Pricing Mechanism &amp; Reporting Commercial Transparency — "Clear Cost Allocation and Visibility"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Dariya Pavliy</dc:creator>
  <cp:lastModifiedBy>Tomas Kubanyi (SK)</cp:lastModifiedBy>
  <cp:revision>81</cp:revision>
  <dcterms:created xsi:type="dcterms:W3CDTF">2021-03-22T11:16:20Z</dcterms:created>
  <dcterms:modified xsi:type="dcterms:W3CDTF">2026-04-20T15:54:47Z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B template type">
    <vt:lpwstr>PwC16x9</vt:lpwstr>
  </property>
  <property fmtid="{D5CDD505-2E9C-101B-9397-08002B2CF9AE}" pid="3" name="TB template version">
    <vt:lpwstr>6</vt:lpwstr>
  </property>
  <property fmtid="{D5CDD505-2E9C-101B-9397-08002B2CF9AE}" pid="4" name="TB template release">
    <vt:lpwstr>4</vt:lpwstr>
  </property>
  <property fmtid="{D5CDD505-2E9C-101B-9397-08002B2CF9AE}" pid="5" name="Order">
    <vt:lpwstr>1700.00000000000</vt:lpwstr>
  </property>
  <property fmtid="{D5CDD505-2E9C-101B-9397-08002B2CF9AE}" pid="6" name="ContentTypeId">
    <vt:lpwstr>0x0101009DBEB596C288CA4F8859EF04FDD9681E</vt:lpwstr>
  </property>
  <property fmtid="{D5CDD505-2E9C-101B-9397-08002B2CF9AE}" pid="7" name="_dlc_DocIdItemGuid">
    <vt:lpwstr>458dd8b7-d380-47fe-83c9-3f6e4e61fb59</vt:lpwstr>
  </property>
  <property fmtid="{D5CDD505-2E9C-101B-9397-08002B2CF9AE}" pid="8" name="MediaServiceImageTags">
    <vt:lpwstr/>
  </property>
</Properties>
</file>