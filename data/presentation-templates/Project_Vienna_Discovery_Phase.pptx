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s/modernComment_105_6F36AF5E.xml" ContentType="application/vnd.ms-powerpoint.comments+xml"/>
  <Override PartName="/ppt/comments/modernComment_7FFFF0E5_59886717.xml" ContentType="application/vnd.ms-powerpoint.comments+xml"/>
  <Override PartName="/ppt/comments/modernComment_7FFFF0E7_655FD01C.xml" ContentType="application/vnd.ms-powerpoint.comments+xml"/>
  <Override PartName="/ppt/comments/modernComment_7FFFF0E8_7CB47E9A.xml" ContentType="application/vnd.ms-powerpoint.comments+xml"/>
  <Override PartName="/ppt/comments/modernComment_7FFFF0EA_3EF3BD67.xml" ContentType="application/vnd.ms-powerpoint.comment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9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64" r:id="rId5"/>
    <p:sldMasterId id="2147483843" r:id="rId6"/>
  </p:sldMasterIdLst>
  <p:notesMasterIdLst>
    <p:notesMasterId r:id="rId31"/>
  </p:notesMasterIdLst>
  <p:sldIdLst>
    <p:sldId id="261" r:id="rId7"/>
    <p:sldId id="2147479783" r:id="rId9"/>
    <p:sldId id="2147479784" r:id="rId11"/>
    <p:sldId id="2147479737" r:id="rId18"/>
    <p:sldId id="2147479786" r:id="rId22"/>
    <p:sldId id="2147479797" r:id="rId15"/>
    <p:sldId id="280" r:id="rId16"/>
    <p:sldId id="2147479785" r:id="rId12"/>
    <p:sldId id="2147479781" r:id="rId13"/>
    <p:sldId id="2147479796" r:id="rId14"/>
    <p:sldId id="2147479787" r:id="rId23"/>
    <p:sldId id="2147479788" r:id="rId24"/>
    <p:sldId id="2147479799" r:id="rId28"/>
    <p:sldId id="2147479798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10">
          <p15:clr>
            <a:srgbClr val="747775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3" roundtripDataSignature="AMtx7mjgPnJRmDK5bawWCdNneYGBXa9dy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119250-6BC1-F6B4-D8B4-8BB242D2235A}" name="Viera Hudeckova (SK)" initials="V(" userId="S::viera.hudeckova@pwc.com::4f1b6ab2-faed-4ba0-a4f0-9aa7bc7a12cb" providerId="AD"/>
  <p188:author id="{59B5E36D-CF8B-6F43-6779-5FAFCE34A5C2}" name="Tomas Chovanec (SK)" initials="TC" userId="S::tomas.x.chovanec@pwc.com::59e143e4-836d-4a43-81cf-73fb0d49a80b" providerId="AD"/>
  <p188:author id="{23DF1198-95F7-282D-AFD7-F670DE3C5DF6}" name="Tomas Kubanyi (SK)" initials="TK" userId="S::tomas.kubanyi@pwc.com::785edbf0-048c-4918-8f17-5225f3de95e1" providerId="AD"/>
  <p188:author id="{815F19CB-0910-5954-EA57-8D8B5621FDC3}" name="Dagmar Haklova (SK)" initials="D(" userId="S::dagmar.haklova@pwc.com::ba52f4e0-694f-4d38-bfaa-7ae698753f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5D7"/>
    <a:srgbClr val="FFAA72"/>
    <a:srgbClr val="FD51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3CC858-F63D-4AE7-B460-97DF92F430A0}" v="29" dt="2026-04-20T14:17:31.138"/>
    <p1510:client id="{7982563B-FCC6-B3E9-FFF1-717F03A33195}" v="1" dt="2026-04-20T06:58:45.558"/>
    <p1510:client id="{BFE01CAA-87AA-876D-E202-D2C7F4BA8094}" v="24" dt="2026-04-20T14:19:02.076"/>
    <p1510:client id="{EB663945-3B17-7F49-A6CD-9D64664E32E0}" v="309" dt="2026-04-20T10:36:28.103"/>
    <p1510:client id="{FDC2039C-563E-4219-9B80-F7C876EA42BA}" v="4" dt="2026-04-20T11:54:12.219"/>
  </p1510:revLst>
</p1510:revInfo>
</file>

<file path=ppt/tableStyles.xml><?xml version="1.0" encoding="utf-8"?>
<a:tblStyleLst xmlns:a="http://schemas.openxmlformats.org/drawingml/2006/main" def="{EC741567-8280-421E-8F88-9B89CA1CAF18}">
  <a:tblStyle styleId="{EC741567-8280-421E-8F88-9B89CA1CAF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2DEB3B6-6095-4311-A362-CD1F2738E35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509"/>
  </p:normalViewPr>
  <p:slideViewPr>
    <p:cSldViewPr snapToGrid="0">
      <p:cViewPr varScale="1">
        <p:scale>
          <a:sx n="135" d="100"/>
          <a:sy n="135" d="100"/>
        </p:scale>
        <p:origin x="96" y="460"/>
      </p:cViewPr>
      <p:guideLst>
        <p:guide orient="horz" pos="51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2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8" Type="http://schemas.openxmlformats.org/officeDocument/2006/relationships/slide" Target="slides/slide22.xml"/><Relationship Id="rId31" Type="http://schemas.openxmlformats.org/officeDocument/2006/relationships/notesMaster" Target="notesMasters/notesMaster1.xml"/><Relationship Id="rId53" Type="http://customschemas.google.com/relationships/presentationmetadata" Target="metadata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6/11/relationships/changesInfo" Target="changesInfos/changesInfo1.xml"/><Relationship Id="rId59" Type="http://schemas.microsoft.com/office/2015/10/relationships/revisionInfo" Target="revisionInfo.xml"/><Relationship Id="rId6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as Kubanyi (SK)" userId="785edbf0-048c-4918-8f17-5225f3de95e1" providerId="ADAL" clId="{9E1BE702-770F-4DEF-8938-201FE2EF6A52}"/>
    <pc:docChg chg="custSel modSld sldOrd">
      <pc:chgData name="Tomas Kubanyi (SK)" userId="785edbf0-048c-4918-8f17-5225f3de95e1" providerId="ADAL" clId="{9E1BE702-770F-4DEF-8938-201FE2EF6A52}" dt="2026-04-20T15:54:39.960" v="90" actId="20577"/>
      <pc:docMkLst>
        <pc:docMk/>
      </pc:docMkLst>
      <pc:sldChg chg="modSp mod">
        <pc:chgData name="Tomas Kubanyi (SK)" userId="785edbf0-048c-4918-8f17-5225f3de95e1" providerId="ADAL" clId="{9E1BE702-770F-4DEF-8938-201FE2EF6A52}" dt="2026-04-20T15:48:33.786" v="64" actId="113"/>
        <pc:sldMkLst>
          <pc:docMk/>
          <pc:sldMk cId="0" sldId="257"/>
        </pc:sldMkLst>
        <pc:spChg chg="mod">
          <ac:chgData name="Tomas Kubanyi (SK)" userId="785edbf0-048c-4918-8f17-5225f3de95e1" providerId="ADAL" clId="{9E1BE702-770F-4DEF-8938-201FE2EF6A52}" dt="2026-04-20T15:48:18.489" v="62" actId="207"/>
          <ac:spMkLst>
            <pc:docMk/>
            <pc:sldMk cId="0" sldId="257"/>
            <ac:spMk id="4" creationId="{5FF0B453-5318-7F47-1EEC-3EBD41EA6FB4}"/>
          </ac:spMkLst>
        </pc:spChg>
        <pc:spChg chg="mod">
          <ac:chgData name="Tomas Kubanyi (SK)" userId="785edbf0-048c-4918-8f17-5225f3de95e1" providerId="ADAL" clId="{9E1BE702-770F-4DEF-8938-201FE2EF6A52}" dt="2026-04-20T15:48:33.786" v="64" actId="113"/>
          <ac:spMkLst>
            <pc:docMk/>
            <pc:sldMk cId="0" sldId="257"/>
            <ac:spMk id="410" creationId="{00000000-0000-0000-0000-000000000000}"/>
          </ac:spMkLst>
        </pc:spChg>
        <pc:spChg chg="mod">
          <ac:chgData name="Tomas Kubanyi (SK)" userId="785edbf0-048c-4918-8f17-5225f3de95e1" providerId="ADAL" clId="{9E1BE702-770F-4DEF-8938-201FE2EF6A52}" dt="2026-04-20T12:06:57.882" v="22" actId="20577"/>
          <ac:spMkLst>
            <pc:docMk/>
            <pc:sldMk cId="0" sldId="257"/>
            <ac:spMk id="419" creationId="{00000000-0000-0000-0000-000000000000}"/>
          </ac:spMkLst>
        </pc:spChg>
      </pc:sldChg>
      <pc:sldChg chg="modSp mod modCm">
        <pc:chgData name="Tomas Kubanyi (SK)" userId="785edbf0-048c-4918-8f17-5225f3de95e1" providerId="ADAL" clId="{9E1BE702-770F-4DEF-8938-201FE2EF6A52}" dt="2026-04-20T12:38:01.521" v="41" actId="20577"/>
        <pc:sldMkLst>
          <pc:docMk/>
          <pc:sldMk cId="1865854814" sldId="261"/>
        </pc:sldMkLst>
        <pc:spChg chg="mod">
          <ac:chgData name="Tomas Kubanyi (SK)" userId="785edbf0-048c-4918-8f17-5225f3de95e1" providerId="ADAL" clId="{9E1BE702-770F-4DEF-8938-201FE2EF6A52}" dt="2026-04-20T12:37:51.738" v="37" actId="20577"/>
          <ac:spMkLst>
            <pc:docMk/>
            <pc:sldMk cId="1865854814" sldId="261"/>
            <ac:spMk id="2" creationId="{12DBF121-4939-9A21-A839-230CC776A674}"/>
          </ac:spMkLst>
        </pc:spChg>
        <pc:spChg chg="mod">
          <ac:chgData name="Tomas Kubanyi (SK)" userId="785edbf0-048c-4918-8f17-5225f3de95e1" providerId="ADAL" clId="{9E1BE702-770F-4DEF-8938-201FE2EF6A52}" dt="2026-04-20T12:38:01.521" v="41" actId="20577"/>
          <ac:spMkLst>
            <pc:docMk/>
            <pc:sldMk cId="1865854814" sldId="261"/>
            <ac:spMk id="9" creationId="{6D45FBCF-F654-37CF-10CA-7AB40D86951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Tomas Kubanyi (SK)" userId="785edbf0-048c-4918-8f17-5225f3de95e1" providerId="ADAL" clId="{9E1BE702-770F-4DEF-8938-201FE2EF6A52}" dt="2026-04-20T12:37:51.738" v="37" actId="20577"/>
              <pc2:cmMkLst xmlns:pc2="http://schemas.microsoft.com/office/powerpoint/2019/9/main/command">
                <pc:docMk/>
                <pc:sldMk cId="1865854814" sldId="261"/>
                <pc2:cmMk id="{28DA7D53-53E2-4E6E-B806-B61E8F716FB8}"/>
              </pc2:cmMkLst>
            </pc226:cmChg>
            <pc226:cmChg xmlns:pc226="http://schemas.microsoft.com/office/powerpoint/2022/06/main/command" chg="mod">
              <pc226:chgData name="Tomas Kubanyi (SK)" userId="785edbf0-048c-4918-8f17-5225f3de95e1" providerId="ADAL" clId="{9E1BE702-770F-4DEF-8938-201FE2EF6A52}" dt="2026-04-20T12:38:01.521" v="41" actId="20577"/>
              <pc2:cmMkLst xmlns:pc2="http://schemas.microsoft.com/office/powerpoint/2019/9/main/command">
                <pc:docMk/>
                <pc:sldMk cId="1865854814" sldId="261"/>
                <pc2:cmMk id="{FB37B0A3-C019-495B-BB95-C10973163DDA}"/>
              </pc2:cmMkLst>
            </pc226:cmChg>
          </p:ext>
        </pc:extLst>
      </pc:sldChg>
      <pc:sldChg chg="modSp mod ord">
        <pc:chgData name="Tomas Kubanyi (SK)" userId="785edbf0-048c-4918-8f17-5225f3de95e1" providerId="ADAL" clId="{9E1BE702-770F-4DEF-8938-201FE2EF6A52}" dt="2026-04-20T15:54:39.960" v="90" actId="20577"/>
        <pc:sldMkLst>
          <pc:docMk/>
          <pc:sldMk cId="2656077996" sldId="2147479772"/>
        </pc:sldMkLst>
        <pc:spChg chg="mod">
          <ac:chgData name="Tomas Kubanyi (SK)" userId="785edbf0-048c-4918-8f17-5225f3de95e1" providerId="ADAL" clId="{9E1BE702-770F-4DEF-8938-201FE2EF6A52}" dt="2026-04-20T15:54:39.960" v="90" actId="20577"/>
          <ac:spMkLst>
            <pc:docMk/>
            <pc:sldMk cId="2656077996" sldId="2147479772"/>
            <ac:spMk id="4" creationId="{DE6A9813-C600-D150-B72C-DA590FB0722D}"/>
          </ac:spMkLst>
        </pc:spChg>
      </pc:sldChg>
      <pc:sldChg chg="addSp modSp mod modCm">
        <pc:chgData name="Tomas Kubanyi (SK)" userId="785edbf0-048c-4918-8f17-5225f3de95e1" providerId="ADAL" clId="{9E1BE702-770F-4DEF-8938-201FE2EF6A52}" dt="2026-04-20T15:53:00.941" v="82" actId="207"/>
        <pc:sldMkLst>
          <pc:docMk/>
          <pc:sldMk cId="1502111511" sldId="2147479781"/>
        </pc:sldMkLst>
        <pc:spChg chg="add mod">
          <ac:chgData name="Tomas Kubanyi (SK)" userId="785edbf0-048c-4918-8f17-5225f3de95e1" providerId="ADAL" clId="{9E1BE702-770F-4DEF-8938-201FE2EF6A52}" dt="2026-04-20T15:53:00.941" v="82" actId="207"/>
          <ac:spMkLst>
            <pc:docMk/>
            <pc:sldMk cId="1502111511" sldId="2147479781"/>
            <ac:spMk id="4" creationId="{BE9E7421-C4C3-E6C7-53F0-5B39C5EA8234}"/>
          </ac:spMkLst>
        </pc:spChg>
        <pc:spChg chg="mod">
          <ac:chgData name="Tomas Kubanyi (SK)" userId="785edbf0-048c-4918-8f17-5225f3de95e1" providerId="ADAL" clId="{9E1BE702-770F-4DEF-8938-201FE2EF6A52}" dt="2026-04-20T15:50:54.259" v="77" actId="20577"/>
          <ac:spMkLst>
            <pc:docMk/>
            <pc:sldMk cId="1502111511" sldId="2147479781"/>
            <ac:spMk id="7" creationId="{2DB7C430-B669-EB01-1B60-22E4B43E1B28}"/>
          </ac:spMkLst>
        </pc:spChg>
        <pc:spChg chg="mod">
          <ac:chgData name="Tomas Kubanyi (SK)" userId="785edbf0-048c-4918-8f17-5225f3de95e1" providerId="ADAL" clId="{9E1BE702-770F-4DEF-8938-201FE2EF6A52}" dt="2026-04-20T15:50:58.575" v="78" actId="20577"/>
          <ac:spMkLst>
            <pc:docMk/>
            <pc:sldMk cId="1502111511" sldId="2147479781"/>
            <ac:spMk id="8" creationId="{90E950E2-2296-77C7-C6D3-7FC22697717F}"/>
          </ac:spMkLst>
        </pc:spChg>
        <pc:spChg chg="mod">
          <ac:chgData name="Tomas Kubanyi (SK)" userId="785edbf0-048c-4918-8f17-5225f3de95e1" providerId="ADAL" clId="{9E1BE702-770F-4DEF-8938-201FE2EF6A52}" dt="2026-04-20T15:50:10.305" v="68" actId="20577"/>
          <ac:spMkLst>
            <pc:docMk/>
            <pc:sldMk cId="1502111511" sldId="2147479781"/>
            <ac:spMk id="9" creationId="{AA2C79AE-F340-5C80-1697-32E0DC88E45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Tomas Kubanyi (SK)" userId="785edbf0-048c-4918-8f17-5225f3de95e1" providerId="ADAL" clId="{9E1BE702-770F-4DEF-8938-201FE2EF6A52}" dt="2026-04-20T15:50:10.305" v="68" actId="20577"/>
              <pc2:cmMkLst xmlns:pc2="http://schemas.microsoft.com/office/powerpoint/2019/9/main/command">
                <pc:docMk/>
                <pc:sldMk cId="1502111511" sldId="2147479781"/>
                <pc2:cmMk id="{B78BEBF2-0197-4D78-A8DF-B431AEB2C6FC}"/>
              </pc2:cmMkLst>
            </pc226:cmChg>
          </p:ext>
        </pc:extLst>
      </pc:sldChg>
      <pc:sldChg chg="modSp mod">
        <pc:chgData name="Tomas Kubanyi (SK)" userId="785edbf0-048c-4918-8f17-5225f3de95e1" providerId="ADAL" clId="{9E1BE702-770F-4DEF-8938-201FE2EF6A52}" dt="2026-04-20T15:49:02.373" v="66" actId="113"/>
        <pc:sldMkLst>
          <pc:docMk/>
          <pc:sldMk cId="1700778012" sldId="2147479783"/>
        </pc:sldMkLst>
        <pc:spChg chg="mod">
          <ac:chgData name="Tomas Kubanyi (SK)" userId="785edbf0-048c-4918-8f17-5225f3de95e1" providerId="ADAL" clId="{9E1BE702-770F-4DEF-8938-201FE2EF6A52}" dt="2026-04-20T12:08:11.768" v="35" actId="20577"/>
          <ac:spMkLst>
            <pc:docMk/>
            <pc:sldMk cId="1700778012" sldId="2147479783"/>
            <ac:spMk id="3" creationId="{FE22B4FD-76D5-9095-D162-023313862514}"/>
          </ac:spMkLst>
        </pc:spChg>
        <pc:graphicFrameChg chg="modGraphic">
          <ac:chgData name="Tomas Kubanyi (SK)" userId="785edbf0-048c-4918-8f17-5225f3de95e1" providerId="ADAL" clId="{9E1BE702-770F-4DEF-8938-201FE2EF6A52}" dt="2026-04-20T15:49:02.373" v="66" actId="113"/>
          <ac:graphicFrameMkLst>
            <pc:docMk/>
            <pc:sldMk cId="1700778012" sldId="2147479783"/>
            <ac:graphicFrameMk id="9" creationId="{D9F75988-67E2-03F9-4FFB-0F366D281B3A}"/>
          </ac:graphicFrameMkLst>
        </pc:graphicFrameChg>
      </pc:sldChg>
      <pc:sldChg chg="modSp mod modCm">
        <pc:chgData name="Tomas Kubanyi (SK)" userId="785edbf0-048c-4918-8f17-5225f3de95e1" providerId="ADAL" clId="{9E1BE702-770F-4DEF-8938-201FE2EF6A52}" dt="2026-04-20T12:40:32.462" v="54" actId="20577"/>
        <pc:sldMkLst>
          <pc:docMk/>
          <pc:sldMk cId="2092203674" sldId="2147479784"/>
        </pc:sldMkLst>
        <pc:spChg chg="mod">
          <ac:chgData name="Tomas Kubanyi (SK)" userId="785edbf0-048c-4918-8f17-5225f3de95e1" providerId="ADAL" clId="{9E1BE702-770F-4DEF-8938-201FE2EF6A52}" dt="2026-04-20T12:40:08.612" v="43" actId="20577"/>
          <ac:spMkLst>
            <pc:docMk/>
            <pc:sldMk cId="2092203674" sldId="2147479784"/>
            <ac:spMk id="2" creationId="{353DF2E7-6617-CF68-F71C-6E411A5F817B}"/>
          </ac:spMkLst>
        </pc:spChg>
        <pc:graphicFrameChg chg="modGraphic">
          <ac:chgData name="Tomas Kubanyi (SK)" userId="785edbf0-048c-4918-8f17-5225f3de95e1" providerId="ADAL" clId="{9E1BE702-770F-4DEF-8938-201FE2EF6A52}" dt="2026-04-20T12:40:32.462" v="54" actId="20577"/>
          <ac:graphicFrameMkLst>
            <pc:docMk/>
            <pc:sldMk cId="2092203674" sldId="2147479784"/>
            <ac:graphicFrameMk id="6" creationId="{FF73EBA0-3FA3-05BC-17C4-0C2E7E5D1ED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Tomas Kubanyi (SK)" userId="785edbf0-048c-4918-8f17-5225f3de95e1" providerId="ADAL" clId="{9E1BE702-770F-4DEF-8938-201FE2EF6A52}" dt="2026-04-20T12:40:08.612" v="43" actId="20577"/>
              <pc2:cmMkLst xmlns:pc2="http://schemas.microsoft.com/office/powerpoint/2019/9/main/command">
                <pc:docMk/>
                <pc:sldMk cId="2092203674" sldId="2147479784"/>
                <pc2:cmMk id="{3766DF3C-027D-4719-B965-93BB423BC954}"/>
              </pc2:cmMkLst>
            </pc226:cmChg>
            <pc226:cmChg xmlns:pc226="http://schemas.microsoft.com/office/powerpoint/2022/06/main/command" chg="mod">
              <pc226:chgData name="Tomas Kubanyi (SK)" userId="785edbf0-048c-4918-8f17-5225f3de95e1" providerId="ADAL" clId="{9E1BE702-770F-4DEF-8938-201FE2EF6A52}" dt="2026-04-20T12:40:32.462" v="54" actId="20577"/>
              <pc2:cmMkLst xmlns:pc2="http://schemas.microsoft.com/office/powerpoint/2019/9/main/command">
                <pc:docMk/>
                <pc:sldMk cId="2092203674" sldId="2147479784"/>
                <pc2:cmMk id="{82A0D16B-11DD-4F60-B5B2-E42C8AD0797A}"/>
              </pc2:cmMkLst>
            </pc226:cmChg>
          </p:ext>
        </pc:extLst>
      </pc:sldChg>
      <pc:sldChg chg="ord">
        <pc:chgData name="Tomas Kubanyi (SK)" userId="785edbf0-048c-4918-8f17-5225f3de95e1" providerId="ADAL" clId="{9E1BE702-770F-4DEF-8938-201FE2EF6A52}" dt="2026-04-20T15:53:51.211" v="84"/>
        <pc:sldMkLst>
          <pc:docMk/>
          <pc:sldMk cId="1056161127" sldId="2147479786"/>
        </pc:sldMkLst>
      </pc:sldChg>
      <pc:sldChg chg="ord">
        <pc:chgData name="Tomas Kubanyi (SK)" userId="785edbf0-048c-4918-8f17-5225f3de95e1" providerId="ADAL" clId="{9E1BE702-770F-4DEF-8938-201FE2EF6A52}" dt="2026-04-20T15:53:51.211" v="84"/>
        <pc:sldMkLst>
          <pc:docMk/>
          <pc:sldMk cId="448417056" sldId="2147479787"/>
        </pc:sldMkLst>
      </pc:sldChg>
      <pc:sldChg chg="ord">
        <pc:chgData name="Tomas Kubanyi (SK)" userId="785edbf0-048c-4918-8f17-5225f3de95e1" providerId="ADAL" clId="{9E1BE702-770F-4DEF-8938-201FE2EF6A52}" dt="2026-04-20T15:53:51.211" v="84"/>
        <pc:sldMkLst>
          <pc:docMk/>
          <pc:sldMk cId="1439909453" sldId="2147479788"/>
        </pc:sldMkLst>
      </pc:sldChg>
      <pc:sldChg chg="ord">
        <pc:chgData name="Tomas Kubanyi (SK)" userId="785edbf0-048c-4918-8f17-5225f3de95e1" providerId="ADAL" clId="{9E1BE702-770F-4DEF-8938-201FE2EF6A52}" dt="2026-04-20T15:53:51.211" v="84"/>
        <pc:sldMkLst>
          <pc:docMk/>
          <pc:sldMk cId="1735464425" sldId="2147479789"/>
        </pc:sldMkLst>
      </pc:sldChg>
      <pc:sldChg chg="ord">
        <pc:chgData name="Tomas Kubanyi (SK)" userId="785edbf0-048c-4918-8f17-5225f3de95e1" providerId="ADAL" clId="{9E1BE702-770F-4DEF-8938-201FE2EF6A52}" dt="2026-04-20T15:53:51.211" v="84"/>
        <pc:sldMkLst>
          <pc:docMk/>
          <pc:sldMk cId="3602910873" sldId="2147479790"/>
        </pc:sldMkLst>
      </pc:sldChg>
      <pc:sldChg chg="ord">
        <pc:chgData name="Tomas Kubanyi (SK)" userId="785edbf0-048c-4918-8f17-5225f3de95e1" providerId="ADAL" clId="{9E1BE702-770F-4DEF-8938-201FE2EF6A52}" dt="2026-04-20T15:53:51.211" v="84"/>
        <pc:sldMkLst>
          <pc:docMk/>
          <pc:sldMk cId="3314538422" sldId="2147479791"/>
        </pc:sldMkLst>
      </pc:sldChg>
      <pc:sldChg chg="ord">
        <pc:chgData name="Tomas Kubanyi (SK)" userId="785edbf0-048c-4918-8f17-5225f3de95e1" providerId="ADAL" clId="{9E1BE702-770F-4DEF-8938-201FE2EF6A52}" dt="2026-04-20T15:53:51.211" v="84"/>
        <pc:sldMkLst>
          <pc:docMk/>
          <pc:sldMk cId="1014101943" sldId="2147479793"/>
        </pc:sldMkLst>
      </pc:sldChg>
      <pc:sldChg chg="ord">
        <pc:chgData name="Tomas Kubanyi (SK)" userId="785edbf0-048c-4918-8f17-5225f3de95e1" providerId="ADAL" clId="{9E1BE702-770F-4DEF-8938-201FE2EF6A52}" dt="2026-04-20T15:53:51.211" v="84"/>
        <pc:sldMkLst>
          <pc:docMk/>
          <pc:sldMk cId="1362065500" sldId="2147479794"/>
        </pc:sldMkLst>
      </pc:sldChg>
      <pc:sldChg chg="ord">
        <pc:chgData name="Tomas Kubanyi (SK)" userId="785edbf0-048c-4918-8f17-5225f3de95e1" providerId="ADAL" clId="{9E1BE702-770F-4DEF-8938-201FE2EF6A52}" dt="2026-04-20T14:16:10.570" v="58"/>
        <pc:sldMkLst>
          <pc:docMk/>
          <pc:sldMk cId="3325826082" sldId="2147479795"/>
        </pc:sldMkLst>
      </pc:sldChg>
      <pc:sldChg chg="ord">
        <pc:chgData name="Tomas Kubanyi (SK)" userId="785edbf0-048c-4918-8f17-5225f3de95e1" providerId="ADAL" clId="{9E1BE702-770F-4DEF-8938-201FE2EF6A52}" dt="2026-04-20T15:53:51.211" v="84"/>
        <pc:sldMkLst>
          <pc:docMk/>
          <pc:sldMk cId="856409930" sldId="2147479799"/>
        </pc:sldMkLst>
      </pc:sldChg>
    </pc:docChg>
  </pc:docChgLst>
  <pc:docChgLst>
    <pc:chgData name="Dagmar Haklova (SK)" userId="S::dagmar.haklova@pwc.com::ba52f4e0-694f-4d38-bfaa-7ae698753f8b" providerId="AD" clId="Web-{BFE01CAA-87AA-876D-E202-D2C7F4BA8094}"/>
    <pc:docChg chg="modSld">
      <pc:chgData name="Dagmar Haklova (SK)" userId="S::dagmar.haklova@pwc.com::ba52f4e0-694f-4d38-bfaa-7ae698753f8b" providerId="AD" clId="Web-{BFE01CAA-87AA-876D-E202-D2C7F4BA8094}" dt="2026-04-20T14:19:02.061" v="8" actId="20577"/>
      <pc:docMkLst>
        <pc:docMk/>
      </pc:docMkLst>
      <pc:sldChg chg="modSp">
        <pc:chgData name="Dagmar Haklova (SK)" userId="S::dagmar.haklova@pwc.com::ba52f4e0-694f-4d38-bfaa-7ae698753f8b" providerId="AD" clId="Web-{BFE01CAA-87AA-876D-E202-D2C7F4BA8094}" dt="2026-04-20T14:19:02.061" v="8" actId="20577"/>
        <pc:sldMkLst>
          <pc:docMk/>
          <pc:sldMk cId="0" sldId="257"/>
        </pc:sldMkLst>
        <pc:spChg chg="mod">
          <ac:chgData name="Dagmar Haklova (SK)" userId="S::dagmar.haklova@pwc.com::ba52f4e0-694f-4d38-bfaa-7ae698753f8b" providerId="AD" clId="Web-{BFE01CAA-87AA-876D-E202-D2C7F4BA8094}" dt="2026-04-20T14:19:02.061" v="8" actId="20577"/>
          <ac:spMkLst>
            <pc:docMk/>
            <pc:sldMk cId="0" sldId="257"/>
            <ac:spMk id="419" creationId="{00000000-0000-0000-0000-000000000000}"/>
          </ac:spMkLst>
        </pc:spChg>
      </pc:sldChg>
      <pc:sldChg chg="modSp">
        <pc:chgData name="Dagmar Haklova (SK)" userId="S::dagmar.haklova@pwc.com::ba52f4e0-694f-4d38-bfaa-7ae698753f8b" providerId="AD" clId="Web-{BFE01CAA-87AA-876D-E202-D2C7F4BA8094}" dt="2026-04-20T14:14:49.183" v="5"/>
        <pc:sldMkLst>
          <pc:docMk/>
          <pc:sldMk cId="1700778012" sldId="2147479783"/>
        </pc:sldMkLst>
        <pc:graphicFrameChg chg="mod modGraphic">
          <ac:chgData name="Dagmar Haklova (SK)" userId="S::dagmar.haklova@pwc.com::ba52f4e0-694f-4d38-bfaa-7ae698753f8b" providerId="AD" clId="Web-{BFE01CAA-87AA-876D-E202-D2C7F4BA8094}" dt="2026-04-20T14:14:49.183" v="5"/>
          <ac:graphicFrameMkLst>
            <pc:docMk/>
            <pc:sldMk cId="1700778012" sldId="2147479783"/>
            <ac:graphicFrameMk id="9" creationId="{D9F75988-67E2-03F9-4FFB-0F366D281B3A}"/>
          </ac:graphicFrameMkLst>
        </pc:graphicFrameChg>
      </pc:sldChg>
      <pc:sldChg chg="modSp">
        <pc:chgData name="Dagmar Haklova (SK)" userId="S::dagmar.haklova@pwc.com::ba52f4e0-694f-4d38-bfaa-7ae698753f8b" providerId="AD" clId="Web-{BFE01CAA-87AA-876D-E202-D2C7F4BA8094}" dt="2026-04-20T14:03:23.081" v="3"/>
        <pc:sldMkLst>
          <pc:docMk/>
          <pc:sldMk cId="2092203674" sldId="2147479784"/>
        </pc:sldMkLst>
        <pc:graphicFrameChg chg="mod modGraphic">
          <ac:chgData name="Dagmar Haklova (SK)" userId="S::dagmar.haklova@pwc.com::ba52f4e0-694f-4d38-bfaa-7ae698753f8b" providerId="AD" clId="Web-{BFE01CAA-87AA-876D-E202-D2C7F4BA8094}" dt="2026-04-20T14:03:23.081" v="3"/>
          <ac:graphicFrameMkLst>
            <pc:docMk/>
            <pc:sldMk cId="2092203674" sldId="2147479784"/>
            <ac:graphicFrameMk id="6" creationId="{FF73EBA0-3FA3-05BC-17C4-0C2E7E5D1ED4}"/>
          </ac:graphicFrameMkLst>
        </pc:graphicFrameChg>
      </pc:sldChg>
    </pc:docChg>
  </pc:docChgLst>
</pc:chgInfo>
</file>

<file path=ppt/comments/modernComment_7FFFF0E5_5988671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78BEBF2-0197-4D78-A8DF-B431AEB2C6FC}" authorId="{815F19CB-0910-5954-EA57-8D8B5621FDC3}" created="2026-04-20T13:58:33.53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02111511" sldId="2147479781"/>
      <ac:spMk id="9" creationId="{AA2C79AE-F340-5C80-1697-32E0DC88E452}"/>
      <ac:txMk cp="129" len="64">
        <ac:context len="321" hash="631064632"/>
      </ac:txMk>
    </ac:txMkLst>
    <p188:pos x="3059723" y="3540369"/>
    <p188:txBody>
      <a:bodyPr/>
      <a:lstStyle/>
      <a:p>
        <a:r>
          <a:rPr lang="en-US"/>
          <a:t>titeo nase casti by som zvyraznila</a:t>
        </a:r>
      </a:p>
    </p188:txBody>
  </p188:cm>
</p188:cmLst>
</file>

<file path=ppt/comments/modernComment_7FFFF0E7_655FD01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BA6EC98-621E-484F-A99F-D69B39453A2A}" authorId="{815F19CB-0910-5954-EA57-8D8B5621FDC3}" created="2026-04-20T12:25:54.30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00778012" sldId="2147479783"/>
      <ac:graphicFrameMk id="9" creationId="{D9F75988-67E2-03F9-4FFB-0F366D281B3A}"/>
      <ac:tblMk/>
      <ac:tcMk rowId="1171781658" colId="3304284731"/>
      <ac:txMk cp="1" len="40">
        <ac:context len="42" hash="1253685645"/>
      </ac:txMk>
    </ac:txMkLst>
    <p188:pos x="11230707" y="3528646"/>
    <p188:replyLst>
      <p188:reply id="{E6AF28C8-26FC-419A-A5E0-904D0B662DF4}" authorId="{23DF1198-95F7-282D-AFD7-F670DE3C5DF6}" created="2026-04-20T12:39:03.407">
        <p188:txBody>
          <a:bodyPr/>
          <a:lstStyle/>
          <a:p>
            <a:r>
              <a:rPr lang="en-GB"/>
              <a:t>Ano nas a adresovany v proposale</a:t>
            </a:r>
          </a:p>
        </p188:txBody>
      </p188:reply>
    </p188:replyLst>
    <p188:txBody>
      <a:bodyPr/>
      <a:lstStyle/>
      <a:p>
        <a:r>
          <a:rPr lang="en-US"/>
          <a:t>toto je nas scope alebo nie?</a:t>
        </a:r>
      </a:p>
    </p188:txBody>
  </p188:cm>
  <p188:cm id="{6B7190F2-5B82-4151-8CDA-7D6AAAFE8E5B}" authorId="{815F19CB-0910-5954-EA57-8D8B5621FDC3}" created="2026-04-20T12:26:31.76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00778012" sldId="2147479783"/>
      <ac:spMk id="2" creationId="{F76DC972-CE22-3736-B49D-44AAE30B43E3}"/>
      <ac:txMk cp="13" len="8">
        <ac:context len="68" hash="1846723846"/>
      </ac:txMk>
    </ac:txMkLst>
    <p188:pos x="5158153" y="281353"/>
    <p188:txBody>
      <a:bodyPr/>
      <a:lstStyle/>
      <a:p>
        <a:r>
          <a:rPr lang="en-US"/>
          <a:t>toto je vyborny sllide!!! prosim poznac si na dalsom mngrs mtg prosim ukaz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4-20T12:39:13.323" authorId="{23DF1198-95F7-282D-AFD7-F670DE3C5DF6}"/>
          </p223:rxn>
        </p223:reactions>
      </p:ext>
    </p188:extLst>
  </p188:cm>
</p188:cmLst>
</file>

<file path=ppt/comments/modernComment_7FFFF0E8_7CB47E9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766DF3C-027D-4719-B965-93BB423BC954}" authorId="{815F19CB-0910-5954-EA57-8D8B5621FDC3}" status="resolved" created="2026-04-20T12:27:32.55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92203674" sldId="2147479784"/>
      <ac:spMk id="2" creationId="{353DF2E7-6617-CF68-F71C-6E411A5F817B}"/>
      <ac:txMk cp="60">
        <ac:context len="61" hash="1975030613"/>
      </ac:txMk>
    </ac:txMkLst>
    <p188:pos x="6752492" y="820615"/>
    <p188:txBody>
      <a:bodyPr/>
      <a:lstStyle/>
      <a:p>
        <a:r>
          <a:rPr lang="en-US"/>
          <a:t>toto sa mi zda zbytocne. a aj Cure by som nedavala, to sa mi zda moc silne slovo</a:t>
        </a:r>
      </a:p>
    </p188:txBody>
  </p188:cm>
  <p188:cm id="{82A0D16B-11DD-4F60-B5B2-E42C8AD0797A}" authorId="{815F19CB-0910-5954-EA57-8D8B5621FDC3}" status="resolved" created="2026-04-20T12:28:38.403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92203674" sldId="2147479784"/>
      <ac:graphicFrameMk id="6" creationId="{FF73EBA0-3FA3-05BC-17C4-0C2E7E5D1ED4}"/>
      <ac:tblMk/>
      <ac:tcMk rowId="3060468334" colId="2518726710"/>
      <ac:txMk cp="8" len="10">
        <ac:context len="29" hash="4227524953"/>
      </ac:txMk>
    </ac:txMkLst>
    <p188:pos x="8581292" y="281353"/>
    <p188:txBody>
      <a:bodyPr/>
      <a:lstStyle/>
      <a:p>
        <a:r>
          <a:rPr lang="en-US"/>
          <a:t>nedame radsej nieco ako "as defined by client"? nedala by own words ak by to chcela posielat niekam v jej skupine </a:t>
        </a:r>
      </a:p>
    </p188:txBody>
  </p188:cm>
</p188:cmLst>
</file>

<file path=ppt/comments/modernComment_7FFFF0EA_3EF3BD6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9A809CC-8C73-4CCD-82FC-55DE1BB64FE8}" authorId="{815F19CB-0910-5954-EA57-8D8B5621FDC3}" created="2026-04-20T13:59:29.73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56161127" sldId="2147479786"/>
      <ac:spMk id="2" creationId="{DBBB1EFE-83D9-221F-5675-63C6CBE15D8B}"/>
    </ac:deMkLst>
    <p188:txBody>
      <a:bodyPr/>
      <a:lstStyle/>
      <a:p>
        <a:r>
          <a:rPr lang="en-US"/>
          <a:t>tento slide je v com different od predtym?</a:t>
        </a:r>
      </a:p>
    </p188:txBody>
  </p188:cm>
</p188:cmLst>
</file>

<file path=ppt/comments/modernComment_105_6F36AF5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DA7D53-53E2-4E6E-B806-B61E8F716FB8}" authorId="{815F19CB-0910-5954-EA57-8D8B5621FDC3}" created="2026-04-20T12:22:08.87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65854814" sldId="261"/>
      <ac:spMk id="2" creationId="{12DBF121-4939-9A21-A839-230CC776A674}"/>
      <ac:txMk cp="15">
        <ac:context len="54" hash="511501882"/>
      </ac:txMk>
    </ac:txMkLst>
    <p188:pos x="8932984" y="152400"/>
    <p188:replyLst>
      <p188:reply id="{4C07D8E1-730F-4440-90DF-E25C39CFF6F9}" authorId="{23DF1198-95F7-282D-AFD7-F670DE3C5DF6}" created="2026-04-20T12:37:43.121">
        <p188:txBody>
          <a:bodyPr/>
          <a:lstStyle/>
          <a:p>
            <a:r>
              <a:rPr lang="en-GB"/>
              <a:t>Mas pravdu, vyhodim tu referenciu na Prahu kedze Praha je priorita, ale nie cely picture</a:t>
            </a:r>
          </a:p>
        </p188:txBody>
      </p188:reply>
    </p188:replyLst>
    <p188:txBody>
      <a:bodyPr/>
      <a:lstStyle/>
      <a:p>
        <a:r>
          <a:rPr lang="en-US"/>
          <a:t>to tak volaju? lebo rozumiem, ze vysledkom projektu moze byt aj ze ine miesta budu urcene ako shared centers?</a:t>
        </a:r>
      </a:p>
    </p188:txBody>
  </p188:cm>
  <p188:cm id="{FB37B0A3-C019-495B-BB95-C10973163DDA}" authorId="{815F19CB-0910-5954-EA57-8D8B5621FDC3}" created="2026-04-20T12:22:26.61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65854814" sldId="261"/>
      <ac:spMk id="9" creationId="{6D45FBCF-F654-37CF-10CA-7AB40D869512}"/>
      <ac:txMk cp="6" len="21">
        <ac:context len="29" hash="2443991359"/>
      </ac:txMk>
    </ac:txMkLst>
    <p188:pos x="1184030" y="621323"/>
    <p188:txBody>
      <a:bodyPr/>
      <a:lstStyle/>
      <a:p>
        <a:r>
          <a:rPr lang="en-US"/>
          <a:t>datum cely pls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8F507-FFAD-4585-99E0-9DC17883AD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544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80" name="Google Shape;480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58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015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70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1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687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748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153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32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3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675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15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42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519906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126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276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4862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209696" y="794063"/>
            <a:ext cx="6589884" cy="3328416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73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9DEE-6989-9A74-BDE8-CA73B910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9696" y="786384"/>
            <a:ext cx="5754687" cy="3195638"/>
          </a:xfrm>
        </p:spPr>
        <p:txBody>
          <a:bodyPr tIns="73152"/>
          <a:lstStyle>
            <a:lvl1pPr marL="647700" indent="-55245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tabLst/>
              <a:defRPr sz="2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0820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177701" y="818982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711065" y="818982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3D9662-5F2D-57D9-7407-78275144A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87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EEDD237-2AD5-3154-E113-01E98DC09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81363" y="917575"/>
            <a:ext cx="4224722" cy="2589534"/>
          </a:xfrm>
        </p:spPr>
        <p:txBody>
          <a:bodyPr lIns="91440"/>
          <a:lstStyle>
            <a:lvl1pPr marL="292608" indent="-573088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/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08392" y="917575"/>
            <a:ext cx="4224722" cy="2589534"/>
          </a:xfrm>
        </p:spPr>
        <p:txBody>
          <a:bodyPr lIns="91440"/>
          <a:lstStyle>
            <a:lvl1pPr marL="393192" indent="-676656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>
                <a:tab pos="225425" algn="r"/>
              </a:tabLst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29556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946276"/>
            <a:ext cx="6606383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118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7"/>
            <a:ext cx="11399691" cy="45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946276"/>
            <a:ext cx="6606383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638" y="885381"/>
            <a:ext cx="11399837" cy="6858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0176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11403809" cy="9461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61B7B6-46DE-D3F1-62FD-E7B058FA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6005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816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11403809" cy="45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61B7B6-46DE-D3F1-62FD-E7B058FA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6005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41698-5CD8-C604-8076-E2C7174471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1638" y="886968"/>
            <a:ext cx="11399837" cy="6858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14782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492184"/>
            <a:ext cx="3840957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8" y="371478"/>
            <a:ext cx="2514282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56AB70-B001-F407-DDA0-8274B081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96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3840958" cy="55668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7" y="371478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1444" y="2977040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37637" y="2977040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0C2534F-0DED-9179-1BA0-BA7BBA63E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37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1363" y="1421451"/>
            <a:ext cx="2514283" cy="19388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500" b="1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831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81363" y="3486944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294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37638" y="1421451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0294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37638" y="3486944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192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589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7"/>
            <a:ext cx="11399691" cy="45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027B2-3AF9-ACB0-EFBF-E307D2CA34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0050" y="886968"/>
            <a:ext cx="11401425" cy="658368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81993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EA8B36-F386-C764-DAD6-33D7736D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E946374-FA30-CA90-8DA8-4D3D9C8D9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0475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02336" y="1439508"/>
            <a:ext cx="5237163" cy="4510088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936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2336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1000"/>
              </a:spcAft>
              <a:defRPr sz="1800" b="1"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3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57033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55500F-3808-9CA2-1F44-A64164571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842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2336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800" b="1">
                <a:latin typeface="+mn-lt"/>
              </a:defRPr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8E7DA0-330F-0EFA-F5EA-9B8D8ADDB8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87958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934F8D-EEE5-A5C7-4F51-62B220EA007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42435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F4A050-73C7-4EF8-22E1-17E2117180F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87958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9AEC2-3D38-AA3C-D9ED-F56066F02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81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CDDF52B-DBF3-6EA5-316F-86B168D5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40338"/>
            <a:ext cx="3448050" cy="4498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440338"/>
            <a:ext cx="3280410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440339"/>
            <a:ext cx="3280410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7D3849-C8CD-8658-1466-0AC905A32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965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992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2723"/>
            <a:ext cx="3389473" cy="19299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7380"/>
            <a:ext cx="3280410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7380"/>
            <a:ext cx="3280410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BD5BA45-6FFD-0692-0F0F-E110F28E6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664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40632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946275"/>
            <a:ext cx="2757805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1946275"/>
            <a:ext cx="2752324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8730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933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7"/>
            <a:ext cx="11406322" cy="45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946275"/>
            <a:ext cx="2757805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1946275"/>
            <a:ext cx="2752324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8730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AE7EEF-B347-4D56-A6AE-448368A5BE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1638" y="886968"/>
            <a:ext cx="11407775" cy="6858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27923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DAB432F-854F-42B3-F530-13E74D7AA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829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40632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84563"/>
            <a:ext cx="2757805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75769" y="3484563"/>
            <a:ext cx="2752324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2459" y="3484563"/>
            <a:ext cx="2749927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8730" y="3484563"/>
            <a:ext cx="2749927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B11690-3DC6-7B4C-5196-E388A5114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219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6A1FE59-52D8-7819-FCA0-4B851241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08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624C-8E74-64EA-25D6-81C018D703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2401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BA71C3-8B98-CBAD-967B-B8C200A9F9D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81894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3A7053-6A7D-A8F8-4656-87270953BD6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71386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48D2-B18D-75C7-0C7E-1D9DB1396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80E08F-9CFF-A0A0-CB3A-AC9CDC3AD14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2336" y="1428750"/>
            <a:ext cx="5645947" cy="1428750"/>
          </a:xfrm>
        </p:spPr>
        <p:txBody>
          <a:bodyPr rIns="91440"/>
          <a:lstStyle>
            <a:lvl1pPr>
              <a:defRPr sz="20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123775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8A701A6-89AB-4B4D-0870-B17023D6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40632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2336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998913"/>
            <a:ext cx="2757805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89821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3998913"/>
            <a:ext cx="2752324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6511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3998913"/>
            <a:ext cx="2749927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58730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8730" y="3998913"/>
            <a:ext cx="2749927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3E4A20-48E1-6B96-207C-2A01DD8E9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237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8E610-9BD2-B05C-EB3A-1A76DB51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9482" y="1443674"/>
            <a:ext cx="2597467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C981AC-1133-16A2-C7BE-8EEEC24A1CC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3938" y="1443674"/>
            <a:ext cx="2597467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5570" y="1428750"/>
            <a:ext cx="5634604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7639" y="4041936"/>
            <a:ext cx="2765425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8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DA732D9-8671-5C81-D1CA-1C96F66F29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44749" y="4041936"/>
            <a:ext cx="2765425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200" b="0">
                <a:latin typeface="+mj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361E65-8489-022E-9A46-0B36035A1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730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F55CA50-833E-6AD7-FF00-933528AC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E2265-798C-4C34-2F7A-9E37AD0B72E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330243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929FFD-F8B6-8070-3AC3-1EF5C988CD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9006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70EFDA-9453-BCA5-D941-12F2ACA2074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7769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C9BD80-9837-E8C2-7515-BE852BF7BD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86532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414709-ADE5-C602-1625-C637F6C5FB1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005295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086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F55CA50-833E-6AD7-FF00-933528AC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7"/>
            <a:ext cx="11399691" cy="45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E2265-798C-4C34-2F7A-9E37AD0B72E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330243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929FFD-F8B6-8070-3AC3-1EF5C988CD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9006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70EFDA-9453-BCA5-D941-12F2ACA2074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7769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C9BD80-9837-E8C2-7515-BE852BF7BD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86532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414709-ADE5-C602-1625-C637F6C5FB1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005295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018B1A-B52B-AC9A-63B1-F00217B38E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1638" y="886968"/>
            <a:ext cx="11399837" cy="6858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040330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9C59803B-BF63-6637-E0C7-431792ED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2336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326433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604CA07-6A61-6EE7-9AB7-5D1AC3E6158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2326433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49006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9B651F7-7166-CE84-83FD-8A58F6870DE8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49006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67769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90F1832-1857-55DA-5830-56D2E0B8407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167769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86532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9D2967-C22A-B1DF-008F-37A536CDA2A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086532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0005295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0B501A3-4C30-D139-31F2-53CC077019F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10005295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53C0A1-993D-3C98-C331-16749B76A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123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883" y="-300748"/>
            <a:ext cx="5638005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40C10-F5A2-1E40-474D-C57EC62F0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6039888" y="593396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135" y="1317530"/>
            <a:ext cx="5668962" cy="3758184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40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983333"/>
            <a:ext cx="4702359" cy="10148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B9EA5E-E423-D219-6037-CCB61AE3B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478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85571"/>
            <a:ext cx="5498502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50276" y="393871"/>
            <a:ext cx="5660724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32291E-24B4-2FB8-4B35-A439686DB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7744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85571"/>
            <a:ext cx="5498502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E626E5-51F6-0BEB-2AFE-FE78E1409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6163970" y="400050"/>
            <a:ext cx="5637503" cy="4521510"/>
          </a:xfrm>
          <a:custGeom>
            <a:avLst/>
            <a:gdLst>
              <a:gd name="connsiteX0" fmla="*/ 0 w 5637503"/>
              <a:gd name="connsiteY0" fmla="*/ 0 h 4521510"/>
              <a:gd name="connsiteX1" fmla="*/ 5637503 w 5637503"/>
              <a:gd name="connsiteY1" fmla="*/ 0 h 4521510"/>
              <a:gd name="connsiteX2" fmla="*/ 5636321 w 5637503"/>
              <a:gd name="connsiteY2" fmla="*/ 2101892 h 4521510"/>
              <a:gd name="connsiteX3" fmla="*/ 5635136 w 5637503"/>
              <a:gd name="connsiteY3" fmla="*/ 4208474 h 4521510"/>
              <a:gd name="connsiteX4" fmla="*/ 2786509 w 5637503"/>
              <a:gd name="connsiteY4" fmla="*/ 4206576 h 4521510"/>
              <a:gd name="connsiteX5" fmla="*/ 2583036 w 5637503"/>
              <a:gd name="connsiteY5" fmla="*/ 4512498 h 4521510"/>
              <a:gd name="connsiteX6" fmla="*/ 0 w 5637503"/>
              <a:gd name="connsiteY6" fmla="*/ 4521510 h 452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37503" h="4521510">
                <a:moveTo>
                  <a:pt x="0" y="0"/>
                </a:moveTo>
                <a:lnTo>
                  <a:pt x="5637503" y="0"/>
                </a:lnTo>
                <a:lnTo>
                  <a:pt x="5636321" y="2101892"/>
                </a:lnTo>
                <a:cubicBezTo>
                  <a:pt x="5636518" y="2804481"/>
                  <a:pt x="5636716" y="3507070"/>
                  <a:pt x="5635136" y="4208474"/>
                </a:cubicBezTo>
                <a:lnTo>
                  <a:pt x="2786509" y="4206576"/>
                </a:lnTo>
                <a:lnTo>
                  <a:pt x="2583036" y="4512498"/>
                </a:lnTo>
                <a:lnTo>
                  <a:pt x="0" y="452151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1280160" bIns="2743200" anchor="t" anchorCtr="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05F451-C7FA-B67A-7A4E-B4953B3BF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7A1FB0A-E7CA-63CD-DB09-C9F16CA91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000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34788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36" y="400051"/>
            <a:ext cx="6078018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9197" y="4470739"/>
            <a:ext cx="4704858" cy="51083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1BEFAC-D99F-7020-6110-CD8460311A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 anchor="b" anchorCtr="0">
            <a:no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FE5ED4-420E-CADB-A68A-A7D421280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FB371-D664-A7CF-D5EE-BB0684D60FED}"/>
              </a:ext>
            </a:extLst>
          </p:cNvPr>
          <p:cNvSpPr txBox="1"/>
          <p:nvPr userDrawn="1"/>
        </p:nvSpPr>
        <p:spPr>
          <a:xfrm>
            <a:off x="6034838" y="299570"/>
            <a:ext cx="7620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rgbClr val="FC5108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“</a:t>
            </a:r>
            <a:endParaRPr kumimoji="0" lang="en-US" sz="13800" b="1" u="none" strike="noStrike" kern="0" cap="none" spc="0" normalizeH="0" baseline="0" noProof="0">
              <a:ln>
                <a:noFill/>
              </a:ln>
              <a:solidFill>
                <a:srgbClr val="FC5108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  <a:p>
            <a:endParaRPr lang="en-US" sz="6000" b="1">
              <a:solidFill>
                <a:srgbClr val="FC5108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3277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694" y="4463448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F16A-3F0F-40AD-25BD-32F2F4A17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775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D27D-46ED-F893-79F1-23481FEA9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6767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336" y="-300748"/>
            <a:ext cx="564127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77249-98B8-FACA-4ACE-60FB5325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0836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3" y="-319682"/>
            <a:ext cx="5695950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3CF2F-7A33-6AA8-EBBC-3A558D724586}"/>
              </a:ext>
            </a:extLst>
          </p:cNvPr>
          <p:cNvSpPr txBox="1"/>
          <p:nvPr userDrawn="1"/>
        </p:nvSpPr>
        <p:spPr>
          <a:xfrm>
            <a:off x="394728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l"/>
            <a:r>
              <a:rPr lang="en-US" sz="1050" b="1">
                <a:solidFill>
                  <a:schemeClr val="bg1"/>
                </a:solidFill>
              </a:rPr>
              <a:t>PwC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94593D8-AEB6-3CA5-7E3B-6BA6D552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5995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284" y="3480486"/>
            <a:ext cx="4499480" cy="2458352"/>
          </a:xfrm>
        </p:spPr>
        <p:txBody>
          <a:bodyPr/>
          <a:lstStyle>
            <a:lvl1pPr>
              <a:lnSpc>
                <a:spcPct val="100000"/>
              </a:lnSpc>
              <a:defRPr sz="3200" b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0050"/>
            <a:ext cx="6614842" cy="5539040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29E8A37-B7AE-34F5-AC2C-2C3307E45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964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373745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2336" y="2979420"/>
            <a:ext cx="3727450" cy="26209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500"/>
            </a:lvl1pPr>
            <a:lvl2pPr>
              <a:defRPr sz="1200"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2336"/>
            <a:ext cx="6614837" cy="5532376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619E784-11F4-A104-BB77-5E8F8D39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4269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2457451"/>
            <a:ext cx="2767808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2336" y="3492183"/>
            <a:ext cx="2757805" cy="2115820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200" b="0">
                <a:latin typeface="+mj-lt"/>
              </a:defRPr>
            </a:lvl1pPr>
            <a:lvl2pPr>
              <a:defRPr sz="1200"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5F8295-3C5A-A1AE-F43F-1FA6D8B2F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3288471" y="400050"/>
            <a:ext cx="8513514" cy="5540196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7307693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60723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B293083-8587-219C-C524-D809D6A86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7C9592-01FB-4A3C-B7D0-60D0B86B7CC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097462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51199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8750FF-80B0-EEE6-F89F-A76248A4F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8101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69B2012-7A09-E6A5-2473-4DB6823B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2336" y="3492183"/>
            <a:ext cx="3719830" cy="2446655"/>
          </a:xfr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4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9978" y="1424941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0678072-A6EC-A7CF-E412-0D3F27A1A0A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127838" y="1446213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9978" y="2981643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62FE28B-1451-7A6D-A415-8DE9235897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27838" y="2979420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99978" y="4521518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DD78EAE-A704-D3CE-D6AA-6E6E52DCA21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27838" y="4519931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56C71D-1695-AE64-7C05-4DD0750A3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1656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444092"/>
            <a:ext cx="4688683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5533" y="880660"/>
            <a:ext cx="5636494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5126B4-5061-ACE1-29DB-F4E4B9305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440408-8D82-6FAB-8574-86AD0978A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65850" y="3500447"/>
            <a:ext cx="5635625" cy="2438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170915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8350" y="400050"/>
            <a:ext cx="4683125" cy="2970213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8C705A-7501-8BB2-360F-85F75D8C54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37638" y="3484563"/>
            <a:ext cx="2757487" cy="1939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03824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400050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6051" y="400050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6051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7533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ACEF0AF-E2A8-B95F-9038-793C9FF9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2336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7643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7643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8759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087598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6878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5B5614F-1512-8F64-6245-6374F384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5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2336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8624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88624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9800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9800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50976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9B3672-1BF6-5E8D-DC7D-048381D2695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50976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50DA203-9211-4FDA-05C5-46A21042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4235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5676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336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07336A-CA43-BA10-15BC-4A7C003A234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88643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5802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8614DA-316C-FC85-3F42-B262BEAC7A8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165805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2961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9D1C7E-BE40-062C-9607-4651359E8EA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50247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3607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336" y="144239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1433352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2336" y="349473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1502B-FAB9-8313-90B7-D7C06363AE1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3288643" y="3495709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77198" y="144239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F40A1F-2110-372D-0359-94789B6D9CD7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59425" y="1433352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77198" y="349473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AFF494-77C5-F797-6FAA-D4D42743AB5D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9059425" y="3495709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3405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E5D8444-089B-403E-0473-39C61239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293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88FCD4-650D-9754-A431-CE452572F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7817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336" y="1946275"/>
            <a:ext cx="6629400" cy="1482725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7150" y="4823926"/>
            <a:ext cx="6604325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legal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/</a:t>
            </a:r>
            <a:r>
              <a:rPr lang="en-US" sz="1600" b="1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</a:t>
            </a:r>
            <a:endParaRPr lang="en-US" sz="1600" b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65711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336" y="1428750"/>
            <a:ext cx="8520907" cy="1933344"/>
          </a:xfrm>
        </p:spPr>
        <p:txBody>
          <a:bodyPr anchor="b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336" y="3490335"/>
            <a:ext cx="8520908" cy="1422978"/>
          </a:xfr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63492054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431" y="1957425"/>
            <a:ext cx="5229304" cy="2441537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7914" y="1957425"/>
            <a:ext cx="4681536" cy="2441538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428340686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336" y="400050"/>
            <a:ext cx="11387893" cy="3484563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336" y="4410115"/>
            <a:ext cx="5630031" cy="1541462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9939" y="4410114"/>
            <a:ext cx="4681536" cy="1541463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77138492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7"/>
            <a:ext cx="11402671" cy="9152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946276"/>
            <a:ext cx="9482935" cy="3992562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6A229-FEBB-D152-453C-CB7311E22927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141788424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Content - Subtitle">
  <p:cSld name="One Column Content - Subtitle"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16"/>
          <p:cNvSpPr txBox="1">
            <a:spLocks noGrp="1"/>
          </p:cNvSpPr>
          <p:nvPr>
            <p:ph type="body" idx="1"/>
          </p:nvPr>
        </p:nvSpPr>
        <p:spPr>
          <a:xfrm>
            <a:off x="442914" y="2103438"/>
            <a:ext cx="35289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2" name="Google Shape;672;p116"/>
          <p:cNvSpPr txBox="1">
            <a:spLocks noGrp="1"/>
          </p:cNvSpPr>
          <p:nvPr>
            <p:ph type="title"/>
          </p:nvPr>
        </p:nvSpPr>
        <p:spPr>
          <a:xfrm>
            <a:off x="442913" y="430514"/>
            <a:ext cx="11306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673" name="Google Shape;673;p116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7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4" name="Google Shape;674;p116"/>
          <p:cNvSpPr txBox="1">
            <a:spLocks noGrp="1"/>
          </p:cNvSpPr>
          <p:nvPr>
            <p:ph type="subTitle" idx="2"/>
          </p:nvPr>
        </p:nvSpPr>
        <p:spPr>
          <a:xfrm>
            <a:off x="442912" y="933433"/>
            <a:ext cx="11306100" cy="8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174547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1_Title and Content"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63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1070" name="Google Shape;1070;p163"/>
          <p:cNvSpPr txBox="1">
            <a:spLocks noGrp="1"/>
          </p:cNvSpPr>
          <p:nvPr>
            <p:ph type="body" idx="1"/>
          </p:nvPr>
        </p:nvSpPr>
        <p:spPr>
          <a:xfrm>
            <a:off x="442913" y="2103120"/>
            <a:ext cx="7418400" cy="40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402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40256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40256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40256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40256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40256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40256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40256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40256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1" name="Google Shape;1071;p163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237030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Subtitle">
  <p:cSld name="Title and Content - Sub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8"/>
          <p:cNvSpPr txBox="1">
            <a:spLocks noGrp="1"/>
          </p:cNvSpPr>
          <p:nvPr>
            <p:ph type="title"/>
          </p:nvPr>
        </p:nvSpPr>
        <p:spPr>
          <a:xfrm>
            <a:off x="442913" y="430514"/>
            <a:ext cx="11306175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body" idx="1"/>
          </p:nvPr>
        </p:nvSpPr>
        <p:spPr>
          <a:xfrm>
            <a:off x="442913" y="2103438"/>
            <a:ext cx="7418387" cy="406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8"/>
          <p:cNvSpPr txBox="1">
            <a:spLocks noGrp="1"/>
          </p:cNvSpPr>
          <p:nvPr>
            <p:ph type="sldNum" idx="12"/>
          </p:nvPr>
        </p:nvSpPr>
        <p:spPr>
          <a:xfrm>
            <a:off x="11327130" y="6400800"/>
            <a:ext cx="421958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38"/>
          <p:cNvSpPr txBox="1">
            <a:spLocks noGrp="1"/>
          </p:cNvSpPr>
          <p:nvPr>
            <p:ph type="subTitle" idx="2"/>
          </p:nvPr>
        </p:nvSpPr>
        <p:spPr>
          <a:xfrm>
            <a:off x="442912" y="933433"/>
            <a:ext cx="11306176" cy="885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>
                <a:solidFill>
                  <a:schemeClr val="dk1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" name="Google Shape;62;p38"/>
          <p:cNvSpPr txBox="1"/>
          <p:nvPr/>
        </p:nvSpPr>
        <p:spPr>
          <a:xfrm>
            <a:off x="442913" y="6411672"/>
            <a:ext cx="2317942" cy="1154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</a:pP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Contract management for Albert Česká republika s.r.o.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588877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31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cover image</a:t>
            </a:r>
          </a:p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18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87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300368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5827307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3466884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552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0088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45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515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9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94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41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603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612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9DEE-6989-9A74-BDE8-CA73B910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88181" y="781004"/>
            <a:ext cx="5670320" cy="3219495"/>
          </a:xfrm>
        </p:spPr>
        <p:txBody>
          <a:bodyPr tIns="73152"/>
          <a:lstStyle>
            <a:lvl1pPr marL="647700" indent="-55245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tabLst/>
              <a:defRPr sz="2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47456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022340" y="781329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491579" y="781329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3D9662-5F2D-57D9-7407-78275144A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507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EEDD237-2AD5-3154-E113-01E98DC09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71949" y="890680"/>
            <a:ext cx="4224722" cy="2589534"/>
          </a:xfrm>
        </p:spPr>
        <p:txBody>
          <a:bodyPr lIns="91440"/>
          <a:lstStyle>
            <a:lvl1pPr marL="292608" indent="-573088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/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98978" y="890680"/>
            <a:ext cx="4224722" cy="2589534"/>
          </a:xfrm>
        </p:spPr>
        <p:txBody>
          <a:bodyPr lIns="91440"/>
          <a:lstStyle>
            <a:lvl1pPr marL="393192" indent="-676656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>
                <a:tab pos="225425" algn="r"/>
              </a:tabLst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92912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34669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21579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BFC34-8CB2-CC41-3972-5FC87B9BDCE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9888" y="1924050"/>
            <a:ext cx="5285403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37A09F-4048-050A-FDB3-83EC9C37253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49975" y="1924050"/>
            <a:ext cx="5285403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24C1953-6774-4962-D21C-79F931E8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55197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2"/>
            <a:ext cx="11453638" cy="4046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41698-5CD8-C604-8076-E2C7174471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9364" y="886968"/>
            <a:ext cx="11454336" cy="51955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364D4B-08FC-0F72-14EE-FFE49CBE3E8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8301" y="1924050"/>
            <a:ext cx="5284844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7630663-0430-1D7C-EBF0-D28C79961C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9975" y="1924050"/>
            <a:ext cx="528484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1409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4"/>
            <a:ext cx="3840957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96065" y="370158"/>
            <a:ext cx="3649948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8" y="371478"/>
            <a:ext cx="2514282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56AB70-B001-F407-DDA0-8274B081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754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1" y="370061"/>
            <a:ext cx="3855863" cy="56021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90686" y="370158"/>
            <a:ext cx="3649948" cy="2486022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43016" y="371478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0686" y="2960903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43016" y="2977040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0C2534F-0DED-9179-1BA0-BA7BBA63E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430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0557" y="1409922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59847" y="1399935"/>
            <a:ext cx="2514283" cy="19388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500" b="1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0557" y="3492323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59847" y="3492323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49536" y="1409922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43017" y="1399935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9536" y="3492323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43017" y="3492323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2847D5-ADA8-3259-2549-281D1A6D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1035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3E9A5D-D94B-2C14-C57F-8CEEA73EB9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3235512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89906B8-D3A9-4BCE-6015-ACFE378C72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35674" y="1924050"/>
            <a:ext cx="3235512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FE0E6B83-F5A0-569B-4BAB-B7F61D7D08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74025" y="1924049"/>
            <a:ext cx="3235512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6DFEB0B-173F-2B4F-16A8-263FCC6CE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557110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1" y="370063"/>
            <a:ext cx="11453639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027B2-3AF9-ACB0-EFBF-E307D2CA34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776" y="886968"/>
            <a:ext cx="11455924" cy="51955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B015D90A-43B1-2686-2FB5-24977CABC77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3235512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305BD07F-9015-08E7-A1B9-CEE3998C38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35674" y="1924050"/>
            <a:ext cx="3235512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6E79EC7-3C5A-2B86-5F55-4E1518901C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74025" y="1924049"/>
            <a:ext cx="3235512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68562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E946374-FA30-CA90-8DA8-4D3D9C8D9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E9C1A15D-9D72-ADF5-F762-A0FCDB4299C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3235512" cy="404812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94016E-E9A2-621D-7E7E-4C60EA7D144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35674" y="1924050"/>
            <a:ext cx="3235512" cy="404812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B0989A2-BAE8-DBCB-9B68-2A6A9EEEC5C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74025" y="1924049"/>
            <a:ext cx="3235512" cy="404812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B661239-E68D-0808-F96A-FE85956F1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40339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0062" y="1407233"/>
            <a:ext cx="5229293" cy="4564941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EE09F-88BE-B892-E588-CE1A64CF45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9975" y="2441575"/>
            <a:ext cx="2781300" cy="3530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9862BAD-5A88-900F-A59B-68B96AB4149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042400" y="2441575"/>
            <a:ext cx="2781300" cy="3530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DA847B6-5ED7-CD22-AC77-BE2F87419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3111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64683" y="1933273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55500F-3808-9CA2-1F44-A64164571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546331-F0CB-B769-2ED0-10C215328D5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5125" y="3603812"/>
            <a:ext cx="3335338" cy="2476313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809C51E-8610-C513-8EEC-D5CB091B65E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25925" y="1933575"/>
            <a:ext cx="3280410" cy="41465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DFE232A4-E7EE-98E3-AD8F-428E48A336B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87167" y="1933575"/>
            <a:ext cx="3280410" cy="41465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39229A9-9F4B-8863-1C67-62C2859D9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9892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70062" y="1927894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9AEC2-3D38-AA3C-D9ED-F56066F02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B415381-8D1E-8A6F-693B-DB90EB881D1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65125" y="3603812"/>
            <a:ext cx="3335338" cy="2476313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E8D28FD-FF5F-398A-38AD-0E9B9DE0EC1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225925" y="1924050"/>
            <a:ext cx="3740150" cy="19653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E2C8463D-8B6E-9FF2-1B5C-72452E9273E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25925" y="4006850"/>
            <a:ext cx="3740150" cy="19653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39DE996C-A166-458A-310E-FEBC9C52A70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87920" y="1924050"/>
            <a:ext cx="3740150" cy="19653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134591D3-6AC4-CADD-BA45-13112332007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087920" y="4006850"/>
            <a:ext cx="3740150" cy="19653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33601CD4-0BCA-521B-0F56-3E84B8C91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8620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689587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7D3849-C8CD-8658-1466-0AC905A32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E8CA74-2A20-C79E-AB93-415F841BF9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8300" y="1924049"/>
            <a:ext cx="3548063" cy="404812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4A2F6DA-84DB-C19E-4C0E-907410D65A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25925" y="1924049"/>
            <a:ext cx="3621405" cy="1663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1E96ECE-0D5F-0C73-B9DA-305E820717B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84820" y="1924049"/>
            <a:ext cx="3621405" cy="16636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FB0C79D-C35F-8072-C668-9D9D7A937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1629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3155" y="1407888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1060" y="1407888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79441" y="1407888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658801-9D03-6822-31B7-920A8C4C5D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8300" y="4000500"/>
            <a:ext cx="3621405" cy="207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E8465518-586C-3585-5D66-F8C5F784114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1059" y="4000500"/>
            <a:ext cx="3621405" cy="207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A0F579-2C59-6C73-6CB2-7D28A65E2EE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2597" y="4000500"/>
            <a:ext cx="3621405" cy="207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C860A8A-DDDD-D41D-7D92-718D7B4F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0757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2723"/>
            <a:ext cx="3389473" cy="196945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72399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72399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BD5BA45-6FFD-0692-0F0F-E110F28E6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2DDC5-30CC-4253-DAE0-02B6367366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41800" y="4002088"/>
            <a:ext cx="3621405" cy="20780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C4F89F3-153E-1F6B-8CFE-E1D4D68749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84820" y="4002088"/>
            <a:ext cx="3621405" cy="20780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637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18F79E-2EEB-FEB6-9FD2-CF00E69E39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27844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B50CDAE4-0C34-CA3B-8150-C653F96325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57550" y="1924050"/>
            <a:ext cx="27844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32934F70-692D-5369-94C8-0030A3CD43F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9975" y="1924050"/>
            <a:ext cx="27844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75F0D866-D99D-B922-92B9-43D8C80FC3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42400" y="1924050"/>
            <a:ext cx="27844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28C2AC20-FA64-9BFB-4B6C-CC4DC765C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4203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0" y="370063"/>
            <a:ext cx="11453639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AE7EEF-B347-4D56-A6AE-448368A5BE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9364" y="886968"/>
            <a:ext cx="11453639" cy="51955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35EB01E0-E6A4-D360-2FD4-9B71B2DE0DC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27844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4626FCF7-D9DB-AA92-E09A-63795E0A9BF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57550" y="1924050"/>
            <a:ext cx="27844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3EAED7B3-1E01-DB3C-A9C0-C02BF6D0CA4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9975" y="1924050"/>
            <a:ext cx="27844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1DF4DD5F-AF74-EA4E-244D-3B8BF6C634D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042400" y="1924050"/>
            <a:ext cx="27844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44925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DAB432F-854F-42B3-F530-13E74D7AA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7B41B5-877C-16C0-86C3-0049A6AEFD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3482975"/>
            <a:ext cx="3444875" cy="25971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AF5BE851-36FB-AE1C-238B-97C05E05B1A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39222" y="3482975"/>
            <a:ext cx="3444875" cy="25971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C3EBFD86-34DE-5EF4-510C-8C6F417E645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77870" y="3482975"/>
            <a:ext cx="3444875" cy="25971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7ADAD20-05B4-05C7-E934-6F9C1436E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59184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B11690-3DC6-7B4C-5196-E388A5114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F7CA4CE-E47A-514D-5828-6AA4EAEAA5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3482975"/>
            <a:ext cx="2784475" cy="25971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BE81782A-2131-81EC-B274-273228A022F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57550" y="3482975"/>
            <a:ext cx="2784475" cy="25971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C7B2FA3-BB01-C042-C3E2-CE1E30B4DC8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9975" y="3482975"/>
            <a:ext cx="2784475" cy="25971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5817751D-AEF1-E60E-A99F-8E78DF21FF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42400" y="3482975"/>
            <a:ext cx="2784475" cy="25971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AC495E7E-4FB5-532A-2A69-899751FD4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621915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48D2-B18D-75C7-0C7E-1D9DB1396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DE25965-5FF0-06E1-006B-1D9AEC33DC6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8300" y="1406525"/>
            <a:ext cx="4711700" cy="144780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248317B-0C78-D1D7-C7AA-97B940FCDFD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68300" y="2959100"/>
            <a:ext cx="2784475" cy="3013075"/>
          </a:xfrm>
          <a:solidFill>
            <a:srgbClr val="FFE8D4"/>
          </a:solidFill>
        </p:spPr>
        <p:txBody>
          <a:bodyPr lIns="144000" rIns="144000" bIns="144000" anchor="b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9E1EEBC7-B3D2-0C33-A1E4-86D938D57B9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57550" y="2959100"/>
            <a:ext cx="2784475" cy="3013075"/>
          </a:xfrm>
          <a:solidFill>
            <a:srgbClr val="FFE8D4"/>
          </a:solidFill>
        </p:spPr>
        <p:txBody>
          <a:bodyPr lIns="144000" rIns="144000" bIns="144000" anchor="b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DE61D85C-E065-C899-A314-61A97478995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9975" y="2959100"/>
            <a:ext cx="2784475" cy="3013075"/>
          </a:xfrm>
          <a:solidFill>
            <a:srgbClr val="FFE8D4"/>
          </a:solidFill>
        </p:spPr>
        <p:txBody>
          <a:bodyPr lIns="144000" rIns="144000" bIns="144000" anchor="b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2AC1B240-8DE4-93F4-7F67-7A0D12BFCB2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039225" y="2959100"/>
            <a:ext cx="2784475" cy="3013075"/>
          </a:xfrm>
          <a:solidFill>
            <a:srgbClr val="FFE8D4"/>
          </a:solidFill>
        </p:spPr>
        <p:txBody>
          <a:bodyPr lIns="144000" rIns="144000" bIns="144000" anchor="b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26AF7A0A-28F9-E71C-DA0E-449F854A8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86251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062" y="1407234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62926" y="1407234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55753" y="1407234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972" y="1407234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3E4A20-48E1-6B96-207C-2A01DD8E9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1769020-22C9-8DED-D532-40F11F2D33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8300" y="4000500"/>
            <a:ext cx="2692400" cy="207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BE4E3AAB-764D-686D-74DE-DD6CA156031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62926" y="3998912"/>
            <a:ext cx="2692400" cy="207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2BEB6BEE-26A1-CA65-94AF-66C85CEB8FB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149975" y="3998912"/>
            <a:ext cx="2692400" cy="207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E50EC622-9E3E-7826-5B6E-3F05131728C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047972" y="3998912"/>
            <a:ext cx="2692400" cy="207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87CC549C-7C7A-4C05-D6A7-8187C415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18538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054" y="1407234"/>
            <a:ext cx="5669646" cy="248214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361E65-8489-022E-9A46-0B36035A1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03BE73-FFB9-9122-4626-1B97EB913FE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9888" y="1406525"/>
            <a:ext cx="2782887" cy="4565650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EA7D05-D7C0-FDE4-0EBC-5FC8729460E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57550" y="1406525"/>
            <a:ext cx="2784475" cy="45656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3B30585-2E0B-0145-792D-87F4CBF909B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49975" y="4000500"/>
            <a:ext cx="2781300" cy="1971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CF1ADCBF-761E-4BC8-95AF-5ED8A304B91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042400" y="4000500"/>
            <a:ext cx="2781300" cy="1971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D1333CB-59A1-E4BE-4739-1CA1A660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88624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1E147C2-A10D-59C4-CC48-6D69F1DA61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18192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A86AE55E-C7BC-EC71-C728-F72A80B86C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95525" y="1924050"/>
            <a:ext cx="18192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F55CDC6F-9090-45B3-C7DF-1D1A5E390D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19575" y="1924050"/>
            <a:ext cx="18192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CB40FF7B-D30A-160F-9C8B-1003AE57EE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6800" y="1924050"/>
            <a:ext cx="18192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97083C73-43EE-6C29-DF37-8BDBD14592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7200" y="1924050"/>
            <a:ext cx="18192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FAAF6896-CE8D-11B6-CDB6-B5581B467D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004425" y="1924050"/>
            <a:ext cx="18192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EE952CC9-7B70-01FB-582B-30F68D4C3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58217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018B1A-B52B-AC9A-63B1-F00217B38E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9364" y="886968"/>
            <a:ext cx="11453639" cy="51955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150835-224A-C855-A540-11B95474A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1" y="370063"/>
            <a:ext cx="11453639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3A6C828-337E-DF3F-E796-CD513517E4D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18192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5039018F-04C9-76F6-FBBC-358D2F0A10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95525" y="1924050"/>
            <a:ext cx="18192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F0641CF8-17DD-D58B-57D0-93029446040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19575" y="1924050"/>
            <a:ext cx="18192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F8C87661-3C9C-724E-425D-6BFB684FAA5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6800" y="1924050"/>
            <a:ext cx="18192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1CA5D93-F653-F2C0-8751-8A90F765D4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7200" y="1924050"/>
            <a:ext cx="18192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59DA2641-90BA-C589-4AC5-93DB0472E74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0004425" y="1924050"/>
            <a:ext cx="1819275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7448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70062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294159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27490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46253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75774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999916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53C0A1-993D-3C98-C331-16749B76A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9822908B-8C98-3E38-BAF1-87309A19DE4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3492819"/>
            <a:ext cx="1819275" cy="24793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0C24A9A-AB7A-C92C-EABC-107D1A3E30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95525" y="3492819"/>
            <a:ext cx="1819275" cy="24793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1BE33546-5281-3759-9C24-7C92D3AB81E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19575" y="3492819"/>
            <a:ext cx="1819275" cy="24793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CD8F01FB-26C3-D412-CD60-13931D0A16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6800" y="3492819"/>
            <a:ext cx="1819275" cy="24793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2D6BCE3-5DC0-F54B-0BF2-1E8CB838F9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7200" y="3492819"/>
            <a:ext cx="1819275" cy="24793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954D3D35-7293-9CD0-B576-44307004CC3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0004425" y="3492819"/>
            <a:ext cx="1819275" cy="24793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919F7E4-902E-17BD-9A23-BEC353B5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97354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883" y="-300748"/>
            <a:ext cx="5638005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40C10-F5A2-1E40-474D-C57EC62F0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6039888" y="593396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2377" y="1306772"/>
            <a:ext cx="5668962" cy="373195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40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B9EA5E-E423-D219-6037-CCB61AE3B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070464-B6E7-0612-AE11-56A546D97BD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3746500" cy="1562100"/>
          </a:xfrm>
        </p:spPr>
        <p:txBody>
          <a:bodyPr/>
          <a:lstStyle>
            <a:lvl1pPr>
              <a:defRPr sz="1800"/>
            </a:lvl1pPr>
            <a:lvl2pPr>
              <a:defRPr sz="1400">
                <a:latin typeface="+mj-lt"/>
              </a:defRPr>
            </a:lvl2pPr>
            <a:lvl3pPr>
              <a:buNone/>
              <a:defRPr/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931665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46096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062" y="3485571"/>
            <a:ext cx="5498502" cy="2486604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50276" y="372355"/>
            <a:ext cx="5671662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32291E-24B4-2FB8-4B35-A439686DB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D4716BEF-8A35-16AB-2612-D5ADC74B28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50276" y="5038725"/>
            <a:ext cx="5673424" cy="933450"/>
          </a:xfrm>
        </p:spPr>
        <p:txBody>
          <a:bodyPr/>
          <a:lstStyle>
            <a:lvl1pPr>
              <a:defRPr sz="1800"/>
            </a:lvl1pPr>
            <a:lvl2pPr>
              <a:defRPr sz="1400">
                <a:latin typeface="+mj-lt"/>
              </a:defRPr>
            </a:lvl2pPr>
            <a:lvl3pPr>
              <a:buNone/>
              <a:defRPr/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6604859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34788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36" y="400051"/>
            <a:ext cx="6078018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1BEFAC-D99F-7020-6110-CD8460311A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 anchor="b" anchorCtr="0">
            <a:no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FE5ED4-420E-CADB-A68A-A7D421280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FB371-D664-A7CF-D5EE-BB0684D60FED}"/>
              </a:ext>
            </a:extLst>
          </p:cNvPr>
          <p:cNvSpPr txBox="1"/>
          <p:nvPr userDrawn="1"/>
        </p:nvSpPr>
        <p:spPr>
          <a:xfrm>
            <a:off x="6034838" y="299570"/>
            <a:ext cx="7620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 dirty="0">
                <a:ln>
                  <a:noFill/>
                </a:ln>
                <a:solidFill>
                  <a:srgbClr val="FC5108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“</a:t>
            </a:r>
            <a:endParaRPr kumimoji="0" lang="en-US" sz="13800" b="1" u="none" strike="noStrike" kern="0" cap="none" spc="0" normalizeH="0" baseline="0" noProof="0" dirty="0">
              <a:ln>
                <a:noFill/>
              </a:ln>
              <a:solidFill>
                <a:srgbClr val="FC5108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  <a:p>
            <a:endParaRPr lang="en-US" sz="6000" b="1" dirty="0">
              <a:solidFill>
                <a:srgbClr val="FC5108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0617E1E3-DEC2-78E7-9998-E4FF637CE30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51729" y="4005692"/>
            <a:ext cx="5455771" cy="921908"/>
          </a:xfrm>
        </p:spPr>
        <p:txBody>
          <a:bodyPr/>
          <a:lstStyle>
            <a:lvl1pPr>
              <a:defRPr sz="1800"/>
            </a:lvl1pPr>
            <a:lvl2pPr>
              <a:defRPr sz="1400">
                <a:latin typeface="+mj-lt"/>
              </a:defRPr>
            </a:lvl2pPr>
            <a:lvl3pPr>
              <a:buNone/>
              <a:defRPr/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9224332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F16A-3F0F-40AD-25BD-32F2F4A17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420F89DA-180E-8B5A-DBF0-E46D4BE19F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/>
            </a:lvl1pPr>
            <a:lvl2pPr>
              <a:defRPr sz="1400">
                <a:latin typeface="+mj-lt"/>
              </a:defRPr>
            </a:lvl2pPr>
            <a:lvl3pPr>
              <a:buNone/>
              <a:defRPr/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9287522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D27D-46ED-F893-79F1-23481FEA9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46CDA39-33E4-3C95-FE9D-6263CE3649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/>
            </a:lvl1pPr>
            <a:lvl2pPr>
              <a:defRPr sz="1400">
                <a:latin typeface="+mj-lt"/>
              </a:defRPr>
            </a:lvl2pPr>
            <a:lvl3pPr>
              <a:buNone/>
              <a:defRPr/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48428244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336" y="-300748"/>
            <a:ext cx="564127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77249-98B8-FACA-4ACE-60FB5325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31972B4-0D39-C3FB-E17F-DC8EC7D1181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/>
            </a:lvl1pPr>
            <a:lvl2pPr>
              <a:defRPr sz="1400">
                <a:latin typeface="+mj-lt"/>
              </a:defRPr>
            </a:lvl2pPr>
            <a:lvl3pPr>
              <a:buNone/>
              <a:defRPr/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9780569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3" y="-319682"/>
            <a:ext cx="5695950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3CF2F-7A33-6AA8-EBBC-3A558D724586}"/>
              </a:ext>
            </a:extLst>
          </p:cNvPr>
          <p:cNvSpPr txBox="1"/>
          <p:nvPr userDrawn="1"/>
        </p:nvSpPr>
        <p:spPr>
          <a:xfrm>
            <a:off x="394728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bg1"/>
                </a:solidFill>
              </a:rPr>
              <a:t>PwC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94593D8-AEB6-3CA5-7E3B-6BA6D552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48F1255-B234-8F3E-2E95-66C55731FF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  <a:latin typeface="+mj-lt"/>
              </a:defRPr>
            </a:lvl2pPr>
            <a:lvl3pPr>
              <a:buNone/>
              <a:defRPr/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2692711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010" y="3491244"/>
            <a:ext cx="4499480" cy="2458352"/>
          </a:xfrm>
        </p:spPr>
        <p:txBody>
          <a:bodyPr/>
          <a:lstStyle>
            <a:lvl1pPr>
              <a:lnSpc>
                <a:spcPct val="100000"/>
              </a:lnSpc>
              <a:defRPr sz="3200" b="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84776" y="368299"/>
            <a:ext cx="6638214" cy="5603875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29E8A37-B7AE-34F5-AC2C-2C3307E45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67140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2"/>
            <a:ext cx="373745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84774" y="370062"/>
            <a:ext cx="6637163" cy="5562780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619E784-11F4-A104-BB77-5E8F8D39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119A16-4429-1C3B-93F5-9356F9F7EC6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9888" y="2959100"/>
            <a:ext cx="3744912" cy="3013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1699501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2446693"/>
            <a:ext cx="2767808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5F8295-3C5A-A1AE-F43F-1FA6D8B2F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3257550" y="368299"/>
            <a:ext cx="8566150" cy="5603875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FE9E2-DC3E-0EAB-DFB7-B3E4A12323B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8300" y="3482975"/>
            <a:ext cx="2784475" cy="2489200"/>
          </a:xfrm>
        </p:spPr>
        <p:txBody>
          <a:bodyPr/>
          <a:lstStyle/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8803544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891325"/>
            <a:ext cx="5660723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B293083-8587-219C-C524-D809D6A86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DBB20E5E-A5D8-1921-9B3B-F7258AF1BEC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buNone/>
              <a:defRPr/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3821785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891325"/>
            <a:ext cx="5651199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8750FF-80B0-EEE6-F89F-A76248A4F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BE8A4846-D27E-80FC-9B7E-3CE63CD42E9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buNone/>
              <a:defRPr/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38327187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70062" y="3492183"/>
            <a:ext cx="3744738" cy="2479992"/>
          </a:xfr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4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9978" y="1408803"/>
            <a:ext cx="1804072" cy="1445521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9978" y="2965506"/>
            <a:ext cx="1804072" cy="1432559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99978" y="4521518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56C71D-1695-AE64-7C05-4DD0750A3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99292-477B-B167-FA09-34ABA37250D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12000" y="1406525"/>
            <a:ext cx="4711700" cy="14478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096CD5-F472-2FF7-8821-A2FC9AB7EEC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112000" y="2966384"/>
            <a:ext cx="4711700" cy="14478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1E7B3D-67E9-63CB-5191-3A7FBCE6F83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12000" y="4520863"/>
            <a:ext cx="4711700" cy="14478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EABDFC4-9BD0-55BC-2846-2FA45EAB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665130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44092"/>
            <a:ext cx="4688683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5533" y="880660"/>
            <a:ext cx="5636494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5126B4-5061-ACE1-29DB-F4E4B9305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6B0ED-8AF6-B2AA-E6DF-421FC9028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49975" y="3482975"/>
            <a:ext cx="5673725" cy="2489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6301254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 dirty="0"/>
              <a:t>0,000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155481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40804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0062" y="2443599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31506" y="2443599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71461" y="2443599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ADD9F-C4DB-21BA-6151-16846D00A1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8301" y="3482975"/>
            <a:ext cx="3310128" cy="25971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EBB524E-5A84-8775-0998-D7CE79E36DC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26" y="3482975"/>
            <a:ext cx="3310128" cy="25971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FB583A4-A0D5-B473-CEAF-7EDB869751B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71461" y="3482975"/>
            <a:ext cx="3310128" cy="25971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FF63D470-D7BD-0CB6-AB02-AD298B18C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45327242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0062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67108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53663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50976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50DA203-9211-4FDA-05C5-46A21042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CEDE5A-24B5-302A-F9C9-38D8A4ED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4F1DDBE-5AF8-4AE5-035D-1455CB119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9888" y="3482975"/>
            <a:ext cx="2396050" cy="279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Content Placeholder 15">
            <a:extLst>
              <a:ext uri="{FF2B5EF4-FFF2-40B4-BE49-F238E27FC236}">
                <a16:creationId xmlns:a16="http://schemas.microsoft.com/office/drawing/2014/main" id="{0506503A-B70F-E2C2-7E96-19228D38F7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71236" y="3482975"/>
            <a:ext cx="2396050" cy="279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Content Placeholder 15">
            <a:extLst>
              <a:ext uri="{FF2B5EF4-FFF2-40B4-BE49-F238E27FC236}">
                <a16:creationId xmlns:a16="http://schemas.microsoft.com/office/drawing/2014/main" id="{099901CA-C5DD-EA1C-B029-123F8C58061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149975" y="3482975"/>
            <a:ext cx="2396050" cy="279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9" name="Content Placeholder 15">
            <a:extLst>
              <a:ext uri="{FF2B5EF4-FFF2-40B4-BE49-F238E27FC236}">
                <a16:creationId xmlns:a16="http://schemas.microsoft.com/office/drawing/2014/main" id="{066BC0D1-1139-9685-3799-963F80B0C90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047405" y="3482975"/>
            <a:ext cx="2396050" cy="279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819295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88305" y="1930138"/>
            <a:ext cx="5670195" cy="40420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172550-E933-8167-0222-DD1326B0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0478187-E2B9-385E-A350-C3EAF7AF28E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8300" y="3482975"/>
            <a:ext cx="3746500" cy="2489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905228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0062" y="1938393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7127" y="1938393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0423" y="1938393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8340" y="1938393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A35449-0894-A02C-8F55-DCFAB1AE4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AA4954E-F516-8DC7-20A3-B649BF25576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696610" cy="1562100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B8FE92CD-7709-9DB8-6AAE-AA80F067440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67127" y="4518025"/>
            <a:ext cx="2696610" cy="1562100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2951703-E32B-EAF8-80B8-BAFE647F14A4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1846" y="4518025"/>
            <a:ext cx="2696610" cy="1562100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66FE3CF3-7037-DD51-3661-1034378DCD3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48340" y="4518025"/>
            <a:ext cx="2696610" cy="1562100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34897230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0586" y="1924016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8300" y="4012229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5682" y="1927615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5682" y="4006850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84C67F-7F12-B485-C133-367619428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4995FEB-FD4F-B089-F6E6-2920F4574AB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924016"/>
            <a:ext cx="2784475" cy="1965325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27422C95-30AE-DA35-26C7-4D859468EE89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4006850"/>
            <a:ext cx="2784475" cy="1965325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EB8C9608-59D0-BF46-B719-9598B6A020EF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5164" y="1924016"/>
            <a:ext cx="2784475" cy="1965325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83B437C6-3E7C-2B00-379C-58EBBE522843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5164" y="4006850"/>
            <a:ext cx="2784475" cy="1965325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4252201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5654660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88FCD4-650D-9754-A431-CE452572F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687505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062" y="1957033"/>
            <a:ext cx="6629400" cy="1482725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7150" y="4823926"/>
            <a:ext cx="6604325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legal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6830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2308466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062" y="1428750"/>
            <a:ext cx="8520907" cy="1933344"/>
          </a:xfrm>
        </p:spPr>
        <p:txBody>
          <a:bodyPr anchor="b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062" y="3490335"/>
            <a:ext cx="8520908" cy="1422978"/>
          </a:xfr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6830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2128132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157" y="1957425"/>
            <a:ext cx="5229304" cy="2441537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7914" y="1930530"/>
            <a:ext cx="4681536" cy="2441538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70157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1408536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0062" y="373155"/>
            <a:ext cx="11453638" cy="351622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062" y="4437010"/>
            <a:ext cx="5630031" cy="1541462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9939" y="4415493"/>
            <a:ext cx="4681536" cy="1541463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6830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7711450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56A229-FEBB-D152-453C-CB7311E22927}"/>
              </a:ext>
            </a:extLst>
          </p:cNvPr>
          <p:cNvSpPr txBox="1"/>
          <p:nvPr userDrawn="1"/>
        </p:nvSpPr>
        <p:spPr>
          <a:xfrm>
            <a:off x="36830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pwc.com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760CE5-544A-F30C-8082-D31FCC54B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25B3EF-B02C-F8B5-CF3D-C9F9193AA5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8523288" cy="4048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1688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89.xml"/><Relationship Id="rId13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91.xml"/><Relationship Id="rId15" Type="http://schemas.openxmlformats.org/officeDocument/2006/relationships/slideLayout" Target="../slideLayouts/slideLayout92.xml"/><Relationship Id="rId16" Type="http://schemas.openxmlformats.org/officeDocument/2006/relationships/slideLayout" Target="../slideLayouts/slideLayout93.xml"/><Relationship Id="rId17" Type="http://schemas.openxmlformats.org/officeDocument/2006/relationships/slideLayout" Target="../slideLayouts/slideLayout94.xml"/><Relationship Id="rId18" Type="http://schemas.openxmlformats.org/officeDocument/2006/relationships/slideLayout" Target="../slideLayouts/slideLayout95.xml"/><Relationship Id="rId19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0.xml"/><Relationship Id="rId24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2.xml"/><Relationship Id="rId26" Type="http://schemas.openxmlformats.org/officeDocument/2006/relationships/slideLayout" Target="../slideLayouts/slideLayout103.xml"/><Relationship Id="rId27" Type="http://schemas.openxmlformats.org/officeDocument/2006/relationships/slideLayout" Target="../slideLayouts/slideLayout104.xml"/><Relationship Id="rId28" Type="http://schemas.openxmlformats.org/officeDocument/2006/relationships/slideLayout" Target="../slideLayouts/slideLayout105.xml"/><Relationship Id="rId29" Type="http://schemas.openxmlformats.org/officeDocument/2006/relationships/slideLayout" Target="../slideLayouts/slideLayout106.xml"/><Relationship Id="rId30" Type="http://schemas.openxmlformats.org/officeDocument/2006/relationships/slideLayout" Target="../slideLayouts/slideLayout107.xml"/><Relationship Id="rId31" Type="http://schemas.openxmlformats.org/officeDocument/2006/relationships/slideLayout" Target="../slideLayouts/slideLayout108.xml"/><Relationship Id="rId32" Type="http://schemas.openxmlformats.org/officeDocument/2006/relationships/slideLayout" Target="../slideLayouts/slideLayout109.xml"/><Relationship Id="rId33" Type="http://schemas.openxmlformats.org/officeDocument/2006/relationships/slideLayout" Target="../slideLayouts/slideLayout110.xml"/><Relationship Id="rId34" Type="http://schemas.openxmlformats.org/officeDocument/2006/relationships/slideLayout" Target="../slideLayouts/slideLayout111.xml"/><Relationship Id="rId35" Type="http://schemas.openxmlformats.org/officeDocument/2006/relationships/slideLayout" Target="../slideLayouts/slideLayout112.xml"/><Relationship Id="rId36" Type="http://schemas.openxmlformats.org/officeDocument/2006/relationships/slideLayout" Target="../slideLayouts/slideLayout113.xml"/><Relationship Id="rId37" Type="http://schemas.openxmlformats.org/officeDocument/2006/relationships/slideLayout" Target="../slideLayouts/slideLayout114.xml"/><Relationship Id="rId38" Type="http://schemas.openxmlformats.org/officeDocument/2006/relationships/slideLayout" Target="../slideLayouts/slideLayout115.xml"/><Relationship Id="rId39" Type="http://schemas.openxmlformats.org/officeDocument/2006/relationships/slideLayout" Target="../slideLayouts/slideLayout116.xml"/><Relationship Id="rId40" Type="http://schemas.openxmlformats.org/officeDocument/2006/relationships/slideLayout" Target="../slideLayouts/slideLayout117.xml"/><Relationship Id="rId41" Type="http://schemas.openxmlformats.org/officeDocument/2006/relationships/slideLayout" Target="../slideLayouts/slideLayout118.xml"/><Relationship Id="rId42" Type="http://schemas.openxmlformats.org/officeDocument/2006/relationships/slideLayout" Target="../slideLayouts/slideLayout119.xml"/><Relationship Id="rId43" Type="http://schemas.openxmlformats.org/officeDocument/2006/relationships/slideLayout" Target="../slideLayouts/slideLayout120.xml"/><Relationship Id="rId44" Type="http://schemas.openxmlformats.org/officeDocument/2006/relationships/slideLayout" Target="../slideLayouts/slideLayout121.xml"/><Relationship Id="rId45" Type="http://schemas.openxmlformats.org/officeDocument/2006/relationships/slideLayout" Target="../slideLayouts/slideLayout122.xml"/><Relationship Id="rId46" Type="http://schemas.openxmlformats.org/officeDocument/2006/relationships/slideLayout" Target="../slideLayouts/slideLayout123.xml"/><Relationship Id="rId47" Type="http://schemas.openxmlformats.org/officeDocument/2006/relationships/slideLayout" Target="../slideLayouts/slideLayout124.xml"/><Relationship Id="rId48" Type="http://schemas.openxmlformats.org/officeDocument/2006/relationships/slideLayout" Target="../slideLayouts/slideLayout125.xml"/><Relationship Id="rId49" Type="http://schemas.openxmlformats.org/officeDocument/2006/relationships/slideLayout" Target="../slideLayouts/slideLayout126.xml"/><Relationship Id="rId50" Type="http://schemas.openxmlformats.org/officeDocument/2006/relationships/slideLayout" Target="../slideLayouts/slideLayout127.xml"/><Relationship Id="rId51" Type="http://schemas.openxmlformats.org/officeDocument/2006/relationships/slideLayout" Target="../slideLayouts/slideLayout128.xml"/><Relationship Id="rId52" Type="http://schemas.openxmlformats.org/officeDocument/2006/relationships/slideLayout" Target="../slideLayouts/slideLayout129.xml"/><Relationship Id="rId53" Type="http://schemas.openxmlformats.org/officeDocument/2006/relationships/slideLayout" Target="../slideLayouts/slideLayout130.xml"/><Relationship Id="rId54" Type="http://schemas.openxmlformats.org/officeDocument/2006/relationships/slideLayout" Target="../slideLayouts/slideLayout131.xml"/><Relationship Id="rId55" Type="http://schemas.openxmlformats.org/officeDocument/2006/relationships/slideLayout" Target="../slideLayouts/slideLayout132.xml"/><Relationship Id="rId56" Type="http://schemas.openxmlformats.org/officeDocument/2006/relationships/slideLayout" Target="../slideLayouts/slideLayout133.xml"/><Relationship Id="rId57" Type="http://schemas.openxmlformats.org/officeDocument/2006/relationships/slideLayout" Target="../slideLayouts/slideLayout134.xml"/><Relationship Id="rId58" Type="http://schemas.openxmlformats.org/officeDocument/2006/relationships/slideLayout" Target="../slideLayouts/slideLayout135.xml"/><Relationship Id="rId59" Type="http://schemas.openxmlformats.org/officeDocument/2006/relationships/slideLayout" Target="../slideLayouts/slideLayout136.xml"/><Relationship Id="rId60" Type="http://schemas.openxmlformats.org/officeDocument/2006/relationships/slideLayout" Target="../slideLayouts/slideLayout137.xml"/><Relationship Id="rId61" Type="http://schemas.openxmlformats.org/officeDocument/2006/relationships/slideLayout" Target="../slideLayouts/slideLayout138.xml"/><Relationship Id="rId62" Type="http://schemas.openxmlformats.org/officeDocument/2006/relationships/slideLayout" Target="../slideLayouts/slideLayout139.xml"/><Relationship Id="rId63" Type="http://schemas.openxmlformats.org/officeDocument/2006/relationships/slideLayout" Target="../slideLayouts/slideLayout140.xml"/><Relationship Id="rId64" Type="http://schemas.openxmlformats.org/officeDocument/2006/relationships/slideLayout" Target="../slideLayouts/slideLayout141.xml"/><Relationship Id="rId65" Type="http://schemas.openxmlformats.org/officeDocument/2006/relationships/slideLayout" Target="../slideLayouts/slideLayout142.xml"/><Relationship Id="rId66" Type="http://schemas.openxmlformats.org/officeDocument/2006/relationships/slideLayout" Target="../slideLayouts/slideLayout143.xml"/><Relationship Id="rId67" Type="http://schemas.openxmlformats.org/officeDocument/2006/relationships/slideLayout" Target="../slideLayouts/slideLayout144.xml"/><Relationship Id="rId68" Type="http://schemas.openxmlformats.org/officeDocument/2006/relationships/slideLayout" Target="../slideLayouts/slideLayout145.xml"/><Relationship Id="rId69" Type="http://schemas.openxmlformats.org/officeDocument/2006/relationships/slideLayout" Target="../slideLayouts/slideLayout146.xml"/><Relationship Id="rId70" Type="http://schemas.openxmlformats.org/officeDocument/2006/relationships/slideLayout" Target="../slideLayouts/slideLayout147.xml"/><Relationship Id="rId71" Type="http://schemas.openxmlformats.org/officeDocument/2006/relationships/slideLayout" Target="../slideLayouts/slideLayout148.xml"/><Relationship Id="rId72" Type="http://schemas.openxmlformats.org/officeDocument/2006/relationships/slideLayout" Target="../slideLayouts/slideLayout149.xml"/><Relationship Id="rId7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Proposal for Global Payments Prague Shared Service Center Transformation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1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4" r:id="rId30"/>
    <p:sldLayoutId id="2147483795" r:id="rId31"/>
    <p:sldLayoutId id="2147483796" r:id="rId32"/>
    <p:sldLayoutId id="2147483797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  <p:sldLayoutId id="2147483804" r:id="rId40"/>
    <p:sldLayoutId id="2147483805" r:id="rId41"/>
    <p:sldLayoutId id="2147483806" r:id="rId42"/>
    <p:sldLayoutId id="2147483807" r:id="rId43"/>
    <p:sldLayoutId id="2147483808" r:id="rId44"/>
    <p:sldLayoutId id="2147483809" r:id="rId45"/>
    <p:sldLayoutId id="2147483810" r:id="rId46"/>
    <p:sldLayoutId id="2147483811" r:id="rId47"/>
    <p:sldLayoutId id="2147483812" r:id="rId48"/>
    <p:sldLayoutId id="2147483813" r:id="rId49"/>
    <p:sldLayoutId id="2147483814" r:id="rId50"/>
    <p:sldLayoutId id="2147483815" r:id="rId51"/>
    <p:sldLayoutId id="2147483816" r:id="rId52"/>
    <p:sldLayoutId id="2147483817" r:id="rId53"/>
    <p:sldLayoutId id="2147483818" r:id="rId54"/>
    <p:sldLayoutId id="2147483819" r:id="rId55"/>
    <p:sldLayoutId id="2147483820" r:id="rId56"/>
    <p:sldLayoutId id="2147483821" r:id="rId57"/>
    <p:sldLayoutId id="2147483822" r:id="rId58"/>
    <p:sldLayoutId id="2147483823" r:id="rId59"/>
    <p:sldLayoutId id="2147483824" r:id="rId60"/>
    <p:sldLayoutId id="2147483825" r:id="rId61"/>
    <p:sldLayoutId id="2147483826" r:id="rId62"/>
    <p:sldLayoutId id="2147483827" r:id="rId63"/>
    <p:sldLayoutId id="2147483828" r:id="rId64"/>
    <p:sldLayoutId id="2147483829" r:id="rId65"/>
    <p:sldLayoutId id="2147483830" r:id="rId66"/>
    <p:sldLayoutId id="2147483831" r:id="rId67"/>
    <p:sldLayoutId id="2147483832" r:id="rId68"/>
    <p:sldLayoutId id="2147483833" r:id="rId69"/>
    <p:sldLayoutId id="2147483834" r:id="rId70"/>
    <p:sldLayoutId id="2147483835" r:id="rId71"/>
    <p:sldLayoutId id="2147483836" r:id="rId72"/>
    <p:sldLayoutId id="2147483837" r:id="rId73"/>
    <p:sldLayoutId id="2147483838" r:id="rId74"/>
    <p:sldLayoutId id="2147483839" r:id="rId75"/>
    <p:sldLayoutId id="2147483841" r:id="rId76"/>
    <p:sldLayoutId id="2147483842" r:id="rId7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440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7" r:id="rId14"/>
    <p:sldLayoutId id="2147483858" r:id="rId15"/>
    <p:sldLayoutId id="2147483859" r:id="rId16"/>
    <p:sldLayoutId id="2147483860" r:id="rId17"/>
    <p:sldLayoutId id="2147483861" r:id="rId18"/>
    <p:sldLayoutId id="2147483862" r:id="rId19"/>
    <p:sldLayoutId id="2147483863" r:id="rId20"/>
    <p:sldLayoutId id="2147483864" r:id="rId21"/>
    <p:sldLayoutId id="2147483865" r:id="rId22"/>
    <p:sldLayoutId id="2147483866" r:id="rId23"/>
    <p:sldLayoutId id="2147483867" r:id="rId24"/>
    <p:sldLayoutId id="2147483868" r:id="rId25"/>
    <p:sldLayoutId id="2147483869" r:id="rId26"/>
    <p:sldLayoutId id="2147483870" r:id="rId27"/>
    <p:sldLayoutId id="2147483871" r:id="rId28"/>
    <p:sldLayoutId id="2147483872" r:id="rId29"/>
    <p:sldLayoutId id="2147483873" r:id="rId30"/>
    <p:sldLayoutId id="2147483874" r:id="rId31"/>
    <p:sldLayoutId id="2147483875" r:id="rId32"/>
    <p:sldLayoutId id="2147483876" r:id="rId33"/>
    <p:sldLayoutId id="2147483877" r:id="rId34"/>
    <p:sldLayoutId id="2147483878" r:id="rId35"/>
    <p:sldLayoutId id="2147483879" r:id="rId36"/>
    <p:sldLayoutId id="2147483880" r:id="rId37"/>
    <p:sldLayoutId id="2147483881" r:id="rId38"/>
    <p:sldLayoutId id="2147483882" r:id="rId39"/>
    <p:sldLayoutId id="2147483883" r:id="rId40"/>
    <p:sldLayoutId id="2147483884" r:id="rId41"/>
    <p:sldLayoutId id="2147483885" r:id="rId42"/>
    <p:sldLayoutId id="2147483886" r:id="rId43"/>
    <p:sldLayoutId id="2147483887" r:id="rId44"/>
    <p:sldLayoutId id="2147483888" r:id="rId45"/>
    <p:sldLayoutId id="2147483889" r:id="rId46"/>
    <p:sldLayoutId id="2147483890" r:id="rId47"/>
    <p:sldLayoutId id="2147483891" r:id="rId48"/>
    <p:sldLayoutId id="2147483892" r:id="rId49"/>
    <p:sldLayoutId id="2147483893" r:id="rId50"/>
    <p:sldLayoutId id="2147483894" r:id="rId51"/>
    <p:sldLayoutId id="2147483895" r:id="rId52"/>
    <p:sldLayoutId id="2147483896" r:id="rId53"/>
    <p:sldLayoutId id="2147483897" r:id="rId54"/>
    <p:sldLayoutId id="2147483898" r:id="rId55"/>
    <p:sldLayoutId id="2147483899" r:id="rId56"/>
    <p:sldLayoutId id="2147483900" r:id="rId57"/>
    <p:sldLayoutId id="2147483901" r:id="rId58"/>
    <p:sldLayoutId id="2147483902" r:id="rId59"/>
    <p:sldLayoutId id="2147483903" r:id="rId60"/>
    <p:sldLayoutId id="2147483904" r:id="rId61"/>
    <p:sldLayoutId id="2147483905" r:id="rId62"/>
    <p:sldLayoutId id="2147483906" r:id="rId63"/>
    <p:sldLayoutId id="2147483907" r:id="rId64"/>
    <p:sldLayoutId id="2147483908" r:id="rId65"/>
    <p:sldLayoutId id="2147483909" r:id="rId66"/>
    <p:sldLayoutId id="2147483910" r:id="rId67"/>
    <p:sldLayoutId id="2147483911" r:id="rId68"/>
    <p:sldLayoutId id="2147483912" r:id="rId69"/>
    <p:sldLayoutId id="2147483913" r:id="rId70"/>
    <p:sldLayoutId id="2147483914" r:id="rId71"/>
    <p:sldLayoutId id="2147483915" r:id="rId7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.xml"/><Relationship Id="rId3" Type="http://schemas.microsoft.com/office/2018/10/relationships/comments" Target="../comments/modernComment_105_6F36AF5E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microsoft.com/office/2018/10/relationships/comments" Target="../comments/modernComment_7FFFF0E7_655FD01C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microsoft.com/office/2018/10/relationships/comments" Target="../comments/modernComment_7FFFF0E8_7CB47E9A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10.png"/><Relationship Id="rId5" Type="http://schemas.openxmlformats.org/officeDocument/2006/relationships/image" Target="../media/image11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microsoft.com/office/2018/10/relationships/comments" Target="../comments/modernComment_7FFFF0E5_598867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Relationship Id="rId5" Type="http://schemas.openxmlformats.org/officeDocument/2006/relationships/image" Target="../media/image14.png"/><Relationship Id="rId6" Type="http://schemas.openxmlformats.org/officeDocument/2006/relationships/image" Target="../media/image15.svg"/><Relationship Id="rId7" Type="http://schemas.openxmlformats.org/officeDocument/2006/relationships/image" Target="../media/image16.png"/><Relationship Id="rId8" Type="http://schemas.openxmlformats.org/officeDocument/2006/relationships/image" Target="../media/image17.svg"/><Relationship Id="rId9" Type="http://schemas.openxmlformats.org/officeDocument/2006/relationships/image" Target="../media/image18.png"/><Relationship Id="rId10" Type="http://schemas.openxmlformats.org/officeDocument/2006/relationships/image" Target="../media/image1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microsoft.com/office/2018/10/relationships/comments" Target="../comments/modernComment_7FFFF0EA_3EF3BD6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Relationship Id="rId4" Type="http://schemas.openxmlformats.org/officeDocument/2006/relationships/image" Target="../media/image26.png"/><Relationship Id="rId5" Type="http://schemas.openxmlformats.org/officeDocument/2006/relationships/image" Target="../media/image27.svg"/><Relationship Id="rId6" Type="http://schemas.openxmlformats.org/officeDocument/2006/relationships/image" Target="../media/image28.png"/><Relationship Id="rId7" Type="http://schemas.openxmlformats.org/officeDocument/2006/relationships/image" Target="../media/image29.svg"/><Relationship Id="rId8" Type="http://schemas.openxmlformats.org/officeDocument/2006/relationships/image" Target="../media/image30.png"/><Relationship Id="rId9" Type="http://schemas.openxmlformats.org/officeDocument/2006/relationships/image" Target="../media/image31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30.png"/><Relationship Id="rId5" Type="http://schemas.openxmlformats.org/officeDocument/2006/relationships/image" Target="../media/image31.svg"/><Relationship Id="rId6" Type="http://schemas.openxmlformats.org/officeDocument/2006/relationships/image" Target="../media/image32.png"/><Relationship Id="rId7" Type="http://schemas.openxmlformats.org/officeDocument/2006/relationships/image" Target="../media/image33.svg"/><Relationship Id="rId8" Type="http://schemas.openxmlformats.org/officeDocument/2006/relationships/image" Target="../media/image34.png"/><Relationship Id="rId9" Type="http://schemas.openxmlformats.org/officeDocument/2006/relationships/image" Target="../media/image35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8867C-3856-C0D9-DCE0-ADBD5C0B6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BF121-4939-9A21-A839-230CC776A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7309205" cy="1828800"/>
          </a:xfrm>
        </p:spPr>
        <p:txBody>
          <a:bodyPr wrap="square" anchor="t">
            <a:normAutofit/>
          </a:bodyPr>
          <a:lstStyle/>
          <a:p>
            <a:r>
              <a:rPr sz="1600" b="0">
                <a:latin typeface="Arial"/>
              </a:rPr>
              <a:t>Project Vienna</a:t>
            </a:r>
            <a:endParaRPr lang="en-GB" noProof="0" dirty="0"/>
          </a:p>
          <a:p>
            <a:r>
              <a:rPr sz="1500" b="0">
                <a:latin typeface="Arial"/>
              </a:rPr>
              <a:t>Diagnostic and Discovery Phase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6D45FBCF-F654-37CF-10CA-7AB40D869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 anchor="t">
            <a:normAutofit/>
          </a:bodyPr>
          <a:lstStyle/>
          <a:p>
            <a:pPr/>
            <a:r>
              <a:rPr sz="1500" b="1">
                <a:latin typeface="Arial"/>
              </a:rPr>
              <a:t>Global Payments Europe</a:t>
            </a:r>
          </a:p>
          <a:p>
            <a:pPr/>
            <a:r>
              <a:rPr sz="1500" b="1">
                <a:latin typeface="Arial"/>
              </a:rPr>
              <a:t>PwC</a:t>
            </a:r>
          </a:p>
          <a:p>
            <a:pPr/>
            <a:r>
              <a:rPr sz="1500" b="1">
                <a:latin typeface="Arial"/>
              </a:rPr>
              <a:t>31. May 2026</a:t>
            </a:r>
          </a:p>
        </p:txBody>
      </p:sp>
    </p:spTree>
    <p:extLst>
      <p:ext uri="{BB962C8B-B14F-4D97-AF65-F5344CB8AC3E}">
        <p14:creationId xmlns:p14="http://schemas.microsoft.com/office/powerpoint/2010/main" val="18658548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DC972-CE22-3736-B49D-44AAE30B4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sz="1600" b="0">
                <a:latin typeface="Arial"/>
              </a:rPr>
              <a:t>What? — Problem Statement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500" b="0">
                <a:latin typeface="Arial"/>
              </a:rPr>
              <a:t>Establishing a Fact-Based Operating Model View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2B4FD-76D5-9095-D162-023313862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 anchor="t">
            <a:normAutofit/>
          </a:bodyPr>
          <a:lstStyle/>
          <a:p>
            <a:r>
              <a:rPr sz="1000" b="0">
                <a:latin typeface="Arial"/>
              </a:rPr>
              <a:t>Project Vienna — Diagnostic and Discovery Phase | Global Payments Europe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9B659-9779-6F7C-D935-A7C7CD980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anchor="t">
            <a:noAutofit/>
          </a:bodyPr>
          <a:lstStyle/>
          <a:p>
            <a:r>
              <a:rPr sz="1000" b="0">
                <a:latin typeface="Arial"/>
              </a:rPr>
              <a:t>2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C8055C-82D6-DB3F-586E-EF8BD5DD3D9F}"/>
              </a:ext>
            </a:extLst>
          </p:cNvPr>
          <p:cNvSpPr txBox="1"/>
          <p:nvPr/>
        </p:nvSpPr>
        <p:spPr>
          <a:xfrm>
            <a:off x="385110" y="1511054"/>
            <a:ext cx="11399691" cy="64633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200" b="0">
                <a:latin typeface="Arial"/>
              </a:rPr>
              <a:t>Global Payments Europe currently operates a shared service center in Prague alongside multiple Joint Ventures (“JVs”) that perform services and processes locally. Over time, this has created a…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E9B396-1FCF-060A-1358-1079DDC1DE7C}"/>
              </a:ext>
            </a:extLst>
          </p:cNvPr>
          <p:cNvSpPr txBox="1"/>
          <p:nvPr/>
        </p:nvSpPr>
        <p:spPr>
          <a:xfrm>
            <a:off x="349596" y="5665841"/>
            <a:ext cx="11492808" cy="5232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200" b="1">
                <a:latin typeface="Arial"/>
              </a:rPr>
              <a:t>The key objective is to determine which services should be transitioned from the JVs to the shared service center, which existing JV capabilities could be scaled as best practice…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9F75988-67E2-03F9-4FFB-0F366D281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080780"/>
              </p:ext>
            </p:extLst>
          </p:nvPr>
        </p:nvGraphicFramePr>
        <p:xfrm>
          <a:off x="402335" y="2493291"/>
          <a:ext cx="11399691" cy="2883611"/>
        </p:xfrm>
        <a:graphic>
          <a:graphicData uri="http://schemas.openxmlformats.org/drawingml/2006/table">
            <a:tbl>
              <a:tblPr/>
              <a:tblGrid>
                <a:gridCol w="5288924">
                  <a:extLst>
                    <a:ext uri="{9D8B030D-6E8A-4147-A177-3AD203B41FA5}">
                      <a16:colId xmlns:a16="http://schemas.microsoft.com/office/drawing/2014/main" val="354675630"/>
                    </a:ext>
                  </a:extLst>
                </a:gridCol>
                <a:gridCol w="6110767">
                  <a:extLst>
                    <a:ext uri="{9D8B030D-6E8A-4147-A177-3AD203B41FA5}">
                      <a16:colId xmlns:a16="http://schemas.microsoft.com/office/drawing/2014/main" val="3304284731"/>
                    </a:ext>
                  </a:extLst>
                </a:gridCol>
              </a:tblGrid>
              <a:tr h="377583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400" b="1" dirty="0">
                          <a:solidFill>
                            <a:srgbClr val="111827"/>
                          </a:solidFill>
                          <a:effectLst/>
                        </a:rPr>
                        <a:t>Client's Framework</a:t>
                      </a:r>
                    </a:p>
                  </a:txBody>
                  <a:tcPr marT="72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400" b="1" dirty="0">
                          <a:solidFill>
                            <a:srgbClr val="111827"/>
                          </a:solidFill>
                          <a:effectLst/>
                        </a:rPr>
                        <a:t>PwC's Response</a:t>
                      </a:r>
                    </a:p>
                  </a:txBody>
                  <a:tcPr marT="72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735436"/>
                  </a:ext>
                </a:extLst>
              </a:tr>
              <a:tr h="490950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200" dirty="0">
                          <a:effectLst/>
                        </a:rPr>
                        <a:t>01 — WHAT is an SSC</a:t>
                      </a:r>
                    </a:p>
                  </a:txBody>
                  <a:tcPr marT="72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200" dirty="0">
                          <a:effectLst/>
                        </a:rPr>
                        <a:t>✅  Validated — we align to the GP SSC definition</a:t>
                      </a:r>
                    </a:p>
                  </a:txBody>
                  <a:tcPr marT="72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979030"/>
                  </a:ext>
                </a:extLst>
              </a:tr>
              <a:tr h="490950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200" dirty="0">
                          <a:effectLst/>
                        </a:rPr>
                        <a:t>02 — WHY do we need an SSC</a:t>
                      </a:r>
                    </a:p>
                  </a:txBody>
                  <a:tcPr marT="72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200" dirty="0">
                          <a:effectLst/>
                        </a:rPr>
                        <a:t>✅  </a:t>
                      </a:r>
                      <a:r>
                        <a:rPr lang="en-GB" sz="1200" b="1" dirty="0">
                          <a:effectLst/>
                        </a:rPr>
                        <a:t>Challenges mapped</a:t>
                      </a:r>
                      <a:r>
                        <a:rPr lang="en-GB" sz="1200" dirty="0">
                          <a:effectLst/>
                        </a:rPr>
                        <a:t> — our workstreams address each one</a:t>
                      </a:r>
                    </a:p>
                  </a:txBody>
                  <a:tcPr marT="72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15980"/>
                  </a:ext>
                </a:extLst>
              </a:tr>
              <a:tr h="490950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200" dirty="0">
                          <a:effectLst/>
                        </a:rPr>
                        <a:t>03 — BENEFITS for JVs &amp; Enterprise</a:t>
                      </a:r>
                    </a:p>
                  </a:txBody>
                  <a:tcPr marT="72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200" dirty="0">
                          <a:effectLst/>
                        </a:rPr>
                        <a:t>✅  </a:t>
                      </a:r>
                      <a:r>
                        <a:rPr lang="en-GB" sz="1200" b="1" dirty="0">
                          <a:effectLst/>
                        </a:rPr>
                        <a:t>Benefits realization </a:t>
                      </a:r>
                      <a:r>
                        <a:rPr lang="en-GB" sz="1200" dirty="0">
                          <a:effectLst/>
                        </a:rPr>
                        <a:t>framework embedded in our approach</a:t>
                      </a:r>
                    </a:p>
                  </a:txBody>
                  <a:tcPr marT="72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131154"/>
                  </a:ext>
                </a:extLst>
              </a:tr>
              <a:tr h="542228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200">
                          <a:effectLst/>
                        </a:rPr>
                        <a:t>04 — TOM &amp; Governance</a:t>
                      </a:r>
                    </a:p>
                  </a:txBody>
                  <a:tcPr marT="72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200" dirty="0">
                          <a:effectLst/>
                        </a:rPr>
                        <a:t>✅  </a:t>
                      </a:r>
                      <a:r>
                        <a:rPr lang="en-GB" sz="1200" b="1" dirty="0">
                          <a:solidFill>
                            <a:srgbClr val="111827"/>
                          </a:solidFill>
                          <a:effectLst/>
                        </a:rPr>
                        <a:t>Core of our proposal</a:t>
                      </a:r>
                      <a:r>
                        <a:rPr lang="en-GB" sz="1200" dirty="0">
                          <a:effectLst/>
                        </a:rPr>
                        <a:t> — RACI, Business Partnering, PMO, Intake</a:t>
                      </a:r>
                    </a:p>
                  </a:txBody>
                  <a:tcPr marT="72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433222"/>
                  </a:ext>
                </a:extLst>
              </a:tr>
              <a:tr h="490950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200" dirty="0">
                          <a:effectLst/>
                        </a:rPr>
                        <a:t>05 — The Road to </a:t>
                      </a:r>
                      <a:r>
                        <a:rPr lang="en-GB" sz="1200" dirty="0" err="1">
                          <a:effectLst/>
                        </a:rPr>
                        <a:t>SSCuccess</a:t>
                      </a:r>
                      <a:endParaRPr lang="en-GB" sz="1200" dirty="0">
                        <a:effectLst/>
                      </a:endParaRPr>
                    </a:p>
                  </a:txBody>
                  <a:tcPr marT="72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200" dirty="0">
                          <a:effectLst/>
                        </a:rPr>
                        <a:t>✅  </a:t>
                      </a:r>
                      <a:r>
                        <a:rPr lang="en-GB" sz="1200" b="1" dirty="0">
                          <a:effectLst/>
                        </a:rPr>
                        <a:t>Detailed phased roadmap with timelines</a:t>
                      </a:r>
                    </a:p>
                  </a:txBody>
                  <a:tcPr marT="72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781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7780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DF2E7-6617-CF68-F71C-6E411A5F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sz="1600" b="0">
                <a:latin typeface="Arial"/>
              </a:rPr>
              <a:t>So What? — Opportunities During Discovery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500" b="0">
                <a:latin typeface="Arial"/>
              </a:rPr>
              <a:t>Key Focus Areas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6C4EA6-C2B1-6165-B331-D27F3822BE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 anchor="t">
            <a:normAutofit/>
          </a:bodyPr>
          <a:lstStyle/>
          <a:p>
            <a:r>
              <a:rPr sz="1000" b="0">
                <a:latin typeface="Arial"/>
              </a:rPr>
              <a:t>Project Vienna — Diagnostic and Discovery Phase | Global Payments Europe</a:t>
            </a:r>
            <a:endParaRPr lang="en-US"/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88CAA057-C67C-AC9B-CD46-2E2B18461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anchor="t">
            <a:noAutofit/>
          </a:bodyPr>
          <a:lstStyle/>
          <a:p>
            <a:r>
              <a:rPr sz="1000" b="0">
                <a:latin typeface="Arial"/>
              </a:rPr>
              <a:t>3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73EBA0-3FA3-05BC-17C4-0C2E7E5D1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70060"/>
              </p:ext>
            </p:extLst>
          </p:nvPr>
        </p:nvGraphicFramePr>
        <p:xfrm>
          <a:off x="402335" y="1794440"/>
          <a:ext cx="11432916" cy="4263689"/>
        </p:xfrm>
        <a:graphic>
          <a:graphicData uri="http://schemas.openxmlformats.org/drawingml/2006/table">
            <a:tbl>
              <a:tblPr firstRow="1" bandRow="1">
                <a:tableStyleId>{EC741567-8280-421E-8F88-9B89CA1CAF18}</a:tableStyleId>
              </a:tblPr>
              <a:tblGrid>
                <a:gridCol w="3810972">
                  <a:extLst>
                    <a:ext uri="{9D8B030D-6E8A-4147-A177-3AD203B41FA5}">
                      <a16:colId xmlns:a16="http://schemas.microsoft.com/office/drawing/2014/main" val="4198909760"/>
                    </a:ext>
                  </a:extLst>
                </a:gridCol>
                <a:gridCol w="3810972">
                  <a:extLst>
                    <a:ext uri="{9D8B030D-6E8A-4147-A177-3AD203B41FA5}">
                      <a16:colId xmlns:a16="http://schemas.microsoft.com/office/drawing/2014/main" val="2518726710"/>
                    </a:ext>
                  </a:extLst>
                </a:gridCol>
                <a:gridCol w="3810972">
                  <a:extLst>
                    <a:ext uri="{9D8B030D-6E8A-4147-A177-3AD203B41FA5}">
                      <a16:colId xmlns:a16="http://schemas.microsoft.com/office/drawing/2014/main" val="2179908464"/>
                    </a:ext>
                  </a:extLst>
                </a:gridCol>
              </a:tblGrid>
              <a:tr h="399108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500" b="1">
                          <a:latin typeface="Arial"/>
                        </a:rPr>
                        <a:t>Opportunity Area</a:t>
                      </a:r>
                      <a:endParaRPr lang="en-SK" sz="14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500" b="1">
                          <a:latin typeface="Arial"/>
                        </a:rPr>
                        <a:t>Discovery Focus</a:t>
                      </a:r>
                      <a:endParaRPr lang="en-SK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endParaRPr lang="en-SK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468334"/>
                  </a:ext>
                </a:extLst>
              </a:tr>
              <a:tr h="552083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00" b="1">
                          <a:latin typeface="Arial"/>
                        </a:rPr>
                        <a:t>Service &amp; Process Transparency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00" b="0">
                          <a:latin typeface="Arial"/>
                        </a:rPr>
                        <a:t>Complete inventory across SSC, JVs and HQ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/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9277969"/>
                  </a:ext>
                </a:extLst>
              </a:tr>
              <a:tr h="552083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00" b="1">
                          <a:latin typeface="Arial"/>
                        </a:rPr>
                        <a:t>Reduce Duplication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00" b="0">
                          <a:latin typeface="Arial"/>
                        </a:rPr>
                        <a:t>Identify parallel execution across entities</a:t>
                      </a:r>
                      <a:endParaRPr lang="en-SK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/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9442254"/>
                  </a:ext>
                </a:extLst>
              </a:tr>
              <a:tr h="552083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00" b="1">
                          <a:latin typeface="Arial"/>
                        </a:rPr>
                        <a:t>JV Best Practices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00" b="0">
                          <a:latin typeface="Arial"/>
                        </a:rPr>
                        <a:t>Assess scalable mature capabilities in JVs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/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8276561"/>
                  </a:ext>
                </a:extLst>
              </a:tr>
              <a:tr h="552083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00" b="1">
                          <a:latin typeface="Arial"/>
                        </a:rPr>
                        <a:t>Service Placement Decisions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00" b="0">
                          <a:latin typeface="Arial"/>
                        </a:rPr>
                        <a:t>Criteria for local vs. central vs. scale-up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/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14282"/>
                  </a:ext>
                </a:extLst>
              </a:tr>
              <a:tr h="552083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00" b="1">
                          <a:latin typeface="Arial"/>
                        </a:rPr>
                        <a:t>RACI &amp; Governance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00" b="0">
                          <a:latin typeface="Arial"/>
                        </a:rPr>
                        <a:t>Clarify accountability between JVs, SSC and HQ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/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9095656"/>
                  </a:ext>
                </a:extLst>
              </a:tr>
              <a:tr h="552083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00" b="1">
                          <a:latin typeface="Arial"/>
                        </a:rPr>
                        <a:t>P&amp;L &amp; Cost Visibility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00" b="0">
                          <a:latin typeface="Arial"/>
                        </a:rPr>
                        <a:t>Baseline cost, headcount and allocations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/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6569082"/>
                  </a:ext>
                </a:extLst>
              </a:tr>
              <a:tr h="552083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00" b="1">
                          <a:latin typeface="Arial"/>
                        </a:rPr>
                        <a:t>Scalable JV Launch Model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00" b="0">
                          <a:latin typeface="Arial"/>
                        </a:rPr>
                        <a:t>Inputs for operational playbook and template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/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1974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2036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22AA-1080-AB8B-954C-84188860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sz="1600" b="0">
                <a:latin typeface="Arial"/>
              </a:rPr>
              <a:t>Expected Outputs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500" b="0">
                <a:latin typeface="Arial"/>
              </a:rPr>
              <a:t>End-of-Discovery Deliverables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86F8B-2364-E76C-9CFC-65FE644D1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 anchor="t">
            <a:normAutofit/>
          </a:bodyPr>
          <a:lstStyle/>
          <a:p>
            <a:r>
              <a:rPr sz="1000" b="0">
                <a:latin typeface="Arial"/>
              </a:rPr>
              <a:t>Project Vienna — Diagnostic and Discovery Phase | Global Payments Europe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5C672-A958-594B-2D58-73E6A5697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anchor="t">
            <a:noAutofit/>
          </a:bodyPr>
          <a:lstStyle/>
          <a:p>
            <a:r>
              <a:rPr sz="1000" b="0">
                <a:latin typeface="Arial"/>
              </a:rPr>
              <a:t>8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BECEA3-A908-2BA7-42EF-73070A0B6586}"/>
              </a:ext>
            </a:extLst>
          </p:cNvPr>
          <p:cNvSpPr txBox="1"/>
          <p:nvPr/>
        </p:nvSpPr>
        <p:spPr>
          <a:xfrm>
            <a:off x="380691" y="1317625"/>
            <a:ext cx="5643697" cy="4990185"/>
          </a:xfrm>
          <a:prstGeom prst="rect">
            <a:avLst/>
          </a:prstGeom>
          <a:solidFill>
            <a:srgbClr val="F5F7F8"/>
          </a:solidFill>
        </p:spPr>
        <p:txBody>
          <a:bodyPr wrap="square" lIns="108000" tIns="108000" rIns="0" bIns="0" rtlCol="0" anchor="t">
            <a:normAutofit/>
          </a:bodyPr>
          <a:lstStyle/>
          <a:p>
            <a:pPr>
              <a:spcAft>
                <a:spcPts val="300"/>
              </a:spcAft>
            </a:pPr>
            <a:r>
              <a:rPr sz="1500" b="1">
                <a:latin typeface="Arial"/>
              </a:rPr>
              <a:t>Key Deliverables</a:t>
            </a:r>
          </a:p>
          <a:p>
            <a:pPr lvl="1"/>
            <a:r>
              <a:rPr sz="1200" b="1">
                <a:latin typeface="Arial"/>
              </a:rPr>
              <a:t>• Service and process inventory (SSC, JVs, HQ)</a:t>
            </a:r>
          </a:p>
          <a:p>
            <a:pPr lvl="1"/>
            <a:r>
              <a:rPr sz="1200" b="1">
                <a:latin typeface="Arial"/>
              </a:rPr>
              <a:t>• Process maps for priority services</a:t>
            </a:r>
          </a:p>
          <a:p>
            <a:pPr lvl="1"/>
            <a:r>
              <a:rPr sz="1200" b="1">
                <a:latin typeface="Arial"/>
              </a:rPr>
              <a:t>• RACI matrix and decision rights</a:t>
            </a:r>
          </a:p>
          <a:p>
            <a:pPr lvl="1"/>
            <a:r>
              <a:rPr sz="1200" b="1">
                <a:latin typeface="Arial"/>
              </a:rPr>
              <a:t>• P&amp;L, cost and headcount baseline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848E1F-1ACE-9817-DFE5-E9624DCD40A0}"/>
              </a:ext>
            </a:extLst>
          </p:cNvPr>
          <p:cNvSpPr/>
          <p:nvPr/>
        </p:nvSpPr>
        <p:spPr>
          <a:xfrm>
            <a:off x="514633" y="2898184"/>
            <a:ext cx="5375812" cy="1640888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>
              <a:spcAft>
                <a:spcPts val="300"/>
              </a:spcAft>
            </a:p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8F66C5A-6437-C362-24FF-584CCEBFAA68}"/>
              </a:ext>
            </a:extLst>
          </p:cNvPr>
          <p:cNvSpPr/>
          <p:nvPr/>
        </p:nvSpPr>
        <p:spPr>
          <a:xfrm>
            <a:off x="514633" y="4677564"/>
            <a:ext cx="5375812" cy="146866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>
              <a:spcAft>
                <a:spcPts val="300"/>
              </a:spcAft>
            </a:p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F9F11F-6E27-A3B0-F1F2-A30123214495}"/>
              </a:ext>
            </a:extLst>
          </p:cNvPr>
          <p:cNvSpPr txBox="1"/>
          <p:nvPr/>
        </p:nvSpPr>
        <p:spPr>
          <a:xfrm>
            <a:off x="6158329" y="1317625"/>
            <a:ext cx="5643697" cy="4990185"/>
          </a:xfrm>
          <a:prstGeom prst="rect">
            <a:avLst/>
          </a:prstGeom>
          <a:solidFill>
            <a:srgbClr val="F5F7F8"/>
          </a:solidFill>
        </p:spPr>
        <p:txBody>
          <a:bodyPr wrap="square" lIns="108000" tIns="108000" rIns="0" bIns="0" rtlCol="0" anchor="t">
            <a:normAutofit/>
          </a:bodyPr>
          <a:lstStyle/>
          <a:p>
            <a:pPr>
              <a:spcAft>
                <a:spcPts val="300"/>
              </a:spcAft>
            </a:pPr>
            <a:r>
              <a:rPr sz="1500" b="1">
                <a:latin typeface="Arial"/>
              </a:rPr>
              <a:t>Analysis &amp; Recommendations</a:t>
            </a:r>
          </a:p>
          <a:p>
            <a:pPr lvl="1"/>
            <a:r>
              <a:rPr sz="1200" b="1">
                <a:latin typeface="Arial"/>
              </a:rPr>
              <a:t>• Duplication and fragmentation analysis</a:t>
            </a:r>
          </a:p>
          <a:p>
            <a:pPr lvl="1"/>
            <a:r>
              <a:rPr sz="1200" b="1">
                <a:latin typeface="Arial"/>
              </a:rPr>
              <a:t>• JV best-practice scale-up assessment</a:t>
            </a:r>
          </a:p>
          <a:p>
            <a:pPr lvl="1"/>
            <a:r>
              <a:rPr sz="1200" b="1">
                <a:latin typeface="Arial"/>
              </a:rPr>
              <a:t>• Service placement recommendations</a:t>
            </a:r>
          </a:p>
          <a:p>
            <a:pPr lvl="1"/>
            <a:r>
              <a:rPr sz="1200" b="1">
                <a:latin typeface="Arial"/>
              </a:rPr>
              <a:t>• Playbook and deployment template inputs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48B963-DA1B-4FA4-9EDF-4200403C8F05}"/>
              </a:ext>
            </a:extLst>
          </p:cNvPr>
          <p:cNvSpPr/>
          <p:nvPr/>
        </p:nvSpPr>
        <p:spPr>
          <a:xfrm>
            <a:off x="6292271" y="2898184"/>
            <a:ext cx="5375812" cy="1640888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>
              <a:spcAft>
                <a:spcPts val="300"/>
              </a:spcAft>
            </a:p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942049B-D25E-EB24-1A63-4EF216568A5B}"/>
              </a:ext>
            </a:extLst>
          </p:cNvPr>
          <p:cNvSpPr/>
          <p:nvPr/>
        </p:nvSpPr>
        <p:spPr>
          <a:xfrm>
            <a:off x="6292271" y="4677564"/>
            <a:ext cx="5375812" cy="146866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>
              <a:spcAft>
                <a:spcPts val="300"/>
              </a:spcAft>
            </a:p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0AECD26-362A-757A-7351-D5A1A0998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3683" y="1625994"/>
            <a:ext cx="914400" cy="914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4711455-5A7A-DAE8-2962-AD8332B5FA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76045" y="162599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694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B49D-5F1F-173A-EE79-02E47B7F6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sz="1600" b="0">
                <a:latin typeface="Arial"/>
              </a:rPr>
              <a:t>Industry Standards &amp; Methodologies</a:t>
            </a:r>
            <a:endParaRPr lang="sk-SK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500" b="0">
                <a:latin typeface="Arial"/>
              </a:rPr>
              <a:t>Structured Discovery Techniques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078F26-1780-BB89-0388-B3F837344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7626" y="6476734"/>
            <a:ext cx="8814816" cy="161583"/>
          </a:xfrm>
        </p:spPr>
        <p:txBody>
          <a:bodyPr wrap="square" anchor="t">
            <a:normAutofit/>
          </a:bodyPr>
          <a:lstStyle/>
          <a:p>
            <a:r>
              <a:rPr sz="1000" b="0">
                <a:latin typeface="Arial"/>
              </a:rPr>
              <a:t>Project Vienna — Diagnostic and Discovery Phase | Global Payments Europe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B7C430-B669-EB01-1B60-22E4B43E1B28}"/>
              </a:ext>
            </a:extLst>
          </p:cNvPr>
          <p:cNvSpPr txBox="1"/>
          <p:nvPr/>
        </p:nvSpPr>
        <p:spPr>
          <a:xfrm>
            <a:off x="4946707" y="2287344"/>
            <a:ext cx="2214551" cy="4062522"/>
          </a:xfrm>
          <a:prstGeom prst="rect">
            <a:avLst/>
          </a:prstGeom>
          <a:noFill/>
        </p:spPr>
        <p:txBody>
          <a:bodyPr wrap="square" lIns="0" rIns="108000" anchor="t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000000"/>
                </a:solidFill>
                <a:latin typeface="Arial"/>
              </a:rPr>
              <a:t>Lean Six Sigma</a:t>
            </a:r>
          </a:p>
          <a:p>
            <a:pPr/>
            <a:r>
              <a:rPr sz="1200" b="1">
                <a:solidFill>
                  <a:srgbClr val="000000"/>
                </a:solidFill>
                <a:latin typeface="Arial"/>
              </a:rPr>
              <a:t>Waste, rework and variation diagnostics.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E950E2-2296-77C7-C6D3-7FC22697717F}"/>
              </a:ext>
            </a:extLst>
          </p:cNvPr>
          <p:cNvSpPr txBox="1"/>
          <p:nvPr/>
        </p:nvSpPr>
        <p:spPr>
          <a:xfrm>
            <a:off x="2680410" y="2287344"/>
            <a:ext cx="2214552" cy="4216411"/>
          </a:xfrm>
          <a:prstGeom prst="rect">
            <a:avLst/>
          </a:prstGeom>
          <a:noFill/>
        </p:spPr>
        <p:txBody>
          <a:bodyPr wrap="square" lIns="0" rIns="108000" anchor="t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000000"/>
                </a:solidFill>
                <a:latin typeface="Arial"/>
              </a:rPr>
              <a:t>SIPOC &amp; Process Maps</a:t>
            </a:r>
          </a:p>
          <a:p>
            <a:pPr/>
            <a:r>
              <a:rPr sz="1200" b="1">
                <a:solidFill>
                  <a:srgbClr val="000000"/>
                </a:solidFill>
                <a:latin typeface="Arial"/>
              </a:rPr>
              <a:t>End-to-end boundaries, handoffs and controls.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2C79AE-F340-5C80-1697-32E0DC88E452}"/>
              </a:ext>
            </a:extLst>
          </p:cNvPr>
          <p:cNvSpPr txBox="1"/>
          <p:nvPr/>
        </p:nvSpPr>
        <p:spPr>
          <a:xfrm>
            <a:off x="402336" y="2287344"/>
            <a:ext cx="2214548" cy="4163769"/>
          </a:xfrm>
          <a:prstGeom prst="rect">
            <a:avLst/>
          </a:prstGeom>
          <a:noFill/>
        </p:spPr>
        <p:txBody>
          <a:bodyPr wrap="square" lIns="0" rIns="108000" anchor="t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000000"/>
                </a:solidFill>
                <a:latin typeface="Arial"/>
              </a:rPr>
              <a:t>Service Catalogue</a:t>
            </a:r>
          </a:p>
          <a:p>
            <a:pPr/>
            <a:r>
              <a:rPr sz="1200" b="1">
                <a:solidFill>
                  <a:srgbClr val="000000"/>
                </a:solidFill>
                <a:latin typeface="Arial"/>
              </a:rPr>
              <a:t>APQC-aligned taxonomy for like-for-like comparison.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D055BB-B948-8DCC-EECA-8DF4C9A80C7E}"/>
              </a:ext>
            </a:extLst>
          </p:cNvPr>
          <p:cNvCxnSpPr>
            <a:cxnSpLocks/>
          </p:cNvCxnSpPr>
          <p:nvPr/>
        </p:nvCxnSpPr>
        <p:spPr>
          <a:xfrm>
            <a:off x="402334" y="2143118"/>
            <a:ext cx="222213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796AAC-FCEC-4139-66A7-7CFAF9F64E95}"/>
              </a:ext>
            </a:extLst>
          </p:cNvPr>
          <p:cNvCxnSpPr>
            <a:cxnSpLocks/>
          </p:cNvCxnSpPr>
          <p:nvPr/>
        </p:nvCxnSpPr>
        <p:spPr>
          <a:xfrm>
            <a:off x="2676620" y="2143118"/>
            <a:ext cx="222213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F0072D-5F67-CFC7-AEE6-FC975976962C}"/>
              </a:ext>
            </a:extLst>
          </p:cNvPr>
          <p:cNvCxnSpPr>
            <a:cxnSpLocks/>
          </p:cNvCxnSpPr>
          <p:nvPr/>
        </p:nvCxnSpPr>
        <p:spPr>
          <a:xfrm>
            <a:off x="4954292" y="2143118"/>
            <a:ext cx="222213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D158DB1-959B-51BF-D716-1D6F18B0B744}"/>
              </a:ext>
            </a:extLst>
          </p:cNvPr>
          <p:cNvSpPr txBox="1"/>
          <p:nvPr/>
        </p:nvSpPr>
        <p:spPr>
          <a:xfrm>
            <a:off x="7224785" y="2287344"/>
            <a:ext cx="2214549" cy="4119076"/>
          </a:xfrm>
          <a:prstGeom prst="rect">
            <a:avLst/>
          </a:prstGeom>
          <a:noFill/>
        </p:spPr>
        <p:txBody>
          <a:bodyPr wrap="square" lIns="0" rIns="108000" anchor="t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000000"/>
                </a:solidFill>
                <a:latin typeface="Arial"/>
              </a:rPr>
              <a:t>RACI / RAPID</a:t>
            </a:r>
          </a:p>
          <a:p>
            <a:pPr/>
            <a:r>
              <a:rPr sz="1200" b="1">
                <a:solidFill>
                  <a:srgbClr val="000000"/>
                </a:solidFill>
                <a:latin typeface="Arial"/>
              </a:rPr>
              <a:t>Workshop-based role and decision-rights clarity.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633FAF-1CC1-36D1-7513-289EFF1E6011}"/>
              </a:ext>
            </a:extLst>
          </p:cNvPr>
          <p:cNvCxnSpPr>
            <a:cxnSpLocks/>
          </p:cNvCxnSpPr>
          <p:nvPr/>
        </p:nvCxnSpPr>
        <p:spPr>
          <a:xfrm>
            <a:off x="7224785" y="2143118"/>
            <a:ext cx="222213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A729AEF-7B06-D545-2E18-4DECBF8FDA2B}"/>
              </a:ext>
            </a:extLst>
          </p:cNvPr>
          <p:cNvSpPr txBox="1"/>
          <p:nvPr/>
        </p:nvSpPr>
        <p:spPr>
          <a:xfrm>
            <a:off x="4946707" y="1145303"/>
            <a:ext cx="2319985" cy="96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03</a:t>
            </a:r>
            <a:endParaRPr kumimoji="0" lang="en-GB" sz="48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5BC67F-01BA-1E44-B112-C0449764D6E9}"/>
              </a:ext>
            </a:extLst>
          </p:cNvPr>
          <p:cNvSpPr txBox="1"/>
          <p:nvPr/>
        </p:nvSpPr>
        <p:spPr>
          <a:xfrm>
            <a:off x="2672828" y="1145303"/>
            <a:ext cx="2319985" cy="96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02</a:t>
            </a:r>
            <a:endParaRPr kumimoji="0" lang="en-GB" sz="48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A2E71F-DDE1-3750-46DB-7BD713DDA78C}"/>
              </a:ext>
            </a:extLst>
          </p:cNvPr>
          <p:cNvSpPr txBox="1"/>
          <p:nvPr/>
        </p:nvSpPr>
        <p:spPr>
          <a:xfrm>
            <a:off x="402335" y="1145303"/>
            <a:ext cx="2319985" cy="96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01</a:t>
            </a:r>
            <a:endParaRPr kumimoji="0" lang="en-GB" sz="48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B13229-B6EE-4032-880B-5712AEE5E58D}"/>
              </a:ext>
            </a:extLst>
          </p:cNvPr>
          <p:cNvSpPr txBox="1"/>
          <p:nvPr/>
        </p:nvSpPr>
        <p:spPr>
          <a:xfrm>
            <a:off x="7217201" y="1145303"/>
            <a:ext cx="2319985" cy="96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04</a:t>
            </a:r>
            <a:endParaRPr kumimoji="0" lang="en-GB" sz="48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73EBEC-D307-ED82-FBE8-4156E59D5885}"/>
              </a:ext>
            </a:extLst>
          </p:cNvPr>
          <p:cNvSpPr txBox="1"/>
          <p:nvPr/>
        </p:nvSpPr>
        <p:spPr>
          <a:xfrm>
            <a:off x="9489623" y="2287344"/>
            <a:ext cx="2319985" cy="4119076"/>
          </a:xfrm>
          <a:prstGeom prst="rect">
            <a:avLst/>
          </a:prstGeom>
          <a:noFill/>
        </p:spPr>
        <p:txBody>
          <a:bodyPr wrap="square" lIns="0" rIns="108000" anchor="t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000000"/>
                </a:solidFill>
                <a:latin typeface="Arial"/>
              </a:rPr>
              <a:t>GBS Maturity Lens</a:t>
            </a:r>
          </a:p>
          <a:p>
            <a:pPr/>
            <a:r>
              <a:rPr sz="1200" b="1">
                <a:solidFill>
                  <a:srgbClr val="000000"/>
                </a:solidFill>
                <a:latin typeface="Arial"/>
              </a:rPr>
              <a:t>Standardization, automation, KPIs and scalability.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60EFF52-5DAE-7A0C-2221-2E8D4210B5A4}"/>
              </a:ext>
            </a:extLst>
          </p:cNvPr>
          <p:cNvCxnSpPr>
            <a:cxnSpLocks/>
          </p:cNvCxnSpPr>
          <p:nvPr/>
        </p:nvCxnSpPr>
        <p:spPr>
          <a:xfrm>
            <a:off x="9489623" y="2143118"/>
            <a:ext cx="222213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FC3CBB9-5D83-6A8C-C6B5-7A85E262CCC5}"/>
              </a:ext>
            </a:extLst>
          </p:cNvPr>
          <p:cNvSpPr txBox="1"/>
          <p:nvPr/>
        </p:nvSpPr>
        <p:spPr>
          <a:xfrm>
            <a:off x="9482039" y="1145303"/>
            <a:ext cx="2319985" cy="96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05</a:t>
            </a:r>
            <a:endParaRPr kumimoji="0" lang="en-GB" sz="48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E7A9C75-C83A-08B2-A315-C07FB008C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</p:spPr>
        <p:txBody>
          <a:bodyPr wrap="square" anchor="t">
            <a:noAutofit/>
          </a:bodyPr>
          <a:lstStyle/>
          <a:p>
            <a:r>
              <a:rPr sz="1000" b="0">
                <a:latin typeface="Arial"/>
              </a:rPr>
              <a:t>9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9E7421-C4C3-E6C7-53F0-5B39C5EA8234}"/>
              </a:ext>
            </a:extLst>
          </p:cNvPr>
          <p:cNvSpPr/>
          <p:nvPr/>
        </p:nvSpPr>
        <p:spPr>
          <a:xfrm>
            <a:off x="402334" y="4727542"/>
            <a:ext cx="11309422" cy="1723568"/>
          </a:xfrm>
          <a:prstGeom prst="rect">
            <a:avLst/>
          </a:prstGeom>
          <a:solidFill>
            <a:srgbClr val="FFE5D7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21115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7F8D-55A7-079F-DD6A-ED6774C5D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sz="1600" b="0">
                <a:latin typeface="Arial"/>
              </a:rPr>
              <a:t>GBS Maturity &amp; Benchmarking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500" b="0">
                <a:latin typeface="Arial"/>
              </a:rPr>
              <a:t>Comparison to Leading Practice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ED4A0A-E68A-5DB4-5FED-019F01B65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 anchor="t">
            <a:normAutofit/>
          </a:bodyPr>
          <a:lstStyle/>
          <a:p>
            <a:r>
              <a:rPr sz="1000" b="0">
                <a:latin typeface="Arial"/>
              </a:rPr>
              <a:t>Project Vienna — Diagnostic and Discovery Phase | Global Payments Europe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A1655-00D9-C8F6-0C82-A1D2AAA1F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anchor="t">
            <a:noAutofit/>
          </a:bodyPr>
          <a:lstStyle/>
          <a:p>
            <a:r>
              <a:rPr sz="1000" b="0">
                <a:latin typeface="Arial"/>
              </a:rPr>
              <a:t>10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9FA3A1-C1B9-F3A3-D444-4F9D7A6EA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163062"/>
              </p:ext>
            </p:extLst>
          </p:nvPr>
        </p:nvGraphicFramePr>
        <p:xfrm>
          <a:off x="402335" y="1794440"/>
          <a:ext cx="11432917" cy="4239588"/>
        </p:xfrm>
        <a:graphic>
          <a:graphicData uri="http://schemas.openxmlformats.org/drawingml/2006/table">
            <a:tbl>
              <a:tblPr firstRow="1" bandRow="1">
                <a:tableStyleId>{EC741567-8280-421E-8F88-9B89CA1CAF18}</a:tableStyleId>
              </a:tblPr>
              <a:tblGrid>
                <a:gridCol w="1477265">
                  <a:extLst>
                    <a:ext uri="{9D8B030D-6E8A-4147-A177-3AD203B41FA5}">
                      <a16:colId xmlns:a16="http://schemas.microsoft.com/office/drawing/2014/main" val="419890976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51872671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179908464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1684877124"/>
                    </a:ext>
                  </a:extLst>
                </a:gridCol>
                <a:gridCol w="2030852">
                  <a:extLst>
                    <a:ext uri="{9D8B030D-6E8A-4147-A177-3AD203B41FA5}">
                      <a16:colId xmlns:a16="http://schemas.microsoft.com/office/drawing/2014/main" val="3364989100"/>
                    </a:ext>
                  </a:extLst>
                </a:gridCol>
              </a:tblGrid>
              <a:tr h="399108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/>
                          </a:solidFill>
                        </a:rPr>
                        <a:t>Dimension</a:t>
                      </a:r>
                      <a:endParaRPr lang="en-SK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/>
                          </a:solidFill>
                        </a:rPr>
                        <a:t>GP Current State</a:t>
                      </a:r>
                      <a:endParaRPr lang="en-SK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/>
                          </a:solidFill>
                        </a:rPr>
                        <a:t>GP To-Be (with PwC)</a:t>
                      </a:r>
                      <a:endParaRPr lang="en-SK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400" b="1" dirty="0">
                          <a:solidFill>
                            <a:schemeClr val="tx1"/>
                          </a:solidFill>
                        </a:rPr>
                        <a:t>Industry Leading Practice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400" b="1">
                          <a:solidFill>
                            <a:schemeClr val="tx1"/>
                          </a:solidFill>
                        </a:rPr>
                        <a:t>Standard / Source</a:t>
                      </a:r>
                      <a:endParaRPr lang="en-SK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468334"/>
                  </a:ext>
                </a:extLst>
              </a:tr>
              <a:tr h="552083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Fragmented; no formal RACI; disjointed goals across locations 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3D RACI across PDLC / SSC Ops / Customer; quarterly Governance Forum; decision rights at 3 levels 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Living RACI integrated with HRIS &amp; org charts; automated alerts on role changes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 COBIT 2019; </a:t>
                      </a:r>
                      <a:br>
                        <a:rPr lang="en-GB" sz="1200" b="0">
                          <a:solidFill>
                            <a:schemeClr val="tx1"/>
                          </a:solidFill>
                        </a:rPr>
                      </a:br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ITIL 4</a:t>
                      </a:r>
                      <a:endParaRPr lang="en-GB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9277969"/>
                  </a:ext>
                </a:extLst>
              </a:tr>
              <a:tr h="388503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chemeClr val="tx1"/>
                          </a:solidFill>
                        </a:rPr>
                        <a:t>Intake &amp; Ticketing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Unstructured; email/phone/personal contacts </a:t>
                      </a:r>
                      <a:endParaRPr lang="en-GB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Unified portal; auto-classification; </a:t>
                      </a:r>
                      <a:br>
                        <a:rPr lang="en-GB" sz="1200" b="0">
                          <a:solidFill>
                            <a:schemeClr val="tx1"/>
                          </a:solidFill>
                        </a:rPr>
                      </a:br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SLA clock; real-time dashboard </a:t>
                      </a:r>
                      <a:endParaRPr lang="en-GB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AI-assisted triage; self-service portal with chatbot first line; predictive routing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ITIL 4 Service Desk; </a:t>
                      </a:r>
                      <a:br>
                        <a:rPr lang="en-GB" sz="1200" b="0">
                          <a:solidFill>
                            <a:schemeClr val="tx1"/>
                          </a:solidFill>
                        </a:rPr>
                      </a:br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HDI </a:t>
                      </a:r>
                      <a:endParaRPr lang="en-GB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9442254"/>
                  </a:ext>
                </a:extLst>
              </a:tr>
              <a:tr h="552083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chemeClr val="tx1"/>
                          </a:solidFill>
                        </a:rPr>
                        <a:t>SLA </a:t>
                      </a:r>
                      <a:br>
                        <a:rPr lang="en-GB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GB" sz="1200" b="1" dirty="0">
                          <a:solidFill>
                            <a:schemeClr val="tx1"/>
                          </a:solidFill>
                        </a:rPr>
                        <a:t>Management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Informal; inconsistent; unmeasured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Defined SLAs per service × customer; tracked in case management; escalation engine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Tiered SLAs (Bronze/Silver/Gold); automated penalty/credit; SLA-linked commercial incentives 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SSON Benchmarks; Gartner GBS 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8276561"/>
                  </a:ext>
                </a:extLst>
              </a:tr>
              <a:tr h="552083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chemeClr val="tx1"/>
                          </a:solidFill>
                        </a:rPr>
                        <a:t>PMO &amp; Portfolio Steering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Centralized PMO; intake gating; portfolio dashboard; prioritization scoring 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Enterprise PMO with OKR integration; capacity planning; benefits tracking; demand forecasting 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PMI PMBOK 7th Ed; </a:t>
                      </a:r>
                      <a:br>
                        <a:rPr lang="en-GB" sz="1200" b="0">
                          <a:solidFill>
                            <a:schemeClr val="tx1"/>
                          </a:solidFill>
                        </a:rPr>
                      </a:br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SAFe </a:t>
                      </a:r>
                      <a:endParaRPr lang="en-GB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14282"/>
                  </a:ext>
                </a:extLst>
              </a:tr>
              <a:tr h="552083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chemeClr val="tx1"/>
                          </a:solidFill>
                        </a:rPr>
                        <a:t>Post-Acquisition Integration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Unstructured workarounds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A?B?C?D framework; workaround register; bridge state SOPs; readiness checklists 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Integration playbooks; Day 1/30/60/90 milestones; automated parallel-run reconciliation 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PMI M&amp;A Integration; DORA 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9095656"/>
                  </a:ext>
                </a:extLst>
              </a:tr>
              <a:tr h="552083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chemeClr val="tx1"/>
                          </a:solidFill>
                        </a:rPr>
                        <a:t>Continuous Improvement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Limited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Improvement loops fed by benchmarking, post-acquisition lessons and KPI trend analysis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Lean Six Sigma embedded in GBS; Kaizen events; digital twin simulation of process changes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Lean Six Sigma; </a:t>
                      </a:r>
                      <a:br>
                        <a:rPr lang="en-GB" sz="1200" b="0">
                          <a:solidFill>
                            <a:schemeClr val="tx1"/>
                          </a:solidFill>
                        </a:rPr>
                      </a:br>
                      <a:r>
                        <a:rPr lang="en-GB" sz="1200" b="0">
                          <a:solidFill>
                            <a:schemeClr val="tx1"/>
                          </a:solidFill>
                        </a:rPr>
                        <a:t>Hackett</a:t>
                      </a:r>
                      <a:endParaRPr lang="en-GB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656908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A72B0D5-B76E-1D38-8FB5-A10FC6CC41B6}"/>
              </a:ext>
            </a:extLst>
          </p:cNvPr>
          <p:cNvSpPr txBox="1"/>
          <p:nvPr/>
        </p:nvSpPr>
        <p:spPr>
          <a:xfrm>
            <a:off x="402335" y="1290381"/>
            <a:ext cx="6223000" cy="323165"/>
          </a:xfrm>
          <a:prstGeom prst="rect">
            <a:avLst/>
          </a:prstGeom>
          <a:noFill/>
        </p:spPr>
        <p:txBody>
          <a:bodyPr wrap="square" lIns="0" anchor="t">
            <a:normAutofit/>
          </a:bodyPr>
          <a:lstStyle/>
          <a:p>
            <a:pPr>
              <a:buNone/>
            </a:pPr>
            <a:r>
              <a:rPr sz="1500" b="1">
                <a:latin typeface="Arial"/>
              </a:rPr>
              <a:t>Standardization • Centralization • Automation • KPIs • Controls • Scalability</a:t>
            </a:r>
          </a:p>
        </p:txBody>
      </p:sp>
    </p:spTree>
    <p:extLst>
      <p:ext uri="{BB962C8B-B14F-4D97-AF65-F5344CB8AC3E}">
        <p14:creationId xmlns:p14="http://schemas.microsoft.com/office/powerpoint/2010/main" val="505154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42E5C-0C40-3B40-EEE7-45C7B8613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sz="1600" b="0">
                <a:latin typeface="Arial"/>
              </a:rPr>
              <a:t>Tentative Timeline</a:t>
            </a:r>
          </a:p>
          <a:p>
            <a:r>
              <a:rPr sz="1500" b="0">
                <a:latin typeface="Arial"/>
              </a:rPr>
              <a:t>8–16 Week Diagnostic Program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141A38-1610-D266-FF47-FDABF0148D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 anchor="t">
            <a:normAutofit/>
          </a:bodyPr>
          <a:lstStyle/>
          <a:p>
            <a:r>
              <a:rPr sz="1000" b="0">
                <a:latin typeface="Arial"/>
              </a:rPr>
              <a:t>Project Vienna — Diagnostic and Discovery Phase | Global Payments Europe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4EAB5-2110-A40C-31F5-5947E550A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anchor="t">
            <a:noAutofit/>
          </a:bodyPr>
          <a:lstStyle/>
          <a:p>
            <a:r>
              <a:rPr sz="1000" b="0">
                <a:latin typeface="Arial"/>
              </a:rPr>
              <a:t>6</a:t>
            </a:r>
            <a:endParaRPr lang="en-US"/>
          </a:p>
        </p:txBody>
      </p:sp>
      <p:sp>
        <p:nvSpPr>
          <p:cNvPr id="5" name="Pentagon 10">
            <a:extLst>
              <a:ext uri="{FF2B5EF4-FFF2-40B4-BE49-F238E27FC236}">
                <a16:creationId xmlns:a16="http://schemas.microsoft.com/office/drawing/2014/main" id="{2EC8D450-5E0C-0256-2C93-55002659A3D4}"/>
              </a:ext>
            </a:extLst>
          </p:cNvPr>
          <p:cNvSpPr/>
          <p:nvPr/>
        </p:nvSpPr>
        <p:spPr>
          <a:xfrm>
            <a:off x="9228835" y="3472402"/>
            <a:ext cx="2541588" cy="512763"/>
          </a:xfrm>
          <a:prstGeom prst="homePlate">
            <a:avLst/>
          </a:prstGeom>
          <a:solidFill>
            <a:srgbClr val="FD5108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  <a:r>
              <a:rPr sz="2000" b="1">
                <a:latin typeface="Arial"/>
              </a:rPr>
              <a:t>Wk 15-16</a:t>
            </a:r>
          </a:p>
        </p:txBody>
      </p:sp>
      <p:sp>
        <p:nvSpPr>
          <p:cNvPr id="6" name="Pentagon 11">
            <a:extLst>
              <a:ext uri="{FF2B5EF4-FFF2-40B4-BE49-F238E27FC236}">
                <a16:creationId xmlns:a16="http://schemas.microsoft.com/office/drawing/2014/main" id="{D7AF1E51-AADE-EE0E-E6D1-B28312D363AA}"/>
              </a:ext>
            </a:extLst>
          </p:cNvPr>
          <p:cNvSpPr/>
          <p:nvPr/>
        </p:nvSpPr>
        <p:spPr>
          <a:xfrm>
            <a:off x="7014272" y="3472402"/>
            <a:ext cx="2541588" cy="512763"/>
          </a:xfrm>
          <a:prstGeom prst="homePlate">
            <a:avLst/>
          </a:prstGeom>
          <a:solidFill>
            <a:srgbClr val="FE7C39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  <a:r>
              <a:rPr sz="2000" b="1">
                <a:latin typeface="Arial"/>
              </a:rPr>
              <a:t>Wk 11-14</a:t>
            </a:r>
          </a:p>
        </p:txBody>
      </p:sp>
      <p:sp>
        <p:nvSpPr>
          <p:cNvPr id="7" name="Pentagon 12">
            <a:extLst>
              <a:ext uri="{FF2B5EF4-FFF2-40B4-BE49-F238E27FC236}">
                <a16:creationId xmlns:a16="http://schemas.microsoft.com/office/drawing/2014/main" id="{692CABB8-A670-1F00-BAF0-C8C38B3217E5}"/>
              </a:ext>
            </a:extLst>
          </p:cNvPr>
          <p:cNvSpPr/>
          <p:nvPr/>
        </p:nvSpPr>
        <p:spPr>
          <a:xfrm>
            <a:off x="4799710" y="3472402"/>
            <a:ext cx="2541588" cy="512763"/>
          </a:xfrm>
          <a:prstGeom prst="homePlate">
            <a:avLst/>
          </a:prstGeom>
          <a:solidFill>
            <a:srgbClr val="FFAA7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  <a:r>
              <a:rPr sz="2000" b="1">
                <a:latin typeface="Arial"/>
              </a:rPr>
              <a:t>Wk 7-10</a:t>
            </a:r>
          </a:p>
        </p:txBody>
      </p:sp>
      <p:sp>
        <p:nvSpPr>
          <p:cNvPr id="8" name="Pentagon 13">
            <a:extLst>
              <a:ext uri="{FF2B5EF4-FFF2-40B4-BE49-F238E27FC236}">
                <a16:creationId xmlns:a16="http://schemas.microsoft.com/office/drawing/2014/main" id="{48E86B55-29E2-E980-32BF-381A69C77519}"/>
              </a:ext>
            </a:extLst>
          </p:cNvPr>
          <p:cNvSpPr/>
          <p:nvPr/>
        </p:nvSpPr>
        <p:spPr>
          <a:xfrm>
            <a:off x="2585148" y="3472402"/>
            <a:ext cx="2541588" cy="512763"/>
          </a:xfrm>
          <a:prstGeom prst="homePlate">
            <a:avLst/>
          </a:prstGeom>
          <a:solidFill>
            <a:srgbClr val="FFCDA8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  <a:r>
              <a:rPr sz="2000" b="1">
                <a:latin typeface="Arial"/>
              </a:rPr>
              <a:t>Wk 3-6</a:t>
            </a:r>
          </a:p>
        </p:txBody>
      </p:sp>
      <p:sp>
        <p:nvSpPr>
          <p:cNvPr id="9" name="Pentagon 14">
            <a:extLst>
              <a:ext uri="{FF2B5EF4-FFF2-40B4-BE49-F238E27FC236}">
                <a16:creationId xmlns:a16="http://schemas.microsoft.com/office/drawing/2014/main" id="{87F4374A-0B31-F88F-8393-D23F4FA3EFB8}"/>
              </a:ext>
            </a:extLst>
          </p:cNvPr>
          <p:cNvSpPr/>
          <p:nvPr/>
        </p:nvSpPr>
        <p:spPr>
          <a:xfrm>
            <a:off x="370586" y="3472402"/>
            <a:ext cx="2541588" cy="512763"/>
          </a:xfrm>
          <a:prstGeom prst="homePlate">
            <a:avLst/>
          </a:prstGeom>
          <a:solidFill>
            <a:srgbClr val="FFE8D4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algn="ctr"/>
            <a:r>
              <a:rPr sz="2000" b="1">
                <a:latin typeface="Arial"/>
              </a:rPr>
              <a:t>Wk 1-2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80443E-DAD0-F64B-295C-5CA276F38883}"/>
              </a:ext>
            </a:extLst>
          </p:cNvPr>
          <p:cNvSpPr txBox="1"/>
          <p:nvPr/>
        </p:nvSpPr>
        <p:spPr>
          <a:xfrm>
            <a:off x="2707196" y="1310284"/>
            <a:ext cx="3007804" cy="20291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latin typeface="Arial"/>
              </a:rPr>
              <a:t>Mobilization and Data Request</a:t>
            </a:r>
          </a:p>
          <a:p>
            <a:pPr/>
            <a:r>
              <a:rPr sz="1200" b="1">
                <a:latin typeface="Arial"/>
              </a:rPr>
              <a:t>Confirm scope, JVs in scope, governance, templates, stakeholders, and data requirements.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048D67-B434-DD4F-6F55-ED1D863F64BD}"/>
              </a:ext>
            </a:extLst>
          </p:cNvPr>
          <p:cNvSpPr txBox="1"/>
          <p:nvPr/>
        </p:nvSpPr>
        <p:spPr>
          <a:xfrm>
            <a:off x="7046303" y="1560288"/>
            <a:ext cx="2767012" cy="17598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latin typeface="Arial"/>
              </a:rPr>
              <a:t>Current-State Discovery</a:t>
            </a:r>
          </a:p>
          <a:p>
            <a:pPr/>
            <a:r>
              <a:rPr sz="1200" b="1">
                <a:latin typeface="Arial"/>
              </a:rPr>
              <a:t>Conduct interviews and workshops; map services, processes, systems, ownership, volumes, and…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7BB66C-17AB-F61F-6FA8-91EEE8E7B093}"/>
              </a:ext>
            </a:extLst>
          </p:cNvPr>
          <p:cNvSpPr txBox="1"/>
          <p:nvPr/>
        </p:nvSpPr>
        <p:spPr>
          <a:xfrm>
            <a:off x="373928" y="4251111"/>
            <a:ext cx="2767012" cy="13174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latin typeface="Arial"/>
              </a:rPr>
              <a:t>Analysis and Opportunity Identification</a:t>
            </a:r>
          </a:p>
          <a:p>
            <a:pPr/>
            <a:r>
              <a:rPr sz="1200" b="1">
                <a:latin typeface="Arial"/>
              </a:rPr>
              <a:t>Identify duplication, fragmentation, best practices, cost drivers, and service placement…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7E58F5-2254-04A9-B1D2-CACFFFED6BAB}"/>
              </a:ext>
            </a:extLst>
          </p:cNvPr>
          <p:cNvSpPr txBox="1"/>
          <p:nvPr/>
        </p:nvSpPr>
        <p:spPr>
          <a:xfrm>
            <a:off x="4855023" y="4251111"/>
            <a:ext cx="2884720" cy="19906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latin typeface="Arial"/>
              </a:rPr>
              <a:t>Future-State Options and Prioritization</a:t>
            </a:r>
          </a:p>
          <a:p>
            <a:pPr/>
            <a:r>
              <a:rPr sz="1200" b="1">
                <a:latin typeface="Arial"/>
              </a:rPr>
              <a:t>Prioritize transition candidates, define future-state RACI, and agree initial operating model…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88AE4D-2F4F-80DE-A5C7-EF4B39B2EAEF}"/>
              </a:ext>
            </a:extLst>
          </p:cNvPr>
          <p:cNvSpPr txBox="1"/>
          <p:nvPr/>
        </p:nvSpPr>
        <p:spPr>
          <a:xfrm>
            <a:off x="9004581" y="4251111"/>
            <a:ext cx="2767012" cy="17791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latin typeface="Arial"/>
              </a:rPr>
              <a:t>Findings and Next-Phase Handover</a:t>
            </a:r>
          </a:p>
          <a:p>
            <a:pPr/>
            <a:r>
              <a:rPr sz="1200" b="1">
                <a:latin typeface="Arial"/>
              </a:rPr>
              <a:t>Finalize diagnostic findings, opportunity backlog, roadmap, and inputs for the operational…</a:t>
            </a:r>
          </a:p>
        </p:txBody>
      </p:sp>
    </p:spTree>
    <p:extLst>
      <p:ext uri="{BB962C8B-B14F-4D97-AF65-F5344CB8AC3E}">
        <p14:creationId xmlns:p14="http://schemas.microsoft.com/office/powerpoint/2010/main" val="3787769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6"/>
          <p:cNvSpPr/>
          <p:nvPr/>
        </p:nvSpPr>
        <p:spPr>
          <a:xfrm>
            <a:off x="4177801" y="1"/>
            <a:ext cx="8014200" cy="612183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spcFirstLastPara="1" wrap="square" lIns="108000" tIns="72000" rIns="72000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66"/>
          <p:cNvSpPr/>
          <p:nvPr/>
        </p:nvSpPr>
        <p:spPr>
          <a:xfrm>
            <a:off x="4496401" y="1435792"/>
            <a:ext cx="3144260" cy="1086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500" b="1">
                <a:latin typeface="Arial"/>
              </a:rPr>
              <a:t>Project Lead / PM</a:t>
            </a:r>
          </a:p>
          <a:p>
            <a:pPr/>
            <a:r>
              <a:rPr sz="1200" b="1">
                <a:latin typeface="Arial"/>
              </a:rPr>
              <a:t>Delivery plan, governance and reporting</a:t>
            </a:r>
          </a:p>
        </p:txBody>
      </p:sp>
      <p:sp>
        <p:nvSpPr>
          <p:cNvPr id="485" name="Google Shape;485;p66"/>
          <p:cNvSpPr/>
          <p:nvPr/>
        </p:nvSpPr>
        <p:spPr>
          <a:xfrm>
            <a:off x="4496401" y="4099133"/>
            <a:ext cx="3144259" cy="1378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500" b="1">
                <a:latin typeface="Arial"/>
              </a:rPr>
              <a:t>Finance / FP&amp;A Lead</a:t>
            </a:r>
          </a:p>
          <a:p>
            <a:pPr/>
            <a:r>
              <a:rPr sz="1200" b="1">
                <a:latin typeface="Arial"/>
              </a:rPr>
              <a:t>P&amp;L, cost allocation and business case</a:t>
            </a:r>
          </a:p>
        </p:txBody>
      </p:sp>
      <p:sp>
        <p:nvSpPr>
          <p:cNvPr id="486" name="Google Shape;486;p66"/>
          <p:cNvSpPr/>
          <p:nvPr/>
        </p:nvSpPr>
        <p:spPr>
          <a:xfrm>
            <a:off x="380324" y="1498947"/>
            <a:ext cx="3485094" cy="1338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1500" b="1">
                <a:latin typeface="Arial"/>
              </a:rPr>
              <a:t>SSC Operations Lead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200" b="1">
                <a:latin typeface="Arial"/>
              </a:rPr>
              <a:t>Prague SSC capabilities, capacity and constraints</a:t>
            </a:r>
          </a:p>
        </p:txBody>
      </p:sp>
      <p:sp>
        <p:nvSpPr>
          <p:cNvPr id="487" name="Google Shape;487;p66"/>
          <p:cNvSpPr/>
          <p:nvPr/>
        </p:nvSpPr>
        <p:spPr>
          <a:xfrm>
            <a:off x="380324" y="2678315"/>
            <a:ext cx="3485094" cy="3660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>
              <a:lnSpc>
                <a:spcPct val="115000"/>
              </a:lnSpc>
              <a:buSzPts val="1200"/>
            </a:pPr>
            <a:endParaRPr sz="120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490" name="Google Shape;490;p66"/>
          <p:cNvSpPr/>
          <p:nvPr/>
        </p:nvSpPr>
        <p:spPr>
          <a:xfrm>
            <a:off x="8508569" y="1439242"/>
            <a:ext cx="3306377" cy="1083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/>
          <a:p>
            <a:pPr>
              <a:spcAft>
                <a:spcPts val="1200"/>
              </a:spcAft>
            </a:pPr>
            <a:r>
              <a:rPr sz="1500" b="1">
                <a:latin typeface="Arial"/>
              </a:rPr>
              <a:t>Executive Sponsor</a:t>
            </a: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/>
            <a:r>
              <a:rPr sz="1200" b="1">
                <a:latin typeface="Arial"/>
              </a:rPr>
              <a:t>Strategic direction and priority confirmation</a:t>
            </a:r>
          </a:p>
        </p:txBody>
      </p:sp>
      <p:sp>
        <p:nvSpPr>
          <p:cNvPr id="512" name="Google Shape;512;p66"/>
          <p:cNvSpPr/>
          <p:nvPr/>
        </p:nvSpPr>
        <p:spPr>
          <a:xfrm>
            <a:off x="8508569" y="4099133"/>
            <a:ext cx="3303107" cy="1378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/>
          <a:p>
            <a:pPr>
              <a:spcAft>
                <a:spcPts val="1200"/>
              </a:spcAft>
            </a:pPr>
            <a:r>
              <a:rPr sz="1500" b="1">
                <a:latin typeface="Arial"/>
              </a:rPr>
              <a:t>Process Excellence Lead</a:t>
            </a:r>
          </a:p>
          <a:p>
            <a:pPr/>
            <a:r>
              <a:rPr sz="1200" b="1">
                <a:latin typeface="Arial"/>
              </a:rPr>
              <a:t>Process mapping and opportunity prioritization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27310A-6BFC-E6DE-94EF-40DAA8A11C7B}"/>
              </a:ext>
            </a:extLst>
          </p:cNvPr>
          <p:cNvGrpSpPr/>
          <p:nvPr/>
        </p:nvGrpSpPr>
        <p:grpSpPr>
          <a:xfrm>
            <a:off x="238638" y="2898252"/>
            <a:ext cx="3481744" cy="3203580"/>
            <a:chOff x="433800" y="3529318"/>
            <a:chExt cx="3766275" cy="1783092"/>
          </a:xfrm>
        </p:grpSpPr>
        <p:cxnSp>
          <p:nvCxnSpPr>
            <p:cNvPr id="518" name="Google Shape;518;p66"/>
            <p:cNvCxnSpPr>
              <a:cxnSpLocks/>
            </p:cNvCxnSpPr>
            <p:nvPr/>
          </p:nvCxnSpPr>
          <p:spPr>
            <a:xfrm>
              <a:off x="433800" y="3529318"/>
              <a:ext cx="3744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9" name="Google Shape;519;p66"/>
            <p:cNvCxnSpPr>
              <a:cxnSpLocks/>
            </p:cNvCxnSpPr>
            <p:nvPr/>
          </p:nvCxnSpPr>
          <p:spPr>
            <a:xfrm>
              <a:off x="433800" y="4231180"/>
              <a:ext cx="3744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0" name="Google Shape;520;p66"/>
            <p:cNvCxnSpPr>
              <a:cxnSpLocks/>
            </p:cNvCxnSpPr>
            <p:nvPr/>
          </p:nvCxnSpPr>
          <p:spPr>
            <a:xfrm>
              <a:off x="433800" y="4710048"/>
              <a:ext cx="3744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1" name="Google Shape;521;p66"/>
            <p:cNvCxnSpPr>
              <a:cxnSpLocks/>
            </p:cNvCxnSpPr>
            <p:nvPr/>
          </p:nvCxnSpPr>
          <p:spPr>
            <a:xfrm>
              <a:off x="456075" y="5312410"/>
              <a:ext cx="3744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" name="Title 2">
            <a:extLst>
              <a:ext uri="{FF2B5EF4-FFF2-40B4-BE49-F238E27FC236}">
                <a16:creationId xmlns:a16="http://schemas.microsoft.com/office/drawing/2014/main" id="{079851E0-D371-C9E6-CD09-AE37CC9CA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7"/>
            <a:ext cx="2520974" cy="510604"/>
          </a:xfrm>
        </p:spPr>
        <p:txBody>
          <a:bodyPr wrap="square" anchor="t">
            <a:normAutofit/>
          </a:bodyPr>
          <a:lstStyle/>
          <a:p>
            <a:r>
              <a:rPr sz="1600" b="0">
                <a:latin typeface="Arial"/>
              </a:rPr>
              <a:t>Required Project Team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C23F38C-D91E-15F8-B123-501E75255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6401" y="402337"/>
            <a:ext cx="914400" cy="9144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D3C0480-6B3F-A745-0521-A7756F5DD1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8569" y="416192"/>
            <a:ext cx="760057" cy="76005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A3D4A8C-686E-D318-6269-276BE98360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96401" y="3015521"/>
            <a:ext cx="914400" cy="9144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E752306-8508-DAAB-C836-5FB6591B1B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8569" y="3048541"/>
            <a:ext cx="840293" cy="840293"/>
          </a:xfrm>
          <a:prstGeom prst="rect">
            <a:avLst/>
          </a:prstGeom>
        </p:spPr>
      </p:pic>
      <p:cxnSp>
        <p:nvCxnSpPr>
          <p:cNvPr id="2" name="Google Shape;519;p66">
            <a:extLst>
              <a:ext uri="{FF2B5EF4-FFF2-40B4-BE49-F238E27FC236}">
                <a16:creationId xmlns:a16="http://schemas.microsoft.com/office/drawing/2014/main" id="{7E0AD0FB-70F3-21B7-6BE8-A5BAA8D8D67C}"/>
              </a:ext>
            </a:extLst>
          </p:cNvPr>
          <p:cNvCxnSpPr>
            <a:cxnSpLocks/>
          </p:cNvCxnSpPr>
          <p:nvPr/>
        </p:nvCxnSpPr>
        <p:spPr>
          <a:xfrm>
            <a:off x="238638" y="5661509"/>
            <a:ext cx="343161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519;p66">
            <a:extLst>
              <a:ext uri="{FF2B5EF4-FFF2-40B4-BE49-F238E27FC236}">
                <a16:creationId xmlns:a16="http://schemas.microsoft.com/office/drawing/2014/main" id="{F61F09C7-73EC-E7FE-C1C8-412A4578071E}"/>
              </a:ext>
            </a:extLst>
          </p:cNvPr>
          <p:cNvCxnSpPr>
            <a:cxnSpLocks/>
          </p:cNvCxnSpPr>
          <p:nvPr/>
        </p:nvCxnSpPr>
        <p:spPr>
          <a:xfrm>
            <a:off x="253405" y="3506289"/>
            <a:ext cx="343161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A42B2149-588C-1C64-15DC-6AA38F2121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</p:spPr>
        <p:txBody>
          <a:bodyPr wrap="square" anchor="t">
            <a:normAutofit/>
          </a:bodyPr>
          <a:lstStyle/>
          <a:p>
            <a:r>
              <a:rPr sz="1000" b="0">
                <a:latin typeface="Arial"/>
              </a:rPr>
              <a:t>Project Vienna — Diagnostic and Discovery Phase | Global Payments Europe</a:t>
            </a:r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169C893-0D61-8622-DF56-2D173BEC3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</p:spPr>
        <p:txBody>
          <a:bodyPr wrap="square" anchor="t">
            <a:noAutofit/>
          </a:bodyPr>
          <a:lstStyle/>
          <a:p>
            <a:r>
              <a:rPr sz="1000" b="0">
                <a:latin typeface="Arial"/>
              </a:rPr>
              <a:t>7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2388A-29B8-0A5E-99B5-9560D133F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40">
            <a:extLst>
              <a:ext uri="{FF2B5EF4-FFF2-40B4-BE49-F238E27FC236}">
                <a16:creationId xmlns:a16="http://schemas.microsoft.com/office/drawing/2014/main" id="{E21C91B8-B38D-AA3E-FC05-076FC77D1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sz="1600" b="0">
                <a:latin typeface="Arial"/>
              </a:rPr>
              <a:t>Now What?</a:t>
            </a:r>
            <a:endParaRPr lang="en-GB" noProof="0" dirty="0"/>
          </a:p>
          <a:p>
            <a:r>
              <a:rPr sz="1500" b="0">
                <a:latin typeface="Arial"/>
              </a:rPr>
              <a:t>Discovery Approach, Team and Timeline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AB2108-7C25-5743-738E-0BFC639A44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 anchor="t">
            <a:normAutofit/>
          </a:bodyPr>
          <a:lstStyle/>
          <a:p>
            <a:r>
              <a:rPr sz="1000" b="0">
                <a:latin typeface="Arial"/>
              </a:rPr>
              <a:t>Project Vienna — Diagnostic and Discovery Phase | Global Payments Europe</a:t>
            </a:r>
            <a:endParaRPr lang="en-US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800EFE7-A518-1C19-1D22-5825F6598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anchor="t">
            <a:noAutofit/>
          </a:bodyPr>
          <a:lstStyle/>
          <a:p>
            <a:r>
              <a:rPr sz="1000" b="0">
                <a:latin typeface="Arial"/>
              </a:rPr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283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BEE9E-056B-485D-E21E-009D5B7F4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 anchor="t">
            <a:normAutofit/>
          </a:bodyPr>
          <a:lstStyle/>
          <a:p>
            <a:r>
              <a:rPr sz="1600" b="0">
                <a:latin typeface="Arial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D8772-275B-E9F3-AB31-19FADE8259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 anchor="t">
            <a:normAutofit/>
          </a:bodyPr>
          <a:lstStyle/>
          <a:p>
            <a:pPr algn="l" rtl="0" fontAlgn="base">
              <a:buNone/>
            </a:pPr>
            <a:r>
              <a:rPr sz="1100" b="0">
                <a:solidFill>
                  <a:srgbClr val="000000"/>
                </a:solidFill>
                <a:latin typeface="Arial"/>
              </a:rPr>
              <a:t>© 2026 PricewaterhouseCoopers. All rights reserved.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/>
            <a:r>
              <a:rPr sz="1100" b="0">
                <a:solidFill>
                  <a:srgbClr val="000000"/>
                </a:solidFill>
                <a:latin typeface="Arial"/>
              </a:rPr>
              <a:t>Strictly confidential — non-binding discovery overview.</a:t>
            </a:r>
          </a:p>
        </p:txBody>
      </p:sp>
    </p:spTree>
    <p:extLst>
      <p:ext uri="{BB962C8B-B14F-4D97-AF65-F5344CB8AC3E}">
        <p14:creationId xmlns:p14="http://schemas.microsoft.com/office/powerpoint/2010/main" val="923074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B1EFE-83D9-221F-5675-63C6CBE15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4503876" cy="915289"/>
          </a:xfrm>
        </p:spPr>
        <p:txBody>
          <a:bodyPr wrap="square" anchor="t">
            <a:normAutofit/>
          </a:bodyPr>
          <a:lstStyle/>
          <a:p>
            <a:r>
              <a:rPr sz="1600" b="0">
                <a:latin typeface="Arial"/>
              </a:rPr>
              <a:t>Discovery Approach</a:t>
            </a:r>
          </a:p>
          <a:p>
            <a:r>
              <a:rPr sz="1500" b="0">
                <a:latin typeface="Arial"/>
              </a:rPr>
              <a:t>Five Integrated Workstreams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E4A6DD-2DFA-27C9-457C-2D5F629E9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 anchor="t">
            <a:normAutofit/>
          </a:bodyPr>
          <a:lstStyle/>
          <a:p>
            <a:r>
              <a:rPr sz="1000" b="0">
                <a:latin typeface="Arial"/>
              </a:rPr>
              <a:t>Project Vienna — Diagnostic and Discovery Phase | Global Payments Europe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B251F-967C-9D0D-F2BE-F9B1C0C8E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anchor="t">
            <a:noAutofit/>
          </a:bodyPr>
          <a:lstStyle/>
          <a:p>
            <a:r>
              <a:rPr sz="1000" b="0">
                <a:latin typeface="Arial"/>
              </a:rPr>
              <a:t>5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D272CD-9CDE-FFD1-C579-9A96557E29AE}"/>
              </a:ext>
            </a:extLst>
          </p:cNvPr>
          <p:cNvSpPr/>
          <p:nvPr/>
        </p:nvSpPr>
        <p:spPr>
          <a:xfrm>
            <a:off x="5369039" y="386809"/>
            <a:ext cx="6501156" cy="5965399"/>
          </a:xfrm>
          <a:prstGeom prst="rect">
            <a:avLst/>
          </a:prstGeom>
          <a:solidFill>
            <a:srgbClr val="FFF5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09DD7EF-04EB-8E78-ADF5-0D1BD90E38F3}"/>
              </a:ext>
            </a:extLst>
          </p:cNvPr>
          <p:cNvGrpSpPr/>
          <p:nvPr/>
        </p:nvGrpSpPr>
        <p:grpSpPr>
          <a:xfrm>
            <a:off x="6173615" y="1477686"/>
            <a:ext cx="4892005" cy="4780339"/>
            <a:chOff x="5878062" y="1243627"/>
            <a:chExt cx="5010717" cy="4965242"/>
          </a:xfrm>
        </p:grpSpPr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C2428C22-7904-24AD-1DE2-DAD61DA7E075}"/>
                </a:ext>
              </a:extLst>
            </p:cNvPr>
            <p:cNvSpPr/>
            <p:nvPr/>
          </p:nvSpPr>
          <p:spPr>
            <a:xfrm rot="1782712">
              <a:off x="5994706" y="1569416"/>
              <a:ext cx="4885748" cy="4211850"/>
            </a:xfrm>
            <a:prstGeom prst="hexagon">
              <a:avLst>
                <a:gd name="adj" fmla="val 28719"/>
                <a:gd name="vf" fmla="val 115470"/>
              </a:avLst>
            </a:prstGeom>
            <a:solidFill>
              <a:schemeClr val="accent2"/>
            </a:solidFill>
            <a:ln w="96143" cap="flat">
              <a:noFill/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F47528BD-5690-F9C3-E929-9934C4ADD183}"/>
                </a:ext>
              </a:extLst>
            </p:cNvPr>
            <p:cNvSpPr/>
            <p:nvPr/>
          </p:nvSpPr>
          <p:spPr>
            <a:xfrm rot="1782712">
              <a:off x="7383960" y="2810376"/>
              <a:ext cx="2006718" cy="1729930"/>
            </a:xfrm>
            <a:prstGeom prst="hexagon">
              <a:avLst>
                <a:gd name="adj" fmla="val 28719"/>
                <a:gd name="vf" fmla="val 115470"/>
              </a:avLst>
            </a:prstGeom>
            <a:solidFill>
              <a:srgbClr val="FFF5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82D543B-1B5B-463D-F56A-44FB853E8404}"/>
                </a:ext>
              </a:extLst>
            </p:cNvPr>
            <p:cNvGrpSpPr/>
            <p:nvPr/>
          </p:nvGrpSpPr>
          <p:grpSpPr>
            <a:xfrm>
              <a:off x="6299589" y="1702266"/>
              <a:ext cx="4299576" cy="4061422"/>
              <a:chOff x="3958009" y="1607259"/>
              <a:chExt cx="4299576" cy="4061422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1648E0B-1BC3-974B-7B21-64131B29E0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79672" y="1607259"/>
                <a:ext cx="0" cy="2467030"/>
              </a:xfrm>
              <a:prstGeom prst="line">
                <a:avLst/>
              </a:prstGeom>
              <a:ln w="50800">
                <a:solidFill>
                  <a:srgbClr val="FFF5E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34B6FF35-35F4-B02F-D912-BB35D5665B81}"/>
                  </a:ext>
                </a:extLst>
              </p:cNvPr>
              <p:cNvGrpSpPr/>
              <p:nvPr/>
            </p:nvGrpSpPr>
            <p:grpSpPr>
              <a:xfrm>
                <a:off x="3958009" y="1771177"/>
                <a:ext cx="4299576" cy="3897504"/>
                <a:chOff x="3958009" y="1771177"/>
                <a:chExt cx="4299576" cy="389750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BF80C9E-F455-4474-E142-C7D0753426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03965" y="1771177"/>
                  <a:ext cx="1512973" cy="907418"/>
                </a:xfrm>
                <a:prstGeom prst="line">
                  <a:avLst/>
                </a:prstGeom>
                <a:ln w="50800">
                  <a:solidFill>
                    <a:srgbClr val="FFF5E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CCC5567-85C5-B6C4-59FC-04F4E42660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94872" y="3094606"/>
                  <a:ext cx="0" cy="2574075"/>
                </a:xfrm>
                <a:prstGeom prst="line">
                  <a:avLst/>
                </a:prstGeom>
                <a:ln w="50800">
                  <a:solidFill>
                    <a:srgbClr val="FFF5E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DB84359F-FE1B-5075-8F26-397006FBFE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958009" y="3355157"/>
                  <a:ext cx="2087730" cy="1212558"/>
                </a:xfrm>
                <a:prstGeom prst="line">
                  <a:avLst/>
                </a:prstGeom>
                <a:ln w="50800">
                  <a:solidFill>
                    <a:srgbClr val="FFF5E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5B7FED3B-97D0-3B4E-F945-6B33BD8F69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29719" y="4515213"/>
                  <a:ext cx="1292386" cy="796828"/>
                </a:xfrm>
                <a:prstGeom prst="line">
                  <a:avLst/>
                </a:prstGeom>
                <a:ln w="50800">
                  <a:solidFill>
                    <a:srgbClr val="FFF5E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5C03953E-D662-EF34-7EC6-1252301087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880318" y="3091206"/>
                  <a:ext cx="1377267" cy="799919"/>
                </a:xfrm>
                <a:prstGeom prst="line">
                  <a:avLst/>
                </a:prstGeom>
                <a:ln w="50800">
                  <a:solidFill>
                    <a:srgbClr val="FFF5E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31FC726-1D38-EC53-1581-6F29AD6C833E}"/>
                </a:ext>
              </a:extLst>
            </p:cNvPr>
            <p:cNvSpPr txBox="1"/>
            <p:nvPr/>
          </p:nvSpPr>
          <p:spPr>
            <a:xfrm>
              <a:off x="10663777" y="3596875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/>
              <a:endParaRPr lang="en-US" dirty="0" err="1"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1BDF1C4-0512-DD74-4330-75CACB7208E6}"/>
                </a:ext>
              </a:extLst>
            </p:cNvPr>
            <p:cNvSpPr/>
            <p:nvPr/>
          </p:nvSpPr>
          <p:spPr>
            <a:xfrm>
              <a:off x="7835284" y="1614567"/>
              <a:ext cx="1135661" cy="9468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wrap="square">
              <a:normAutofit/>
            </a:bodyPr>
            <a:lstStyle/>
            <a:p>
              <a:pPr algn="ctr"/>
              <a:r>
                <a:rPr sz="1000" b="1">
                  <a:latin typeface="Arial"/>
                </a:rPr>
                <a:t>WS1: Service &amp; Process Mapping</a:t>
              </a:r>
            </a:p>
            <a:p>
              <a:pPr/>
              <a:r>
                <a:rPr sz="1050" b="1">
                  <a:latin typeface="Arial"/>
                </a:rPr>
                <a:t>Map services/processes across SSC, JVs and HQ.</a:t>
              </a:r>
            </a:p>
          </p:txBody>
        </p:sp>
        <p:sp>
          <p:nvSpPr>
            <p:cNvPr id="12" name="Content Placeholder 7">
              <a:extLst>
                <a:ext uri="{FF2B5EF4-FFF2-40B4-BE49-F238E27FC236}">
                  <a16:creationId xmlns:a16="http://schemas.microsoft.com/office/drawing/2014/main" id="{C6A513BB-1BDE-4156-4A46-790B860AC691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5256566" y="2860493"/>
              <a:ext cx="1675270" cy="282586"/>
            </a:xfrm>
            <a:prstGeom prst="rect">
              <a:avLst/>
            </a:prstGeom>
            <a:noFill/>
          </p:spPr>
          <p:txBody>
            <a:bodyPr wrap="square" anchor="t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5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3pPr>
              <a:lvl4pPr marL="344488" indent="-173038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Georgia" panose="02040502050405020303" pitchFamily="18" charset="0"/>
                <a:buChar char="–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4pPr>
              <a:lvl5pPr marL="515938" indent="-17145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sz="1100" b="0">
                  <a:latin typeface="Arial"/>
                </a:rPr>
                <a:t>WS1</a:t>
              </a:r>
            </a:p>
          </p:txBody>
        </p:sp>
        <p:sp>
          <p:nvSpPr>
            <p:cNvPr id="13" name="Content Placeholder 7">
              <a:extLst>
                <a:ext uri="{FF2B5EF4-FFF2-40B4-BE49-F238E27FC236}">
                  <a16:creationId xmlns:a16="http://schemas.microsoft.com/office/drawing/2014/main" id="{52416CCA-05E2-AA59-3AAB-8865A8EA36C6}"/>
                </a:ext>
              </a:extLst>
            </p:cNvPr>
            <p:cNvSpPr txBox="1">
              <a:spLocks/>
            </p:cNvSpPr>
            <p:nvPr/>
          </p:nvSpPr>
          <p:spPr>
            <a:xfrm rot="1759738" flipH="1">
              <a:off x="9448779" y="1905419"/>
              <a:ext cx="1440000" cy="286563"/>
            </a:xfrm>
            <a:prstGeom prst="rect">
              <a:avLst/>
            </a:prstGeom>
            <a:noFill/>
          </p:spPr>
          <p:txBody>
            <a:bodyPr wrap="square" anchor="t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5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3pPr>
              <a:lvl4pPr marL="344488" indent="-173038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Georgia" panose="02040502050405020303" pitchFamily="18" charset="0"/>
                <a:buChar char="–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4pPr>
              <a:lvl5pPr marL="515938" indent="-17145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sz="1100" b="0">
                  <a:latin typeface="Arial"/>
                </a:rPr>
                <a:t>WS5</a:t>
              </a:r>
            </a:p>
          </p:txBody>
        </p:sp>
        <p:sp>
          <p:nvSpPr>
            <p:cNvPr id="14" name="Content Placeholder 7">
              <a:extLst>
                <a:ext uri="{FF2B5EF4-FFF2-40B4-BE49-F238E27FC236}">
                  <a16:creationId xmlns:a16="http://schemas.microsoft.com/office/drawing/2014/main" id="{B890652C-D91C-BE2D-8860-7A07247D69D3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10013398" y="4273505"/>
              <a:ext cx="1440000" cy="282586"/>
            </a:xfrm>
            <a:prstGeom prst="rect">
              <a:avLst/>
            </a:prstGeom>
            <a:noFill/>
          </p:spPr>
          <p:txBody>
            <a:bodyPr wrap="square" anchor="t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5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3pPr>
              <a:lvl4pPr marL="344488" indent="-173038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Georgia" panose="02040502050405020303" pitchFamily="18" charset="0"/>
                <a:buChar char="–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4pPr>
              <a:lvl5pPr marL="515938" indent="-17145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/>
          </p:txBody>
        </p:sp>
        <p:sp>
          <p:nvSpPr>
            <p:cNvPr id="15" name="Content Placeholder 7">
              <a:extLst>
                <a:ext uri="{FF2B5EF4-FFF2-40B4-BE49-F238E27FC236}">
                  <a16:creationId xmlns:a16="http://schemas.microsoft.com/office/drawing/2014/main" id="{DF9E6739-0955-22E1-5272-7456DFD57989}"/>
                </a:ext>
              </a:extLst>
            </p:cNvPr>
            <p:cNvSpPr txBox="1">
              <a:spLocks/>
            </p:cNvSpPr>
            <p:nvPr/>
          </p:nvSpPr>
          <p:spPr>
            <a:xfrm rot="1884112" flipH="1">
              <a:off x="5878062" y="5166927"/>
              <a:ext cx="1440000" cy="286563"/>
            </a:xfrm>
            <a:prstGeom prst="rect">
              <a:avLst/>
            </a:prstGeom>
            <a:noFill/>
          </p:spPr>
          <p:txBody>
            <a:bodyPr wrap="square" anchor="t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5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3pPr>
              <a:lvl4pPr marL="344488" indent="-173038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Georgia" panose="02040502050405020303" pitchFamily="18" charset="0"/>
                <a:buChar char="–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4pPr>
              <a:lvl5pPr marL="515938" indent="-17145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sz="1100" b="0">
                  <a:latin typeface="Arial"/>
                </a:rPr>
                <a:t>WS2</a:t>
              </a:r>
            </a:p>
          </p:txBody>
        </p:sp>
        <p:sp>
          <p:nvSpPr>
            <p:cNvPr id="16" name="Content Placeholder 7">
              <a:extLst>
                <a:ext uri="{FF2B5EF4-FFF2-40B4-BE49-F238E27FC236}">
                  <a16:creationId xmlns:a16="http://schemas.microsoft.com/office/drawing/2014/main" id="{EC2DB96C-E0FF-8FAD-FEAD-2D8ECC057541}"/>
                </a:ext>
              </a:extLst>
            </p:cNvPr>
            <p:cNvSpPr txBox="1">
              <a:spLocks/>
            </p:cNvSpPr>
            <p:nvPr/>
          </p:nvSpPr>
          <p:spPr>
            <a:xfrm rot="19750638">
              <a:off x="7097490" y="1243627"/>
              <a:ext cx="1440000" cy="286563"/>
            </a:xfrm>
            <a:prstGeom prst="rect">
              <a:avLst/>
            </a:prstGeom>
            <a:noFill/>
          </p:spPr>
          <p:txBody>
            <a:bodyPr wrap="square" anchor="t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5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3pPr>
              <a:lvl4pPr marL="344488" indent="-173038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Georgia" panose="02040502050405020303" pitchFamily="18" charset="0"/>
                <a:buChar char="–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4pPr>
              <a:lvl5pPr marL="515938" indent="-17145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sz="1100" b="0">
                  <a:latin typeface="Arial"/>
                </a:rPr>
                <a:t>WS3</a:t>
              </a:r>
            </a:p>
          </p:txBody>
        </p:sp>
        <p:sp>
          <p:nvSpPr>
            <p:cNvPr id="17" name="Content Placeholder 7">
              <a:extLst>
                <a:ext uri="{FF2B5EF4-FFF2-40B4-BE49-F238E27FC236}">
                  <a16:creationId xmlns:a16="http://schemas.microsoft.com/office/drawing/2014/main" id="{BF805E75-AE68-D732-AC3D-22AF72C85B91}"/>
                </a:ext>
              </a:extLst>
            </p:cNvPr>
            <p:cNvSpPr txBox="1">
              <a:spLocks/>
            </p:cNvSpPr>
            <p:nvPr/>
          </p:nvSpPr>
          <p:spPr>
            <a:xfrm rot="19750638">
              <a:off x="8214816" y="5922307"/>
              <a:ext cx="1440000" cy="286562"/>
            </a:xfrm>
            <a:prstGeom prst="rect">
              <a:avLst/>
            </a:prstGeom>
            <a:noFill/>
          </p:spPr>
          <p:txBody>
            <a:bodyPr wrap="square" anchor="t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5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3pPr>
              <a:lvl4pPr marL="344488" indent="-173038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Georgia" panose="02040502050405020303" pitchFamily="18" charset="0"/>
                <a:buChar char="–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4pPr>
              <a:lvl5pPr marL="515938" indent="-17145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sz="1100" b="0">
                  <a:latin typeface="Arial"/>
                </a:rPr>
                <a:t>WS4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030C552-BCAE-2F3C-2F31-52AD6E43AEC1}"/>
                </a:ext>
              </a:extLst>
            </p:cNvPr>
            <p:cNvSpPr txBox="1"/>
            <p:nvPr/>
          </p:nvSpPr>
          <p:spPr>
            <a:xfrm>
              <a:off x="7484376" y="2986110"/>
              <a:ext cx="1770198" cy="143295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algn="ct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2C1FB33-23B0-4679-5EB0-65FF76D53E5B}"/>
                </a:ext>
              </a:extLst>
            </p:cNvPr>
            <p:cNvSpPr/>
            <p:nvPr/>
          </p:nvSpPr>
          <p:spPr>
            <a:xfrm>
              <a:off x="9295009" y="2272398"/>
              <a:ext cx="1135661" cy="9468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wrap="square">
              <a:normAutofit/>
            </a:bodyPr>
            <a:lstStyle/>
            <a:p>
              <a:pPr algn="ctr"/>
              <a:r>
                <a:rPr sz="1000" b="1">
                  <a:latin typeface="Arial"/>
                </a:rPr>
                <a:t>WS2: RACI &amp; Governance Mapping</a:t>
              </a:r>
            </a:p>
            <a:p>
              <a:pPr/>
              <a:r>
                <a:rPr sz="1050" b="1">
                  <a:latin typeface="Arial"/>
                </a:rPr>
                <a:t>Define roles; resolve ownership gaps and decision rights.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41C6DDE-9B16-AACE-EBD5-7E6A3C66D4C6}"/>
                </a:ext>
              </a:extLst>
            </p:cNvPr>
            <p:cNvSpPr/>
            <p:nvPr/>
          </p:nvSpPr>
          <p:spPr>
            <a:xfrm>
              <a:off x="9363471" y="4025983"/>
              <a:ext cx="1135661" cy="9468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wrap="square">
              <a:normAutofit/>
            </a:bodyPr>
            <a:lstStyle/>
            <a:p>
              <a:pPr algn="ctr"/>
              <a:r>
                <a:rPr sz="1000" b="1">
                  <a:latin typeface="Arial"/>
                </a:rPr>
                <a:t>WS3: P&amp;L, Cost &amp; Headcount Review</a:t>
              </a:r>
              <a:endParaRPr lang="en-US" sz="1000" b="1" dirty="0">
                <a:solidFill>
                  <a:schemeClr val="tx1"/>
                </a:solidFill>
              </a:endParaRPr>
            </a:p>
            <a:p>
              <a:pPr/>
              <a:r>
                <a:rPr sz="1050" b="1">
                  <a:latin typeface="Arial"/>
                </a:rPr>
                <a:t>Establish financial and workforce baseline.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3901103-63C9-556C-A8F1-72787E8E5651}"/>
                </a:ext>
              </a:extLst>
            </p:cNvPr>
            <p:cNvSpPr/>
            <p:nvPr/>
          </p:nvSpPr>
          <p:spPr>
            <a:xfrm>
              <a:off x="7865099" y="4816848"/>
              <a:ext cx="1135661" cy="9468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wrap="square">
              <a:normAutofit/>
            </a:bodyPr>
            <a:lstStyle/>
            <a:p>
              <a:pPr algn="ctr"/>
              <a:r>
                <a:rPr sz="1000" b="1">
                  <a:latin typeface="Arial"/>
                </a:rPr>
                <a:t>WS5: Future-State Blueprint Inputs</a:t>
              </a:r>
            </a:p>
            <a:p>
              <a:pPr/>
              <a:r>
                <a:rPr sz="1050" b="1">
                  <a:latin typeface="Arial"/>
                </a:rPr>
                <a:t>Playbook, deployment template and transition roadmap.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1FC2C50-B5F5-FB29-53D5-27B9A9191EE9}"/>
                </a:ext>
              </a:extLst>
            </p:cNvPr>
            <p:cNvSpPr/>
            <p:nvPr/>
          </p:nvSpPr>
          <p:spPr>
            <a:xfrm>
              <a:off x="6330507" y="3991348"/>
              <a:ext cx="1135661" cy="9468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wrap="square">
              <a:normAutofit/>
            </a:bodyPr>
            <a:lstStyle/>
            <a:p>
              <a:pPr algn="ctr"/>
              <a:r>
                <a:rPr sz="1000" b="1">
                  <a:latin typeface="Arial"/>
                </a:rPr>
                <a:t>WS4: Opportunity Assessment</a:t>
              </a:r>
            </a:p>
            <a:p>
              <a:pPr/>
              <a:r>
                <a:rPr sz="1050" b="1">
                  <a:latin typeface="Arial"/>
                </a:rPr>
                <a:t>Evaluate placement: local, SSC, JV scale-up or central build.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A68C920-70C1-AF32-CE9D-E608EF80FC6A}"/>
                </a:ext>
              </a:extLst>
            </p:cNvPr>
            <p:cNvSpPr/>
            <p:nvPr/>
          </p:nvSpPr>
          <p:spPr>
            <a:xfrm>
              <a:off x="6353229" y="2300182"/>
              <a:ext cx="1135661" cy="9468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wrap="square">
              <a:normAutofit/>
            </a:bodyPr>
            <a:lstStyle/>
            <a:p>
              <a:pPr algn="ctr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BE678D9-2818-777C-03A2-D4F1C2C8F50D}"/>
              </a:ext>
            </a:extLst>
          </p:cNvPr>
          <p:cNvSpPr txBox="1"/>
          <p:nvPr/>
        </p:nvSpPr>
        <p:spPr>
          <a:xfrm>
            <a:off x="409082" y="1148415"/>
            <a:ext cx="3665484" cy="404534"/>
          </a:xfrm>
          <a:prstGeom prst="rect">
            <a:avLst/>
          </a:prstGeom>
          <a:noFill/>
        </p:spPr>
        <p:txBody>
          <a:bodyPr wrap="square" lIns="0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1">
                <a:latin typeface="+mn-lt"/>
              </a:rPr>
              <a:t>Discovery Phase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82FC40-1CDA-75CC-2CD5-6077B2FF6689}"/>
              </a:ext>
            </a:extLst>
          </p:cNvPr>
          <p:cNvSpPr txBox="1"/>
          <p:nvPr/>
        </p:nvSpPr>
        <p:spPr>
          <a:xfrm>
            <a:off x="5369032" y="388914"/>
            <a:ext cx="6501155" cy="925995"/>
          </a:xfrm>
          <a:prstGeom prst="rect">
            <a:avLst/>
          </a:prstGeom>
          <a:solidFill>
            <a:srgbClr val="FFE8D4"/>
          </a:solidFill>
        </p:spPr>
        <p:txBody>
          <a:bodyPr wrap="square" lIns="144000" tIns="108000" rIns="72000" bIns="108000" rtlCol="0" anchor="t">
            <a:normAutofit/>
          </a:bodyPr>
          <a:lstStyle/>
          <a:p>
            <a:pPr>
              <a:spcAft>
                <a:spcPts val="300"/>
              </a:spcAft>
            </a:pPr>
            <a:endParaRPr lang="en-GB" sz="1200" dirty="0">
              <a:latin typeface="+mn-lt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AEB61CD-EAEE-620E-D625-A5112A289B8E}"/>
              </a:ext>
            </a:extLst>
          </p:cNvPr>
          <p:cNvGrpSpPr/>
          <p:nvPr/>
        </p:nvGrpSpPr>
        <p:grpSpPr>
          <a:xfrm>
            <a:off x="409080" y="1608335"/>
            <a:ext cx="4732198" cy="1001716"/>
            <a:chOff x="409080" y="1608335"/>
            <a:chExt cx="4732198" cy="113145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1F803E5-7F66-463E-4A2B-9E6D5D73DAEF}"/>
                </a:ext>
              </a:extLst>
            </p:cNvPr>
            <p:cNvSpPr txBox="1"/>
            <p:nvPr/>
          </p:nvSpPr>
          <p:spPr>
            <a:xfrm>
              <a:off x="409080" y="1608335"/>
              <a:ext cx="2298505" cy="504000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lIns="72000" tIns="0" rIns="72000" bIns="0" rtlCol="0" anchor="t">
              <a:normAutofit/>
            </a:bodyPr>
            <a:lstStyle/>
            <a:p>
              <a:pPr algn="l">
                <a:spcAft>
                  <a:spcPts val="1800"/>
                </a:spcAft>
              </a:p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088CEC9-0AE9-6001-5523-AC495219B312}"/>
                </a:ext>
              </a:extLst>
            </p:cNvPr>
            <p:cNvSpPr txBox="1"/>
            <p:nvPr/>
          </p:nvSpPr>
          <p:spPr>
            <a:xfrm>
              <a:off x="2842773" y="1608335"/>
              <a:ext cx="2298505" cy="504000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lIns="72000" tIns="0" rIns="72000" bIns="0" rtlCol="0" anchor="t">
              <a:normAutofit/>
            </a:bodyPr>
            <a:lstStyle/>
            <a:p>
              <a:pPr algn="l">
                <a:spcAft>
                  <a:spcPts val="1800"/>
                </a:spcAft>
              </a:pPr>
              <a:endParaRPr lang="sk-SK" sz="1200" dirty="0">
                <a:latin typeface="+mn-lt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046F0B-10DF-1ED4-EF5E-8216F9102C5C}"/>
                </a:ext>
              </a:extLst>
            </p:cNvPr>
            <p:cNvSpPr txBox="1"/>
            <p:nvPr/>
          </p:nvSpPr>
          <p:spPr>
            <a:xfrm>
              <a:off x="423055" y="2235787"/>
              <a:ext cx="2298505" cy="504000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lIns="72000" tIns="0" rIns="72000" bIns="0" rtlCol="0" anchor="t">
              <a:normAutofit/>
            </a:bodyPr>
            <a:lstStyle/>
            <a:p>
              <a:pPr algn="l">
                <a:spcAft>
                  <a:spcPts val="1800"/>
                </a:spcAft>
              </a:pPr>
              <a:endParaRPr lang="en-US" sz="1050" dirty="0">
                <a:latin typeface="+mn-lt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FDB353-B2CA-3416-77EE-AECE7F58D6AE}"/>
                </a:ext>
              </a:extLst>
            </p:cNvPr>
            <p:cNvSpPr txBox="1"/>
            <p:nvPr/>
          </p:nvSpPr>
          <p:spPr>
            <a:xfrm>
              <a:off x="2842773" y="2235787"/>
              <a:ext cx="2298505" cy="504000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lIns="72000" tIns="0" rIns="72000" bIns="0" rtlCol="0" anchor="t">
              <a:normAutofit/>
            </a:bodyPr>
            <a:lstStyle/>
            <a:p>
              <a:pPr algn="l">
                <a:spcAft>
                  <a:spcPts val="1800"/>
                </a:spcAft>
              </a:pPr>
              <a:endParaRPr lang="sk-SK" sz="1200" dirty="0" err="1">
                <a:latin typeface="+mn-lt"/>
              </a:endParaRPr>
            </a:p>
          </p:txBody>
        </p:sp>
      </p:grp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2F0F6878-A8F2-42EE-D5B9-3B7894147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531524"/>
              </p:ext>
            </p:extLst>
          </p:nvPr>
        </p:nvGraphicFramePr>
        <p:xfrm>
          <a:off x="423055" y="2823411"/>
          <a:ext cx="4715876" cy="3647656"/>
        </p:xfrm>
        <a:graphic>
          <a:graphicData uri="http://schemas.openxmlformats.org/drawingml/2006/table">
            <a:tbl>
              <a:tblPr/>
              <a:tblGrid>
                <a:gridCol w="2357938">
                  <a:extLst>
                    <a:ext uri="{9D8B030D-6E8A-4147-A177-3AD203B41FA5}">
                      <a16:colId xmlns:a16="http://schemas.microsoft.com/office/drawing/2014/main" val="3622546877"/>
                    </a:ext>
                  </a:extLst>
                </a:gridCol>
                <a:gridCol w="2357938">
                  <a:extLst>
                    <a:ext uri="{9D8B030D-6E8A-4147-A177-3AD203B41FA5}">
                      <a16:colId xmlns:a16="http://schemas.microsoft.com/office/drawing/2014/main" val="2994440650"/>
                    </a:ext>
                  </a:extLst>
                </a:gridCol>
              </a:tblGrid>
              <a:tr h="1636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b="1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Client’s Transformation Step</a:t>
                      </a:r>
                      <a:endParaRPr lang="en-GB" sz="9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b="1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PwC Interpretation</a:t>
                      </a:r>
                      <a:endParaRPr lang="en-GB" sz="9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85274"/>
                  </a:ext>
                </a:extLst>
              </a:tr>
              <a:tr h="4505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AS-IS: “Evaluate and map current end-to-end processes incl. all systems, services and (external) vendors”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Targeted fact-gathering only — we will extract data on SLAs, contracts, pricing, inputs, and vendor landscape without exhaustive process mapping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03816"/>
                  </a:ext>
                </a:extLst>
              </a:tr>
              <a:tr h="450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AS-IS: “Identify gaps, inefficiencies </a:t>
                      </a:r>
                      <a:b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 duplications”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Capture through stakeholder interviews and data analysis — embedded within each workstream, not a separate phase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738175"/>
                  </a:ext>
                </a:extLst>
              </a:tr>
              <a:tr h="3401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AS-IS: “Assess cost base, existing (frame) contracts, SLAs and performance KPIs”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 input to WS6 (Transfer Pricing) and cross-cutting Fact Base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909698"/>
                  </a:ext>
                </a:extLst>
              </a:tr>
              <a:tr h="2293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AS-IS: “Assess R&amp;R, and ownership gaps”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 input to WS1 (RACI)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714433"/>
                  </a:ext>
                </a:extLst>
              </a:tr>
              <a:tr h="2293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TO-BE: “Define and agree SSC scope”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WS1 kick-off activity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657460"/>
                  </a:ext>
                </a:extLst>
              </a:tr>
              <a:tr h="2866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TO-BE: “Design TOM – customer oriented service delivery model”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WS1 + WS2 + WS3 combined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720409"/>
                  </a:ext>
                </a:extLst>
              </a:tr>
              <a:tr h="2866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TO-BE: “Establish governance, roles </a:t>
                      </a:r>
                      <a:b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 accountability”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WS1: RACI &amp; Governance Charter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179935"/>
                  </a:ext>
                </a:extLst>
              </a:tr>
              <a:tr h="3401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TO-BE: “Review &amp; build Frame </a:t>
                      </a:r>
                      <a:b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Agreements, Product &amp; Service Catalogue”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Cross-cutting deliverable + WS6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995835"/>
                  </a:ext>
                </a:extLst>
              </a:tr>
              <a:tr h="2866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TO-BE: “Set-up/Update intercompany </a:t>
                      </a:r>
                      <a:b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charging model”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WS6: Transfer Pricing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668036"/>
                  </a:ext>
                </a:extLst>
              </a:tr>
              <a:tr h="2293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TO-BE: “Identify quick wins”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Each workstream identifies quick wins in Phase 1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537395"/>
                  </a:ext>
                </a:extLst>
              </a:tr>
              <a:tr h="3401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TO-BE: “Define &amp; approve Roadmap </a:t>
                      </a:r>
                      <a:b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phasing &amp; prioritization”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WS2: PMO; overall roadmap in Slide 18</a:t>
                      </a:r>
                    </a:p>
                  </a:txBody>
                  <a:tcPr marL="0" marR="21731" marT="36000" marB="434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873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61611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3833B7-B501-673F-1F24-7026FABA56D0}"/>
              </a:ext>
            </a:extLst>
          </p:cNvPr>
          <p:cNvSpPr/>
          <p:nvPr/>
        </p:nvSpPr>
        <p:spPr>
          <a:xfrm>
            <a:off x="0" y="4338340"/>
            <a:ext cx="12192000" cy="2519660"/>
          </a:xfrm>
          <a:prstGeom prst="rect">
            <a:avLst/>
          </a:prstGeom>
          <a:solidFill>
            <a:srgbClr val="FFF5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98681-A9C2-8904-0506-79322548D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sz="1600" b="0">
                <a:latin typeface="Arial"/>
              </a:rPr>
              <a:t>RACI &amp; Operating Model Design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500" b="0">
                <a:latin typeface="Arial"/>
              </a:rPr>
              <a:t>Roles Across JVs, SSC and HQ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D299A-450C-18E0-8447-AF41489F5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 anchor="t">
            <a:normAutofit/>
          </a:bodyPr>
          <a:lstStyle/>
          <a:p>
            <a:r>
              <a:rPr sz="1000" b="0">
                <a:latin typeface="Arial"/>
              </a:rPr>
              <a:t>Project Vienna — Diagnostic and Discovery Phase | Global Payments Europe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94350-1C6B-1EE8-D2B3-69CEB012A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anchor="t">
            <a:noAutofit/>
          </a:bodyPr>
          <a:lstStyle/>
          <a:p>
            <a:r>
              <a:rPr sz="1000" b="0">
                <a:latin typeface="Arial"/>
              </a:rPr>
              <a:t>11</a:t>
            </a:r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232FD19-5F8D-E167-1CD4-21AACE6C846C}"/>
              </a:ext>
            </a:extLst>
          </p:cNvPr>
          <p:cNvSpPr txBox="1">
            <a:spLocks/>
          </p:cNvSpPr>
          <p:nvPr/>
        </p:nvSpPr>
        <p:spPr>
          <a:xfrm>
            <a:off x="407447" y="2392887"/>
            <a:ext cx="3194735" cy="1966293"/>
          </a:xfrm>
          <a:prstGeom prst="rect">
            <a:avLst/>
          </a:prstGeom>
        </p:spPr>
        <p:txBody>
          <a:bodyPr vert="horz" lIns="0" tIns="0" rIns="0" bIns="0" rtlCol="0" anchor="t" wrap="square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/>
                <a:latin typeface="Arial"/>
              </a:rPr>
              <a:t>Responsible</a:t>
            </a:r>
          </a:p>
          <a:p>
            <a:r>
              <a:rPr sz="1200" b="0">
                <a:latin typeface="Arial"/>
              </a:rPr>
              <a:t>Who performs the activity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68656F2A-8A15-B464-9277-CA4B6C3E6E83}"/>
              </a:ext>
            </a:extLst>
          </p:cNvPr>
          <p:cNvSpPr txBox="1">
            <a:spLocks/>
          </p:cNvSpPr>
          <p:nvPr/>
        </p:nvSpPr>
        <p:spPr>
          <a:xfrm>
            <a:off x="3826202" y="2392888"/>
            <a:ext cx="2357252" cy="1966293"/>
          </a:xfrm>
          <a:prstGeom prst="rect">
            <a:avLst/>
          </a:prstGeom>
        </p:spPr>
        <p:txBody>
          <a:bodyPr vert="horz" lIns="0" tIns="0" rIns="0" bIns="0" rtlCol="0" anchor="t" wrap="square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/>
                <a:latin typeface="Arial"/>
              </a:rPr>
              <a:t>Accountable</a:t>
            </a:r>
          </a:p>
          <a:p>
            <a:r>
              <a:rPr sz="1200" b="0">
                <a:latin typeface="Arial"/>
              </a:rPr>
              <a:t>Who owns the outcome and decision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65A27BB-6DFB-F695-F687-2A27A584D3C7}"/>
              </a:ext>
            </a:extLst>
          </p:cNvPr>
          <p:cNvSpPr txBox="1">
            <a:spLocks/>
          </p:cNvSpPr>
          <p:nvPr/>
        </p:nvSpPr>
        <p:spPr>
          <a:xfrm>
            <a:off x="6635488" y="2392888"/>
            <a:ext cx="2357252" cy="1966292"/>
          </a:xfrm>
          <a:prstGeom prst="rect">
            <a:avLst/>
          </a:prstGeom>
        </p:spPr>
        <p:txBody>
          <a:bodyPr vert="horz" lIns="0" tIns="0" rIns="0" bIns="0" rtlCol="0" anchor="t" wrap="square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/>
                <a:latin typeface="Arial"/>
              </a:rPr>
              <a:t>Consulted</a:t>
            </a:r>
          </a:p>
          <a:p>
            <a:r>
              <a:rPr sz="1200" b="0">
                <a:latin typeface="Arial"/>
              </a:rPr>
              <a:t>Who provides input before action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1F004E83-B7A6-E80E-5CB7-9E1943A03CE6}"/>
              </a:ext>
            </a:extLst>
          </p:cNvPr>
          <p:cNvSpPr txBox="1">
            <a:spLocks/>
          </p:cNvSpPr>
          <p:nvPr/>
        </p:nvSpPr>
        <p:spPr>
          <a:xfrm>
            <a:off x="9444774" y="2392888"/>
            <a:ext cx="2357252" cy="1966290"/>
          </a:xfrm>
          <a:prstGeom prst="rect">
            <a:avLst/>
          </a:prstGeom>
        </p:spPr>
        <p:txBody>
          <a:bodyPr vert="horz" lIns="0" tIns="0" rIns="0" bIns="0" rtlCol="0" anchor="t" wrap="square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/>
                <a:latin typeface="Arial"/>
              </a:rPr>
              <a:t>Informed</a:t>
            </a:r>
          </a:p>
          <a:p>
            <a:r>
              <a:rPr sz="1200" b="0">
                <a:latin typeface="Arial"/>
              </a:rPr>
              <a:t>Who is updated after the decision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E158B5-E98D-C569-55EF-E1F73340F2DD}"/>
              </a:ext>
            </a:extLst>
          </p:cNvPr>
          <p:cNvCxnSpPr>
            <a:cxnSpLocks/>
          </p:cNvCxnSpPr>
          <p:nvPr/>
        </p:nvCxnSpPr>
        <p:spPr>
          <a:xfrm>
            <a:off x="370586" y="2246455"/>
            <a:ext cx="323159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126DD5-8F15-9D37-39F7-C20D6B2A2CCA}"/>
              </a:ext>
            </a:extLst>
          </p:cNvPr>
          <p:cNvCxnSpPr>
            <a:cxnSpLocks/>
          </p:cNvCxnSpPr>
          <p:nvPr/>
        </p:nvCxnSpPr>
        <p:spPr>
          <a:xfrm>
            <a:off x="3861285" y="2246455"/>
            <a:ext cx="232216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D5439A4D-BDF6-A850-F885-2D42029B0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586" y="1217275"/>
            <a:ext cx="914400" cy="9144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91383C2-7DC4-E14B-1098-ED7BADA101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6202" y="1281833"/>
            <a:ext cx="914400" cy="9144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89AB0F9-81BC-2769-68C2-BCB3442351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35488" y="1280457"/>
            <a:ext cx="914400" cy="9144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AB10F4FD-DF8A-108F-3680-CD7E0AE787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44774" y="1380633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7CE186C-29C3-8350-4FCC-60D9F7524FC0}"/>
              </a:ext>
            </a:extLst>
          </p:cNvPr>
          <p:cNvSpPr txBox="1"/>
          <p:nvPr/>
        </p:nvSpPr>
        <p:spPr>
          <a:xfrm>
            <a:off x="402335" y="4719409"/>
            <a:ext cx="2957808" cy="1653540"/>
          </a:xfrm>
          <a:prstGeom prst="rect">
            <a:avLst/>
          </a:prstGeom>
          <a:noFill/>
          <a:ln>
            <a:solidFill>
              <a:srgbClr val="FE7C39"/>
            </a:solidFill>
          </a:ln>
        </p:spPr>
        <p:txBody>
          <a:bodyPr wrap="square" lIns="108000" tIns="108000" rIns="108000" bIns="144000" anchor="t">
            <a:normAutofit/>
          </a:bodyPr>
          <a:lstStyle/>
          <a:p/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9277BA9-2D91-3CBA-B029-7672EEAC6867}"/>
              </a:ext>
            </a:extLst>
          </p:cNvPr>
          <p:cNvCxnSpPr>
            <a:cxnSpLocks/>
          </p:cNvCxnSpPr>
          <p:nvPr/>
        </p:nvCxnSpPr>
        <p:spPr>
          <a:xfrm>
            <a:off x="6618340" y="2246455"/>
            <a:ext cx="232216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0BF6CFA-6D51-DA77-2608-01F9DB32C0C3}"/>
              </a:ext>
            </a:extLst>
          </p:cNvPr>
          <p:cNvCxnSpPr>
            <a:cxnSpLocks/>
          </p:cNvCxnSpPr>
          <p:nvPr/>
        </p:nvCxnSpPr>
        <p:spPr>
          <a:xfrm>
            <a:off x="9444667" y="2246455"/>
            <a:ext cx="232216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99CA5DD3-F42A-0935-2158-F288668AC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496428"/>
              </p:ext>
            </p:extLst>
          </p:nvPr>
        </p:nvGraphicFramePr>
        <p:xfrm>
          <a:off x="3750115" y="4693257"/>
          <a:ext cx="8051913" cy="1709520"/>
        </p:xfrm>
        <a:graphic>
          <a:graphicData uri="http://schemas.openxmlformats.org/drawingml/2006/table">
            <a:tbl>
              <a:tblPr firstRow="1" bandRow="1">
                <a:tableStyleId>{EC741567-8280-421E-8F88-9B89CA1CAF18}</a:tableStyleId>
              </a:tblPr>
              <a:tblGrid>
                <a:gridCol w="906945">
                  <a:extLst>
                    <a:ext uri="{9D8B030D-6E8A-4147-A177-3AD203B41FA5}">
                      <a16:colId xmlns:a16="http://schemas.microsoft.com/office/drawing/2014/main" val="1400884491"/>
                    </a:ext>
                  </a:extLst>
                </a:gridCol>
                <a:gridCol w="3572484">
                  <a:extLst>
                    <a:ext uri="{9D8B030D-6E8A-4147-A177-3AD203B41FA5}">
                      <a16:colId xmlns:a16="http://schemas.microsoft.com/office/drawing/2014/main" val="4051275666"/>
                    </a:ext>
                  </a:extLst>
                </a:gridCol>
                <a:gridCol w="3572484">
                  <a:extLst>
                    <a:ext uri="{9D8B030D-6E8A-4147-A177-3AD203B41FA5}">
                      <a16:colId xmlns:a16="http://schemas.microsoft.com/office/drawing/2014/main" val="1230332924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r>
                        <a:rPr lang="en-GB" sz="1050" b="1" dirty="0">
                          <a:solidFill>
                            <a:schemeClr val="tx1"/>
                          </a:solidFill>
                        </a:rPr>
                        <a:t>Dimension </a:t>
                      </a:r>
                    </a:p>
                  </a:txBody>
                  <a:tcPr marR="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b="1" dirty="0">
                          <a:solidFill>
                            <a:schemeClr val="tx1"/>
                          </a:solidFill>
                        </a:rPr>
                        <a:t>What It Covers </a:t>
                      </a:r>
                    </a:p>
                  </a:txBody>
                  <a:tcPr marR="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b="1" dirty="0">
                          <a:solidFill>
                            <a:schemeClr val="tx1"/>
                          </a:solidFill>
                        </a:rPr>
                        <a:t>Example </a:t>
                      </a:r>
                    </a:p>
                  </a:txBody>
                  <a:tcPr marR="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204651"/>
                  </a:ext>
                </a:extLst>
              </a:tr>
              <a:tr h="449379">
                <a:tc>
                  <a:txBody>
                    <a:bodyPr/>
                    <a:lstStyle/>
                    <a:p>
                      <a:r>
                        <a:rPr lang="en-SK" sz="1000" b="1" dirty="0">
                          <a:solidFill>
                            <a:schemeClr val="tx1"/>
                          </a:solidFill>
                        </a:rPr>
                        <a:t>People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Roles, reporting lines (direct &amp; dotted) across Prague, Poland, Spain; PDLC (Products &amp; Tech), SSC Operations, SSC RM for JVs, Customer/JV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Who is Responsible for KYC onboarding in Prague vs. who is Accountable in the JV business unit? 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6491965"/>
                  </a:ext>
                </a:extLst>
              </a:tr>
              <a:tr h="449379">
                <a:tc>
                  <a:txBody>
                    <a:bodyPr/>
                    <a:lstStyle/>
                    <a:p>
                      <a:r>
                        <a:rPr lang="en-SK" sz="1000" b="1" dirty="0">
                          <a:solidFill>
                            <a:schemeClr val="tx1"/>
                          </a:solidFill>
                        </a:rPr>
                        <a:t>Process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chemeClr val="tx1"/>
                          </a:solidFill>
                        </a:rPr>
                        <a:t>End-to-end </a:t>
                      </a: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service delivery processes (KYC, Fraud Investigation &amp; Prevention, Dispute Management, Risk Monitoring, Tech Development)</a:t>
                      </a:r>
                      <a:endParaRPr lang="en-SK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Who is Consulted when a dispute SLA is breached? Who is Informed?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3403503"/>
                  </a:ext>
                </a:extLst>
              </a:tr>
              <a:tr h="324551">
                <a:tc>
                  <a:txBody>
                    <a:bodyPr/>
                    <a:lstStyle/>
                    <a:p>
                      <a:r>
                        <a:rPr lang="en-SK" sz="1000" b="1" dirty="0">
                          <a:solidFill>
                            <a:schemeClr val="tx1"/>
                          </a:solidFill>
                        </a:rPr>
                        <a:t>Technology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System ownership, data stewardship, platform decisions, automation roadmap 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Who is Accountable for the fraud detection platform roadmap within PDLC (Products &amp; Tech)?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501022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B2FB8D0D-5AA2-885F-661C-84ECFF5C89C4}"/>
              </a:ext>
            </a:extLst>
          </p:cNvPr>
          <p:cNvSpPr txBox="1"/>
          <p:nvPr/>
        </p:nvSpPr>
        <p:spPr>
          <a:xfrm>
            <a:off x="3750114" y="4374916"/>
            <a:ext cx="8051911" cy="276999"/>
          </a:xfrm>
          <a:prstGeom prst="rect">
            <a:avLst/>
          </a:prstGeom>
          <a:noFill/>
        </p:spPr>
        <p:txBody>
          <a:bodyPr wrap="square" lIns="0" anchor="t">
            <a:norm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448417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EF02E82-A8BF-B47C-6FE0-61AB65B03F01}"/>
              </a:ext>
            </a:extLst>
          </p:cNvPr>
          <p:cNvSpPr/>
          <p:nvPr/>
        </p:nvSpPr>
        <p:spPr>
          <a:xfrm>
            <a:off x="0" y="0"/>
            <a:ext cx="5076966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E098B7-FABF-21E4-251D-BAFA6364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4517137" cy="915289"/>
          </a:xfrm>
        </p:spPr>
        <p:txBody>
          <a:bodyPr wrap="square" anchor="t">
            <a:normAutofit/>
          </a:bodyPr>
          <a:lstStyle/>
          <a:p>
            <a:r>
              <a:rPr sz="1600" b="0">
                <a:latin typeface="Arial"/>
              </a:rPr>
              <a:t>SIPOC &amp; Process Mapping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500" b="0">
                <a:latin typeface="Arial"/>
              </a:rPr>
              <a:t>From Documentation to Simplification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1C00EB-BC87-70B3-CA5D-B67937D0D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66304" y="6497441"/>
            <a:ext cx="5400000" cy="161583"/>
          </a:xfrm>
        </p:spPr>
        <p:txBody>
          <a:bodyPr wrap="square" anchor="t">
            <a:normAutofit/>
          </a:bodyPr>
          <a:lstStyle/>
          <a:p>
            <a:r>
              <a:rPr sz="1000" b="0">
                <a:latin typeface="Arial"/>
              </a:rPr>
              <a:t>Project Vienna — Diagnostic and Discovery Phase | Global Payments Europe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B8A58-BEEB-42F2-62BE-854FE25E6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anchor="t">
            <a:noAutofit/>
          </a:bodyPr>
          <a:lstStyle/>
          <a:p>
            <a:r>
              <a:rPr sz="1000" b="0">
                <a:latin typeface="Arial"/>
              </a:rPr>
              <a:t>12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E058E-7DE9-5474-9536-5A2CDFD4C5A8}"/>
              </a:ext>
            </a:extLst>
          </p:cNvPr>
          <p:cNvSpPr txBox="1"/>
          <p:nvPr/>
        </p:nvSpPr>
        <p:spPr>
          <a:xfrm>
            <a:off x="1224930" y="3113583"/>
            <a:ext cx="3678221" cy="34343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sz="1200" b="1">
                <a:latin typeface="Arial"/>
              </a:rPr>
              <a:t>SIPOC maps Suppliers, Inputs, Process, Outputs and Customers. Detailed flowcharts capture handoffs, controls, rework and system touchpoints — revealing duplication before transition.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ADEC73-8AD6-5D37-605D-FF153913B078}"/>
              </a:ext>
            </a:extLst>
          </p:cNvPr>
          <p:cNvSpPr txBox="1"/>
          <p:nvPr/>
        </p:nvSpPr>
        <p:spPr>
          <a:xfrm>
            <a:off x="389974" y="1694075"/>
            <a:ext cx="4513177" cy="1108445"/>
          </a:xfrm>
          <a:prstGeom prst="rect">
            <a:avLst/>
          </a:prstGeom>
          <a:noFill/>
        </p:spPr>
        <p:txBody>
          <a:bodyPr wrap="square" lIns="0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latin typeface="+mn-lt"/>
              </a:rPr>
              <a:t>Addressing complexity across JVs, SSC and HQ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AD5D64-FC6A-3EA5-169D-507E9FC0A192}"/>
              </a:ext>
            </a:extLst>
          </p:cNvPr>
          <p:cNvCxnSpPr>
            <a:cxnSpLocks/>
          </p:cNvCxnSpPr>
          <p:nvPr/>
        </p:nvCxnSpPr>
        <p:spPr>
          <a:xfrm>
            <a:off x="5305486" y="3814969"/>
            <a:ext cx="649654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9282429C-2F57-6A6D-83E5-ECA6834D1FDF}"/>
              </a:ext>
            </a:extLst>
          </p:cNvPr>
          <p:cNvGrpSpPr/>
          <p:nvPr/>
        </p:nvGrpSpPr>
        <p:grpSpPr>
          <a:xfrm>
            <a:off x="5267121" y="3972387"/>
            <a:ext cx="6534905" cy="2392165"/>
            <a:chOff x="5076967" y="4249880"/>
            <a:chExt cx="6725060" cy="239216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A3E31F-B966-490D-4CC2-A83888F4725C}"/>
                </a:ext>
              </a:extLst>
            </p:cNvPr>
            <p:cNvSpPr txBox="1"/>
            <p:nvPr/>
          </p:nvSpPr>
          <p:spPr>
            <a:xfrm>
              <a:off x="9226279" y="4904973"/>
              <a:ext cx="1214389" cy="1737072"/>
            </a:xfrm>
            <a:prstGeom prst="rect">
              <a:avLst/>
            </a:prstGeom>
            <a:noFill/>
          </p:spPr>
          <p:txBody>
            <a:bodyPr wrap="square" lIns="91440" tIns="0" rIns="0" bIns="0" rtlCol="0" anchor="t">
              <a:norm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latin typeface="Arial"/>
                </a:rPr>
                <a:t>Simplify before transition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54267-AC51-B395-8460-F1E445EDD1CE}"/>
                </a:ext>
              </a:extLst>
            </p:cNvPr>
            <p:cNvSpPr txBox="1"/>
            <p:nvPr/>
          </p:nvSpPr>
          <p:spPr>
            <a:xfrm>
              <a:off x="7839602" y="4904973"/>
              <a:ext cx="1214388" cy="1737072"/>
            </a:xfrm>
            <a:prstGeom prst="rect">
              <a:avLst/>
            </a:prstGeom>
            <a:noFill/>
          </p:spPr>
          <p:txBody>
            <a:bodyPr wrap="square" lIns="91440" tIns="0" rIns="0" bIns="0" rtlCol="0" anchor="t">
              <a:norm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latin typeface="Arial"/>
                </a:rPr>
                <a:t>Identify duplication and gaps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3CAA4E2-7E2F-7020-830C-BE6B07BD28D8}"/>
                </a:ext>
              </a:extLst>
            </p:cNvPr>
            <p:cNvSpPr txBox="1"/>
            <p:nvPr/>
          </p:nvSpPr>
          <p:spPr>
            <a:xfrm>
              <a:off x="6465170" y="4904973"/>
              <a:ext cx="1214388" cy="1737072"/>
            </a:xfrm>
            <a:prstGeom prst="rect">
              <a:avLst/>
            </a:prstGeom>
            <a:noFill/>
          </p:spPr>
          <p:txBody>
            <a:bodyPr wrap="square" lIns="91440" tIns="0" rIns="0" bIns="0" rtlCol="0" anchor="t">
              <a:norm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latin typeface="Arial"/>
                </a:rPr>
                <a:t>Map handoffs and decision points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D153070-1089-4FD3-7897-9D0D82ECB867}"/>
                </a:ext>
              </a:extLst>
            </p:cNvPr>
            <p:cNvSpPr txBox="1"/>
            <p:nvPr/>
          </p:nvSpPr>
          <p:spPr>
            <a:xfrm>
              <a:off x="5076967" y="4904973"/>
              <a:ext cx="1214388" cy="1737072"/>
            </a:xfrm>
            <a:prstGeom prst="rect">
              <a:avLst/>
            </a:prstGeom>
            <a:noFill/>
          </p:spPr>
          <p:txBody>
            <a:bodyPr wrap="square" lIns="91440" tIns="0" rIns="0" bIns="0" rtlCol="0" anchor="t">
              <a:norm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latin typeface="Arial"/>
                </a:rPr>
                <a:t>Define process boundaries (SIPOC)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D4348CC-A377-C8C8-E62A-13E1EA2B7D3D}"/>
                </a:ext>
              </a:extLst>
            </p:cNvPr>
            <p:cNvSpPr txBox="1"/>
            <p:nvPr/>
          </p:nvSpPr>
          <p:spPr>
            <a:xfrm>
              <a:off x="10587639" y="4904973"/>
              <a:ext cx="1214388" cy="1737072"/>
            </a:xfrm>
            <a:prstGeom prst="rect">
              <a:avLst/>
            </a:prstGeom>
            <a:noFill/>
          </p:spPr>
          <p:txBody>
            <a:bodyPr wrap="square" lIns="91440" tIns="0" rIns="0" bIns="0" rtlCol="0" anchor="t">
              <a:norm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latin typeface="Arial"/>
                </a:rPr>
                <a:t>Validate with process owners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185BC2-CF4F-E298-65C0-1C3FAF49B99E}"/>
                </a:ext>
              </a:extLst>
            </p:cNvPr>
            <p:cNvSpPr txBox="1"/>
            <p:nvPr/>
          </p:nvSpPr>
          <p:spPr>
            <a:xfrm>
              <a:off x="9226279" y="4249880"/>
              <a:ext cx="1214389" cy="521149"/>
            </a:xfrm>
            <a:prstGeom prst="rect">
              <a:avLst/>
            </a:prstGeom>
            <a:noFill/>
          </p:spPr>
          <p:txBody>
            <a:bodyPr wrap="square" lIns="91440" tIns="0" rIns="0" bIns="0" rtlCol="0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US" sz="3200" dirty="0">
                  <a:solidFill>
                    <a:schemeClr val="accent1"/>
                  </a:solidFill>
                </a:rPr>
                <a:t>04</a:t>
              </a:r>
              <a:endParaRPr lang="en-GB" sz="3200" dirty="0">
                <a:solidFill>
                  <a:schemeClr val="accent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1AF98C-4399-263B-77D2-A842807695B9}"/>
                </a:ext>
              </a:extLst>
            </p:cNvPr>
            <p:cNvSpPr txBox="1"/>
            <p:nvPr/>
          </p:nvSpPr>
          <p:spPr>
            <a:xfrm>
              <a:off x="7839602" y="4249880"/>
              <a:ext cx="1214388" cy="521149"/>
            </a:xfrm>
            <a:prstGeom prst="rect">
              <a:avLst/>
            </a:prstGeom>
            <a:noFill/>
          </p:spPr>
          <p:txBody>
            <a:bodyPr wrap="square" lIns="91440" tIns="0" rIns="0" bIns="0" rtlCol="0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US" sz="3200" dirty="0">
                  <a:solidFill>
                    <a:schemeClr val="accent1"/>
                  </a:solidFill>
                </a:rPr>
                <a:t>03</a:t>
              </a:r>
              <a:endParaRPr lang="en-GB" sz="3200" dirty="0">
                <a:solidFill>
                  <a:schemeClr val="accent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7E1FE49-52F8-764A-E83D-C9CE10404857}"/>
                </a:ext>
              </a:extLst>
            </p:cNvPr>
            <p:cNvSpPr txBox="1"/>
            <p:nvPr/>
          </p:nvSpPr>
          <p:spPr>
            <a:xfrm>
              <a:off x="6465170" y="4249880"/>
              <a:ext cx="1214388" cy="521149"/>
            </a:xfrm>
            <a:prstGeom prst="rect">
              <a:avLst/>
            </a:prstGeom>
            <a:noFill/>
          </p:spPr>
          <p:txBody>
            <a:bodyPr wrap="square" lIns="91440" tIns="0" rIns="0" bIns="0" rtlCol="0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3200" dirty="0">
                  <a:solidFill>
                    <a:schemeClr val="accent1"/>
                  </a:solidFill>
                </a:rPr>
                <a:t>02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ECB422-6CDC-F0A6-E92E-AB3FF5A7BC8C}"/>
                </a:ext>
              </a:extLst>
            </p:cNvPr>
            <p:cNvSpPr txBox="1"/>
            <p:nvPr/>
          </p:nvSpPr>
          <p:spPr>
            <a:xfrm>
              <a:off x="5076967" y="4249880"/>
              <a:ext cx="1214388" cy="521149"/>
            </a:xfrm>
            <a:prstGeom prst="rect">
              <a:avLst/>
            </a:prstGeom>
            <a:noFill/>
          </p:spPr>
          <p:txBody>
            <a:bodyPr wrap="square" lIns="91440" tIns="0" rIns="0" bIns="0" rtlCol="0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US" sz="3200" dirty="0">
                  <a:solidFill>
                    <a:schemeClr val="accent1"/>
                  </a:solidFill>
                </a:rPr>
                <a:t>01</a:t>
              </a:r>
              <a:endParaRPr lang="en-GB" sz="3200" dirty="0">
                <a:solidFill>
                  <a:schemeClr val="accent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2F70292-C68B-1A4D-666B-A4A5416A1F90}"/>
                </a:ext>
              </a:extLst>
            </p:cNvPr>
            <p:cNvSpPr txBox="1"/>
            <p:nvPr/>
          </p:nvSpPr>
          <p:spPr>
            <a:xfrm>
              <a:off x="10587639" y="4249880"/>
              <a:ext cx="1214388" cy="521149"/>
            </a:xfrm>
            <a:prstGeom prst="rect">
              <a:avLst/>
            </a:prstGeom>
            <a:noFill/>
          </p:spPr>
          <p:txBody>
            <a:bodyPr wrap="square" lIns="91440" tIns="0" rIns="0" bIns="0" rtlCol="0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3200" dirty="0">
                  <a:solidFill>
                    <a:schemeClr val="accent1"/>
                  </a:solidFill>
                </a:rPr>
                <a:t>05</a:t>
              </a:r>
            </a:p>
          </p:txBody>
        </p:sp>
      </p:grpSp>
      <p:pic>
        <p:nvPicPr>
          <p:cNvPr id="22" name="Graphic 21">
            <a:extLst>
              <a:ext uri="{FF2B5EF4-FFF2-40B4-BE49-F238E27FC236}">
                <a16:creationId xmlns:a16="http://schemas.microsoft.com/office/drawing/2014/main" id="{ED25B466-8EAE-4DF3-AB26-F31543564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261" y="3239625"/>
            <a:ext cx="714513" cy="714513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BFC73F24-3077-F6B4-A685-8D1BB95956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9181" y="5002214"/>
            <a:ext cx="816672" cy="816672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CE9DEFDE-271B-6487-BE6D-74F8BF655D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1632" y="4216431"/>
            <a:ext cx="713142" cy="71314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749BF681-2FC6-633B-C10E-670F014B52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1288" y="5731260"/>
            <a:ext cx="816672" cy="8166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9D6572-E7E1-8295-E312-9E510182A767}"/>
              </a:ext>
            </a:extLst>
          </p:cNvPr>
          <p:cNvSpPr txBox="1"/>
          <p:nvPr/>
        </p:nvSpPr>
        <p:spPr>
          <a:xfrm>
            <a:off x="5338254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D093617-979C-6B83-2478-EA3A5D443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92690"/>
              </p:ext>
            </p:extLst>
          </p:nvPr>
        </p:nvGraphicFramePr>
        <p:xfrm>
          <a:off x="5310639" y="354097"/>
          <a:ext cx="6479025" cy="3217443"/>
        </p:xfrm>
        <a:graphic>
          <a:graphicData uri="http://schemas.openxmlformats.org/drawingml/2006/table">
            <a:tbl>
              <a:tblPr/>
              <a:tblGrid>
                <a:gridCol w="1249187">
                  <a:extLst>
                    <a:ext uri="{9D8B030D-6E8A-4147-A177-3AD203B41FA5}">
                      <a16:colId xmlns:a16="http://schemas.microsoft.com/office/drawing/2014/main" val="2431301523"/>
                    </a:ext>
                  </a:extLst>
                </a:gridCol>
                <a:gridCol w="3432313">
                  <a:extLst>
                    <a:ext uri="{9D8B030D-6E8A-4147-A177-3AD203B41FA5}">
                      <a16:colId xmlns:a16="http://schemas.microsoft.com/office/drawing/2014/main" val="3856191673"/>
                    </a:ext>
                  </a:extLst>
                </a:gridCol>
                <a:gridCol w="1797525">
                  <a:extLst>
                    <a:ext uri="{9D8B030D-6E8A-4147-A177-3AD203B41FA5}">
                      <a16:colId xmlns:a16="http://schemas.microsoft.com/office/drawing/2014/main" val="1721080144"/>
                    </a:ext>
                  </a:extLst>
                </a:gridCol>
              </a:tblGrid>
              <a:tr h="174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1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Deliverable</a:t>
                      </a:r>
                      <a:endParaRPr lang="en-GB" sz="12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1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GB" sz="12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1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Linked to Client’s TOM</a:t>
                      </a:r>
                      <a:endParaRPr lang="en-GB" sz="12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955631"/>
                  </a:ext>
                </a:extLst>
              </a:tr>
              <a:tr h="7751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Master RACI Matrix</a:t>
                      </a: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Interactive digital artifact (SharePoint/Confluence) covering People × Process × Technology for all Prague SSC services across PDLC, SSC Ops, SSC RM, and Customer/JV groups</a:t>
                      </a: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Pillar 1: Clear Structure</a:t>
                      </a: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583328"/>
                  </a:ext>
                </a:extLst>
              </a:tr>
              <a:tr h="6062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RACI Heat Map</a:t>
                      </a: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 overlay showing concentration of Accountability — identifying single points of failure or over-centralized decision-making</a:t>
                      </a: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Pillar 1</a:t>
                      </a: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786138"/>
                  </a:ext>
                </a:extLst>
              </a:tr>
              <a:tr h="5742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Governance Charter</a:t>
                      </a: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Rules of engagement: decision rights at strategic/tactical/operational levels; escalation protocols; cadence of review (quarterly recommended)</a:t>
                      </a: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Governance Framework</a:t>
                      </a: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095003"/>
                  </a:ext>
                </a:extLst>
              </a:tr>
              <a:tr h="5095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KPI </a:t>
                      </a:r>
                      <a:br>
                        <a:rPr lang="en-GB" sz="105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105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Ownership Map</a:t>
                      </a: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Each KPI (service availability, processing quality, as referenced by the client) assigned to a single “A” owner</a:t>
                      </a: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Pillar 4: Commercial Transparency &amp; Performance</a:t>
                      </a: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109076"/>
                  </a:ext>
                </a:extLst>
              </a:tr>
              <a:tr h="5095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RACI Change Procedure</a:t>
                      </a: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Formal process for updating RACI when new services, acquisitions, or org changes occur — gated through PMO (WS2)</a:t>
                      </a: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Pillar 5: Continuous Improvement</a:t>
                      </a:r>
                    </a:p>
                  </a:txBody>
                  <a:tcPr marL="72000" marR="72000" marT="36000" marB="3601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019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9909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BED01-7EE4-6B49-2C91-AD2F2F92F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tIns="144000" wrap="square" anchor="t">
            <a:normAutofit/>
          </a:bodyPr>
          <a:lstStyle/>
          <a:p>
            <a:r>
              <a:rPr sz="2000" b="1">
                <a:latin typeface="Arial"/>
              </a:rPr>
              <a:t>A. Remain Local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667C0-6437-7D1C-549D-4F9D14953F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18080"/>
            <a:ext cx="2481263" cy="591821"/>
          </a:xfrm>
        </p:spPr>
        <p:txBody>
          <a:bodyPr wrap="square" anchor="t">
            <a:normAutofit/>
          </a:bodyPr>
          <a:lstStyle/>
          <a:p>
            <a:r>
              <a:rPr sz="1200" b="0">
                <a:latin typeface="Arial"/>
              </a:rPr>
              <a:t>Regulatory, language or proximity requires JV delivery.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C95FC-07E1-F27D-01FD-9574377C8C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tIns="144000" wrap="square" anchor="t">
            <a:normAutofit/>
          </a:bodyPr>
          <a:lstStyle/>
          <a:p>
            <a:r>
              <a:rPr sz="2000" b="1">
                <a:latin typeface="Arial"/>
              </a:rPr>
              <a:t>B. Transition to SSC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39647F-3575-4318-E57D-5C7E309985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18080"/>
            <a:ext cx="2481263" cy="591821"/>
          </a:xfrm>
        </p:spPr>
        <p:txBody>
          <a:bodyPr wrap="square" anchor="t">
            <a:normAutofit/>
          </a:bodyPr>
          <a:lstStyle/>
          <a:p>
            <a:r>
              <a:rPr sz="1200" b="0">
                <a:latin typeface="Arial"/>
              </a:rPr>
              <a:t>Standardizable processes for Prague SSC.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EA98E8-F404-56E5-EFB4-D526C55899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tIns="144000" wrap="square" anchor="t">
            <a:normAutofit/>
          </a:bodyPr>
          <a:lstStyle/>
          <a:p>
            <a:r>
              <a:rPr sz="2000" b="1">
                <a:latin typeface="Arial"/>
              </a:rPr>
              <a:t>C. Scale JV Capability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B9B53F8-EEBE-AC94-E368-339DC1CBD3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26317"/>
            <a:ext cx="2481263" cy="591821"/>
          </a:xfrm>
        </p:spPr>
        <p:txBody>
          <a:bodyPr wrap="square" anchor="t">
            <a:normAutofit/>
          </a:bodyPr>
          <a:lstStyle/>
          <a:p>
            <a:r>
              <a:rPr sz="1200" b="0">
                <a:latin typeface="Arial"/>
              </a:rPr>
              <a:t>Reuse mature JV service across entities.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672C774-7500-6E3C-4C06-BF7B1F212AD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tIns="144000" wrap="square" anchor="t">
            <a:normAutofit/>
          </a:bodyPr>
          <a:lstStyle/>
          <a:p>
            <a:r>
              <a:rPr sz="2000" b="1">
                <a:latin typeface="Arial"/>
              </a:rPr>
              <a:t>D. Build Central Capability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ED94B9C-3DDD-6A42-D7F4-08428A0366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26317"/>
            <a:ext cx="2481263" cy="591821"/>
          </a:xfrm>
        </p:spPr>
        <p:txBody>
          <a:bodyPr wrap="square" anchor="t">
            <a:normAutofit/>
          </a:bodyPr>
          <a:lstStyle/>
          <a:p>
            <a:r>
              <a:rPr sz="1200" b="0">
                <a:latin typeface="Arial"/>
              </a:rPr>
              <a:t>New scalable solution required.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5E4B3DD-A7AE-63C1-7F9B-956EA0E9E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anchor="t">
            <a:noAutofit/>
          </a:bodyPr>
          <a:lstStyle/>
          <a:p>
            <a:r>
              <a:rPr sz="1000" b="0">
                <a:latin typeface="Arial"/>
              </a:rPr>
              <a:t>13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95ED9D9-4AEA-B5D0-309D-8D5EEC18A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5449825" cy="915289"/>
          </a:xfrm>
        </p:spPr>
        <p:txBody>
          <a:bodyPr wrap="square" anchor="t">
            <a:normAutofit/>
          </a:bodyPr>
          <a:lstStyle/>
          <a:p>
            <a:r>
              <a:rPr sz="1600" b="0">
                <a:latin typeface="Arial"/>
              </a:rPr>
              <a:t>Service Placement Options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500" b="0">
                <a:latin typeface="Arial"/>
              </a:rPr>
              <a:t>Four Future-State Paths</a:t>
            </a: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883346BD-B661-9609-2B5B-B8C95E48C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</p:spPr>
        <p:txBody>
          <a:bodyPr wrap="square" anchor="t">
            <a:normAutofit/>
          </a:bodyPr>
          <a:lstStyle/>
          <a:p>
            <a:r>
              <a:rPr sz="1000" b="0">
                <a:latin typeface="Arial"/>
              </a:rPr>
              <a:t>Project Vienna — Diagnostic and Discovery Phase | Global Payments Europe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554722-E449-7971-580C-CC04CF14F44B}"/>
              </a:ext>
            </a:extLst>
          </p:cNvPr>
          <p:cNvSpPr txBox="1"/>
          <p:nvPr/>
        </p:nvSpPr>
        <p:spPr>
          <a:xfrm>
            <a:off x="402332" y="1702257"/>
            <a:ext cx="5449827" cy="738664"/>
          </a:xfrm>
          <a:prstGeom prst="rect">
            <a:avLst/>
          </a:prstGeom>
          <a:noFill/>
        </p:spPr>
        <p:txBody>
          <a:bodyPr wrap="square" lIns="0" anchor="t">
            <a:normAutofit/>
          </a:bodyPr>
          <a:lstStyle/>
          <a:p/>
        </p:txBody>
      </p:sp>
      <p:sp>
        <p:nvSpPr>
          <p:cNvPr id="17" name="Rectangle: Rounded Corners 61">
            <a:extLst>
              <a:ext uri="{FF2B5EF4-FFF2-40B4-BE49-F238E27FC236}">
                <a16:creationId xmlns:a16="http://schemas.microsoft.com/office/drawing/2014/main" id="{236E5CF6-E53C-80C5-70F3-5FF9183A3947}"/>
              </a:ext>
            </a:extLst>
          </p:cNvPr>
          <p:cNvSpPr/>
          <p:nvPr/>
        </p:nvSpPr>
        <p:spPr>
          <a:xfrm>
            <a:off x="402334" y="2736905"/>
            <a:ext cx="5449826" cy="220147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wrap="square">
            <a:normAutofit/>
          </a:bodyPr>
          <a:lstStyle/>
          <a:p/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551FC1-5FBD-BB14-BCCB-306310536156}"/>
              </a:ext>
            </a:extLst>
          </p:cNvPr>
          <p:cNvSpPr txBox="1"/>
          <p:nvPr/>
        </p:nvSpPr>
        <p:spPr>
          <a:xfrm>
            <a:off x="402334" y="5118148"/>
            <a:ext cx="5449826" cy="1169551"/>
          </a:xfrm>
          <a:prstGeom prst="rect">
            <a:avLst/>
          </a:prstGeom>
          <a:noFill/>
        </p:spPr>
        <p:txBody>
          <a:bodyPr wrap="square" lIns="0" anchor="t">
            <a:normAutofit/>
          </a:bodyPr>
          <a:lstStyle/>
          <a:p/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649AD3A4-BC2F-BE7F-CF39-C8B48093017F}"/>
              </a:ext>
            </a:extLst>
          </p:cNvPr>
          <p:cNvSpPr txBox="1">
            <a:spLocks/>
          </p:cNvSpPr>
          <p:nvPr/>
        </p:nvSpPr>
        <p:spPr>
          <a:xfrm>
            <a:off x="9198292" y="1564640"/>
            <a:ext cx="2481263" cy="591821"/>
          </a:xfrm>
          <a:prstGeom prst="rect">
            <a:avLst/>
          </a:prstGeom>
        </p:spPr>
        <p:txBody>
          <a:bodyPr vert="horz" lIns="0" tIns="0" rIns="0" bIns="0" rtlCol="0" anchor="t" anchorCtr="0" wrap="square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AA690A8-72D6-CDD1-C495-8DE05DFCF3A9}"/>
              </a:ext>
            </a:extLst>
          </p:cNvPr>
          <p:cNvSpPr txBox="1">
            <a:spLocks/>
          </p:cNvSpPr>
          <p:nvPr/>
        </p:nvSpPr>
        <p:spPr>
          <a:xfrm>
            <a:off x="6320155" y="1564640"/>
            <a:ext cx="2481263" cy="591821"/>
          </a:xfrm>
          <a:prstGeom prst="rect">
            <a:avLst/>
          </a:prstGeom>
        </p:spPr>
        <p:txBody>
          <a:bodyPr vert="horz" lIns="0" tIns="0" rIns="0" bIns="0" rtlCol="0" anchor="t" anchorCtr="0" wrap="square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9E6E5CE-787A-8E89-D88F-7D72CDDB85BC}"/>
              </a:ext>
            </a:extLst>
          </p:cNvPr>
          <p:cNvSpPr txBox="1">
            <a:spLocks/>
          </p:cNvSpPr>
          <p:nvPr/>
        </p:nvSpPr>
        <p:spPr>
          <a:xfrm>
            <a:off x="6320155" y="4472877"/>
            <a:ext cx="2481263" cy="591821"/>
          </a:xfrm>
          <a:prstGeom prst="rect">
            <a:avLst/>
          </a:prstGeom>
        </p:spPr>
        <p:txBody>
          <a:bodyPr vert="horz" lIns="0" tIns="0" rIns="0" bIns="0" rtlCol="0" anchor="t" anchorCtr="0" wrap="square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44EAAEFB-9DB5-40F1-B4F9-F2DE0E597280}"/>
              </a:ext>
            </a:extLst>
          </p:cNvPr>
          <p:cNvSpPr txBox="1">
            <a:spLocks/>
          </p:cNvSpPr>
          <p:nvPr/>
        </p:nvSpPr>
        <p:spPr>
          <a:xfrm>
            <a:off x="9198292" y="4472877"/>
            <a:ext cx="2481263" cy="591821"/>
          </a:xfrm>
          <a:prstGeom prst="rect">
            <a:avLst/>
          </a:prstGeom>
        </p:spPr>
        <p:txBody>
          <a:bodyPr vert="horz" lIns="0" tIns="0" rIns="0" bIns="0" rtlCol="0" anchor="t" anchorCtr="0" wrap="square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E744DE0-E5B8-776E-11E8-1A8E52278025}"/>
              </a:ext>
            </a:extLst>
          </p:cNvPr>
          <p:cNvCxnSpPr/>
          <p:nvPr/>
        </p:nvCxnSpPr>
        <p:spPr>
          <a:xfrm>
            <a:off x="402332" y="5060398"/>
            <a:ext cx="527894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8" name="Graphic 37">
            <a:extLst>
              <a:ext uri="{FF2B5EF4-FFF2-40B4-BE49-F238E27FC236}">
                <a16:creationId xmlns:a16="http://schemas.microsoft.com/office/drawing/2014/main" id="{EBECD5DE-F43F-6E38-CE94-6351D5451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525" y="255994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09930"/>
      </p:ext>
    </p:extLst>
  </p:cSld>
  <p:clrMapOvr>
    <a:masterClrMapping/>
  </p:clrMapOvr>
</p:sld>
</file>

<file path=ppt/theme/theme1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4CEFDDFA-E6F6-E148-85E7-7FD761DA9A39}" vid="{4235F95A-BDD2-F14F-A7C1-37149C6A0C91}"/>
    </a:ext>
  </a:extLst>
</a:theme>
</file>

<file path=ppt/theme/theme2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2D7ABA97-B450-DA41-BB8B-4BB720184EBB}" vid="{A79B9D5E-D6D2-A841-B7F7-5D592CACE382}"/>
    </a:ext>
  </a:extLst>
</a:theme>
</file>

<file path=ppt/theme/theme3.xml><?xml version="1.0" encoding="utf-8"?>
<a:theme xmlns:a="http://schemas.openxmlformats.org/drawingml/2006/main" name="PwC">
  <a:themeElements>
    <a:clrScheme name="PwC Colors">
      <a:dk1>
        <a:srgbClr val="000000"/>
      </a:dk1>
      <a:lt1>
        <a:srgbClr val="FFFFFF"/>
      </a:lt1>
      <a:dk2>
        <a:srgbClr val="7D7D7D"/>
      </a:dk2>
      <a:lt2>
        <a:srgbClr val="DEDEDE"/>
      </a:lt2>
      <a:accent1>
        <a:srgbClr val="D04A02"/>
      </a:accent1>
      <a:accent2>
        <a:srgbClr val="FFB600"/>
      </a:accent2>
      <a:accent3>
        <a:srgbClr val="E0301E"/>
      </a:accent3>
      <a:accent4>
        <a:srgbClr val="EB8C00"/>
      </a:accent4>
      <a:accent5>
        <a:srgbClr val="DB536A"/>
      </a:accent5>
      <a:accent6>
        <a:srgbClr val="464646"/>
      </a:accent6>
      <a:hlink>
        <a:srgbClr val="D04A02"/>
      </a:hlink>
      <a:folHlink>
        <a:srgbClr val="DB536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5267AD-6D40-42EE-8FB8-F29B9D522614}">
  <we:reference id="6bb0fabe-aef4-4e3d-874a-99b48edaaa91" version="1.0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863b4a2-8897-49db-b918-c06bffd2282e" xsi:nil="true"/>
    <lcf76f155ced4ddcb4097134ff3c332f xmlns="8f266713-a88b-449d-980c-9245e572258f">
      <Terms xmlns="http://schemas.microsoft.com/office/infopath/2007/PartnerControls"/>
    </lcf76f155ced4ddcb4097134ff3c332f>
    <_dlc_DocId xmlns="5863b4a2-8897-49db-b918-c06bffd2282e">2NE6Q6SCQTMP-1197830474-5878</_dlc_DocId>
    <_dlc_DocIdUrl xmlns="5863b4a2-8897-49db-b918-c06bffd2282e">
      <Url>https://polpwc.sharepoint.com/sites/SK-SD-0ANVD1Qjxqju4Uk9PVA/_layouts/15/DocIdRedir.aspx?ID=2NE6Q6SCQTMP-1197830474-5878</Url>
      <Description>2NE6Q6SCQTMP-1197830474-5878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BEB596C288CA4F8859EF04FDD9681E" ma:contentTypeVersion="13" ma:contentTypeDescription="Create a new document." ma:contentTypeScope="" ma:versionID="e3a461ccd3c2d9389f5070832c999375">
  <xsd:schema xmlns:xsd="http://www.w3.org/2001/XMLSchema" xmlns:xs="http://www.w3.org/2001/XMLSchema" xmlns:p="http://schemas.microsoft.com/office/2006/metadata/properties" xmlns:ns2="5863b4a2-8897-49db-b918-c06bffd2282e" xmlns:ns3="8f266713-a88b-449d-980c-9245e572258f" targetNamespace="http://schemas.microsoft.com/office/2006/metadata/properties" ma:root="true" ma:fieldsID="791b9c1c5dd55dd53094c5d99c08547e" ns2:_="" ns3:_="">
    <xsd:import namespace="5863b4a2-8897-49db-b918-c06bffd2282e"/>
    <xsd:import namespace="8f266713-a88b-449d-980c-9245e572258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63b4a2-8897-49db-b918-c06bffd2282e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2" nillable="true" ma:displayName="Taxonomy Catch All Column" ma:hidden="true" ma:list="{62f6fae2-8886-4534-8b8c-563fb7750aa8}" ma:internalName="TaxCatchAll" ma:showField="CatchAllData" ma:web="5863b4a2-8897-49db-b918-c06bffd228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266713-a88b-449d-980c-9245e57225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E51BE936-00F3-45F1-A39D-65B3B6A431F7}">
  <ds:schemaRefs>
    <ds:schemaRef ds:uri="8f266713-a88b-449d-980c-9245e572258f"/>
    <ds:schemaRef ds:uri="5863b4a2-8897-49db-b918-c06bffd2282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62378BA-43ED-43B6-B08A-DCDFF4C8A5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0A35C3-13F2-40DC-B9D8-E2C99D3E8492}">
  <ds:schemaRefs>
    <ds:schemaRef ds:uri="5863b4a2-8897-49db-b918-c06bffd2282e"/>
    <ds:schemaRef ds:uri="8f266713-a88b-449d-980c-9245e57225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89951251-8F84-417D-B5C5-CC6E003B38E7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9511</TotalTime>
  <Words>5399</Words>
  <Application>Microsoft Office PowerPoint</Application>
  <PresentationFormat>Widescreen</PresentationFormat>
  <Paragraphs>597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Georgia</vt:lpstr>
      <vt:lpstr>Segoe UI</vt:lpstr>
      <vt:lpstr>Wingdings</vt:lpstr>
      <vt:lpstr>PwC Slide Master</vt:lpstr>
      <vt:lpstr>1_PwC Slide Master</vt:lpstr>
      <vt:lpstr>Global Payments  Shared Service Center Transformation</vt:lpstr>
      <vt:lpstr>PowerPoint Presentation</vt:lpstr>
      <vt:lpstr>Vision — We Heard You PwC's Proposal Is Built on Your Own Blueprint</vt:lpstr>
      <vt:lpstr>The Combined Governance Model — How It All Fits Together An Integrated Operating Model — "ONE Organization Delivering Services Efficiently for MANY"</vt:lpstr>
      <vt:lpstr>From Today's Challenges to Tomorrow's Targets — Aligned View</vt:lpstr>
      <vt:lpstr>Benefits Realization: JV Customers &amp; Enterprise Making the Benefits Tangible and Measurable</vt:lpstr>
      <vt:lpstr>PwC Capabilities Matching Your target operating model (TOM) Your Target Operating Model — Our Proven Capabilities</vt:lpstr>
      <vt:lpstr>Industry Benchmarking &amp; Standards Comparison How Does the To-Be Model Compare to Industry Leaders?</vt:lpstr>
      <vt:lpstr>Tentative Timeline — The Road to "SSCuccess"</vt:lpstr>
      <vt:lpstr>Why PwC team</vt:lpstr>
      <vt:lpstr>References </vt:lpstr>
      <vt:lpstr>  Pricing Structure</vt:lpstr>
      <vt:lpstr>Pricing </vt:lpstr>
      <vt:lpstr>Fees &amp; cost structure</vt:lpstr>
      <vt:lpstr>Thank you</vt:lpstr>
      <vt:lpstr>Our Approach: Six Integrated Workstreams</vt:lpstr>
      <vt:lpstr>Workstream 1: RACI Matrix &amp; Governance Model (1/2) The Backbone — "Who Decides &amp; Who Is Accountable"</vt:lpstr>
      <vt:lpstr>Workstream 1: RACI Matrix &amp; Governance Model (2/2) Making RACI Operational — Not Shelfware</vt:lpstr>
      <vt:lpstr>Workstream 2: Business Partnering &amp; PMO Function Design (1/2) The Connective Tissue — Dedicated Relationship Management &amp; Portfolio Steering</vt:lpstr>
      <vt:lpstr>Workstream 2: Business Partnering &amp; PMO Function Design (1/2) The Connective Tissue — Dedicated Relationship Management &amp; Portfolio Steering</vt:lpstr>
      <vt:lpstr>Workstream 3: Intake Mechanism &amp; Case Management From "Unstructured INTAKE" to a Single Front Door</vt:lpstr>
      <vt:lpstr>Workstream 4: Post-Acquisition Transition Framework Structured Workarounds — Design for Growth, Quality  and Speed</vt:lpstr>
      <vt:lpstr>Workstream 5: Subcontractor Governance Model Extending the GP Model — Consistent Quality Across the Ecosystem</vt:lpstr>
      <vt:lpstr>Workstream 6: Transfer Pricing Mechanism &amp; Reporting Commercial Transparency — "Clear Cost Allocation and Visibility"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Dariya Pavliy</dc:creator>
  <cp:lastModifiedBy>Tomas Kubanyi (SK)</cp:lastModifiedBy>
  <cp:revision>81</cp:revision>
  <dcterms:created xsi:type="dcterms:W3CDTF">2021-03-22T11:16:20Z</dcterms:created>
  <dcterms:modified xsi:type="dcterms:W3CDTF">2026-04-20T15:54:47Z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type">
    <vt:lpwstr>PwC16x9</vt:lpwstr>
  </property>
  <property fmtid="{D5CDD505-2E9C-101B-9397-08002B2CF9AE}" pid="3" name="TB template version">
    <vt:lpwstr>6</vt:lpwstr>
  </property>
  <property fmtid="{D5CDD505-2E9C-101B-9397-08002B2CF9AE}" pid="4" name="TB template release">
    <vt:lpwstr>4</vt:lpwstr>
  </property>
  <property fmtid="{D5CDD505-2E9C-101B-9397-08002B2CF9AE}" pid="5" name="Order">
    <vt:lpwstr>1700.00000000000</vt:lpwstr>
  </property>
  <property fmtid="{D5CDD505-2E9C-101B-9397-08002B2CF9AE}" pid="6" name="ContentTypeId">
    <vt:lpwstr>0x0101009DBEB596C288CA4F8859EF04FDD9681E</vt:lpwstr>
  </property>
  <property fmtid="{D5CDD505-2E9C-101B-9397-08002B2CF9AE}" pid="7" name="_dlc_DocIdItemGuid">
    <vt:lpwstr>458dd8b7-d380-47fe-83c9-3f6e4e61fb59</vt:lpwstr>
  </property>
  <property fmtid="{D5CDD505-2E9C-101B-9397-08002B2CF9AE}" pid="8" name="MediaServiceImageTags">
    <vt:lpwstr/>
  </property>
</Properties>
</file>